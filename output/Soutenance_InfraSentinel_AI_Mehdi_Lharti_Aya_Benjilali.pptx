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Comportement normal</c:v>
          </c:tx>
          <c:spPr>
            <a:ln w="0">
              <a:noFill/>
              <a:prstDash val="solid"/>
            </a:ln>
          </c:spPr>
          <c:marker>
            <c:symbol val="circle"/>
            <c:size val="8"/>
            <c:spPr>
              <a:noFill/>
            </c:spPr>
          </c:marker>
          <c:xVal>
            <c:numLit>
              <c:formatCode>General</c:formatCode>
              <c:ptCount val="22"/>
              <c:pt idx="0">
                <c:v>1</c:v>
              </c:pt>
              <c:pt idx="1">
                <c:v>1.2</c:v>
              </c:pt>
              <c:pt idx="2">
                <c:v>1.4</c:v>
              </c:pt>
              <c:pt idx="3">
                <c:v>1.6</c:v>
              </c:pt>
              <c:pt idx="4">
                <c:v>1.8</c:v>
              </c:pt>
              <c:pt idx="5">
                <c:v>2</c:v>
              </c:pt>
              <c:pt idx="6">
                <c:v>2.1</c:v>
              </c:pt>
              <c:pt idx="7">
                <c:v>2.2999999999999998</c:v>
              </c:pt>
              <c:pt idx="8">
                <c:v>2.5</c:v>
              </c:pt>
              <c:pt idx="9">
                <c:v>2.6</c:v>
              </c:pt>
              <c:pt idx="10">
                <c:v>2.8</c:v>
              </c:pt>
              <c:pt idx="11">
                <c:v>3</c:v>
              </c:pt>
              <c:pt idx="12">
                <c:v>3.1</c:v>
              </c:pt>
              <c:pt idx="13">
                <c:v>3.3</c:v>
              </c:pt>
              <c:pt idx="14">
                <c:v>3.5</c:v>
              </c:pt>
              <c:pt idx="15">
                <c:v>3.7</c:v>
              </c:pt>
              <c:pt idx="16">
                <c:v>3.9</c:v>
              </c:pt>
              <c:pt idx="17">
                <c:v>4.0999999999999996</c:v>
              </c:pt>
              <c:pt idx="18">
                <c:v>4.3</c:v>
              </c:pt>
              <c:pt idx="19">
                <c:v>4.5</c:v>
              </c:pt>
              <c:pt idx="20">
                <c:v>4.7</c:v>
              </c:pt>
              <c:pt idx="21">
                <c:v>4.9000000000000004</c:v>
              </c:pt>
            </c:numLit>
          </c:xVal>
          <c:yVal>
            <c:numLit>
              <c:formatCode>General</c:formatCode>
              <c:ptCount val="22"/>
              <c:pt idx="0">
                <c:v>2.1</c:v>
              </c:pt>
              <c:pt idx="1">
                <c:v>2.5</c:v>
              </c:pt>
              <c:pt idx="2">
                <c:v>2</c:v>
              </c:pt>
              <c:pt idx="3">
                <c:v>2.8</c:v>
              </c:pt>
              <c:pt idx="4">
                <c:v>2.2999999999999998</c:v>
              </c:pt>
              <c:pt idx="5">
                <c:v>3</c:v>
              </c:pt>
              <c:pt idx="6">
                <c:v>2.6</c:v>
              </c:pt>
              <c:pt idx="7">
                <c:v>3.2</c:v>
              </c:pt>
              <c:pt idx="8">
                <c:v>2.9</c:v>
              </c:pt>
              <c:pt idx="9">
                <c:v>3.4</c:v>
              </c:pt>
              <c:pt idx="10">
                <c:v>3</c:v>
              </c:pt>
              <c:pt idx="11">
                <c:v>3.7</c:v>
              </c:pt>
              <c:pt idx="12">
                <c:v>3.2</c:v>
              </c:pt>
              <c:pt idx="13">
                <c:v>3.8</c:v>
              </c:pt>
              <c:pt idx="14">
                <c:v>3.5</c:v>
              </c:pt>
              <c:pt idx="15">
                <c:v>4</c:v>
              </c:pt>
              <c:pt idx="16">
                <c:v>3.7</c:v>
              </c:pt>
              <c:pt idx="17">
                <c:v>4.2</c:v>
              </c:pt>
              <c:pt idx="18">
                <c:v>3.9</c:v>
              </c:pt>
              <c:pt idx="19">
                <c:v>4.4000000000000004</c:v>
              </c:pt>
              <c:pt idx="20">
                <c:v>4.0999999999999996</c:v>
              </c:pt>
              <c:pt idx="21">
                <c:v>4.5</c:v>
              </c:pt>
            </c:numLit>
          </c:yVal>
          <c:smooth val="1"/>
          <c:extLst>
            <c:ext xmlns:c16="http://schemas.microsoft.com/office/drawing/2014/chart" uri="{C3380CC4-5D6E-409C-BE32-E72D297353CC}">
              <c16:uniqueId val="{00000000-F0E8-47AD-A859-828A91EEB118}"/>
            </c:ext>
          </c:extLst>
        </c:ser>
        <c:ser>
          <c:idx val="1"/>
          <c:order val="1"/>
          <c:tx>
            <c:v>Anomalies</c:v>
          </c:tx>
          <c:spPr>
            <a:ln w="0">
              <a:noFill/>
              <a:prstDash val="solid"/>
            </a:ln>
          </c:spPr>
          <c:marker>
            <c:symbol val="diamond"/>
            <c:size val="12"/>
            <c:spPr>
              <a:noFill/>
            </c:spPr>
          </c:marker>
          <c:xVal>
            <c:numLit>
              <c:formatCode>General</c:formatCode>
              <c:ptCount val="4"/>
              <c:pt idx="0">
                <c:v>0.6</c:v>
              </c:pt>
              <c:pt idx="1">
                <c:v>2.4</c:v>
              </c:pt>
              <c:pt idx="2">
                <c:v>4.8</c:v>
              </c:pt>
              <c:pt idx="3">
                <c:v>5.4</c:v>
              </c:pt>
            </c:numLit>
          </c:xVal>
          <c:yVal>
            <c:numLit>
              <c:formatCode>General</c:formatCode>
              <c:ptCount val="4"/>
              <c:pt idx="0">
                <c:v>4.8</c:v>
              </c:pt>
              <c:pt idx="1">
                <c:v>0.7</c:v>
              </c:pt>
              <c:pt idx="2">
                <c:v>1</c:v>
              </c:pt>
              <c:pt idx="3">
                <c:v>4.9000000000000004</c:v>
              </c:pt>
            </c:numLit>
          </c:yVal>
          <c:smooth val="1"/>
          <c:extLst>
            <c:ext xmlns:c16="http://schemas.microsoft.com/office/drawing/2014/chart" uri="{C3380CC4-5D6E-409C-BE32-E72D297353CC}">
              <c16:uniqueId val="{00000001-F0E8-47AD-A859-828A91EEB118}"/>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9525">
              <a:solidFill>
                <a:srgbClr val="1B302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Segoe UI"/>
                <a:ea typeface="Segoe UI"/>
                <a:cs typeface="Segoe UI"/>
              </a:defRPr>
            </a:pPr>
            <a:endParaRPr lang="en-US"/>
          </a:p>
        </c:txPr>
        <c:crossAx val="48650112"/>
        <c:crosses val="autoZero"/>
        <c:crossBetween val="midCat"/>
      </c:valAx>
      <c:valAx>
        <c:axId val="48650112"/>
        <c:scaling>
          <c:orientation val="minMax"/>
          <c:max val="6"/>
          <c:min val="0"/>
        </c:scaling>
        <c:delete val="0"/>
        <c:axPos val="b"/>
        <c:majorGridlines>
          <c:spPr>
            <a:ln w="9525">
              <a:solidFill>
                <a:srgbClr val="1B302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Segoe UI"/>
                <a:ea typeface="Segoe UI"/>
                <a:cs typeface="Segoe UI"/>
              </a:defRPr>
            </a:pPr>
            <a:endParaRPr lang="en-US"/>
          </a:p>
        </c:txPr>
        <c:crossAx val="48672768"/>
        <c:crosses val="autoZero"/>
        <c:crossBetween val="midCat"/>
      </c:valAx>
      <c:spPr>
        <a:solidFill>
          <a:srgbClr val="0B110D"/>
        </a:solidFill>
        <a:ln w="9525">
          <a:solidFill>
            <a:srgbClr val="244338"/>
          </a:solidFill>
          <a:prstDash val="solid"/>
        </a:ln>
      </c:spPr>
    </c:plotArea>
    <c:legend>
      <c:legendPos val="b"/>
      <c:overlay val="0"/>
      <c:txPr>
        <a:bodyPr anchorCtr="1"/>
        <a:lstStyle/>
        <a:p>
          <a:pPr>
            <a:defRPr sz="1125">
              <a:solidFill>
                <a:srgbClr val="9BA6A0"/>
              </a:solidFill>
              <a:latin typeface="Segoe UI"/>
              <a:ea typeface="Segoe UI"/>
              <a:cs typeface="Segoe UI"/>
            </a:defRPr>
          </a:pPr>
          <a:endParaRPr lang="en-US"/>
        </a:p>
      </c:txPr>
    </c:legend>
    <c:plotVisOnly val="1"/>
    <c:dispBlanksAs val="zero"/>
    <c:showDLblsOverMax val="1"/>
  </c:chart>
  <c:spPr>
    <a:solidFill>
      <a:srgbClr val="050806"/>
    </a:solidFill>
    <a:ln w="0">
      <a:solidFill>
        <a:srgbClr val="050806"/>
      </a:solid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CPU estimé</c:v>
          </c:tx>
          <c:spPr>
            <a:ln w="38100">
              <a:solidFill>
                <a:srgbClr val="1ED760"/>
              </a:solidFill>
              <a:prstDash val="solid"/>
            </a:ln>
          </c:spPr>
          <c:marker>
            <c:symbol val="circle"/>
            <c:size val="8"/>
            <c:spPr>
              <a:solidFill>
                <a:srgbClr val="1ED760"/>
              </a:solidFill>
            </c:spPr>
          </c:marker>
          <c:cat>
            <c:strLit>
              <c:ptCount val="5"/>
              <c:pt idx="0">
                <c:v>Maintenant</c:v>
              </c:pt>
              <c:pt idx="1">
                <c:v>+1 h</c:v>
              </c:pt>
              <c:pt idx="2">
                <c:v>+2 h</c:v>
              </c:pt>
              <c:pt idx="3">
                <c:v>+3 h</c:v>
              </c:pt>
              <c:pt idx="4">
                <c:v>+3 h 45</c:v>
              </c:pt>
            </c:strLit>
          </c:cat>
          <c:val>
            <c:numLit>
              <c:formatCode>0" %"</c:formatCode>
              <c:ptCount val="5"/>
              <c:pt idx="0">
                <c:v>70</c:v>
              </c:pt>
              <c:pt idx="1">
                <c:v>74</c:v>
              </c:pt>
              <c:pt idx="2">
                <c:v>78</c:v>
              </c:pt>
              <c:pt idx="3">
                <c:v>82</c:v>
              </c:pt>
              <c:pt idx="4">
                <c:v>85</c:v>
              </c:pt>
            </c:numLit>
          </c:val>
          <c:smooth val="1"/>
          <c:extLst>
            <c:ext xmlns:c16="http://schemas.microsoft.com/office/drawing/2014/chart" uri="{C3380CC4-5D6E-409C-BE32-E72D297353CC}">
              <c16:uniqueId val="{00000000-42EB-421B-9E01-67D293601DA1}"/>
            </c:ext>
          </c:extLst>
        </c:ser>
        <c:ser>
          <c:idx val="1"/>
          <c:order val="1"/>
          <c:tx>
            <c:v>Seuil</c:v>
          </c:tx>
          <c:spPr>
            <a:ln w="19050">
              <a:solidFill>
                <a:srgbClr val="FF5C7A"/>
              </a:solidFill>
              <a:prstDash val="dash"/>
            </a:ln>
          </c:spPr>
          <c:marker>
            <c:symbol val="none"/>
          </c:marker>
          <c:cat>
            <c:strLit>
              <c:ptCount val="5"/>
              <c:pt idx="0">
                <c:v>Maintenant</c:v>
              </c:pt>
              <c:pt idx="1">
                <c:v>+1 h</c:v>
              </c:pt>
              <c:pt idx="2">
                <c:v>+2 h</c:v>
              </c:pt>
              <c:pt idx="3">
                <c:v>+3 h</c:v>
              </c:pt>
              <c:pt idx="4">
                <c:v>+3 h 45</c:v>
              </c:pt>
            </c:strLit>
          </c:cat>
          <c:val>
            <c:numLit>
              <c:formatCode>0" %"</c:formatCode>
              <c:ptCount val="5"/>
              <c:pt idx="0">
                <c:v>85</c:v>
              </c:pt>
              <c:pt idx="1">
                <c:v>85</c:v>
              </c:pt>
              <c:pt idx="2">
                <c:v>85</c:v>
              </c:pt>
              <c:pt idx="3">
                <c:v>85</c:v>
              </c:pt>
              <c:pt idx="4">
                <c:v>85</c:v>
              </c:pt>
            </c:numLit>
          </c:val>
          <c:smooth val="1"/>
          <c:extLst>
            <c:ext xmlns:c16="http://schemas.microsoft.com/office/drawing/2014/chart" uri="{C3380CC4-5D6E-409C-BE32-E72D297353CC}">
              <c16:uniqueId val="{00000001-42EB-421B-9E01-67D293601DA1}"/>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244338"/>
            </a:solidFill>
            <a:prstDash val="solid"/>
          </a:ln>
        </c:spPr>
        <c:txPr>
          <a:bodyPr anchorCtr="1"/>
          <a:lstStyle/>
          <a:p>
            <a:pPr>
              <a:defRPr sz="1050">
                <a:solidFill>
                  <a:srgbClr val="9BA6A0"/>
                </a:solidFill>
                <a:latin typeface="Segoe UI"/>
                <a:ea typeface="Segoe UI"/>
                <a:cs typeface="Segoe UI"/>
              </a:defRPr>
            </a:pPr>
            <a:endParaRPr lang="en-US"/>
          </a:p>
        </c:txPr>
        <c:crossAx val="48672768"/>
        <c:crosses val="autoZero"/>
        <c:auto val="1"/>
        <c:lblAlgn val="ctr"/>
        <c:lblOffset val="100"/>
        <c:noMultiLvlLbl val="1"/>
      </c:catAx>
      <c:valAx>
        <c:axId val="48672768"/>
        <c:scaling>
          <c:orientation val="minMax"/>
          <c:max val="100"/>
          <c:min val="60"/>
        </c:scaling>
        <c:delete val="0"/>
        <c:axPos val="l"/>
        <c:majorGridlines>
          <c:spPr>
            <a:ln w="9525">
              <a:solidFill>
                <a:srgbClr val="1B3028"/>
              </a:solidFill>
              <a:prstDash val="solid"/>
            </a:ln>
          </c:spPr>
        </c:majorGridlines>
        <c:numFmt formatCode="0&quot; %&quot;" sourceLinked="1"/>
        <c:majorTickMark val="none"/>
        <c:minorTickMark val="none"/>
        <c:tickLblPos val="nextTo"/>
        <c:spPr>
          <a:ln w="9525">
            <a:solidFill>
              <a:srgbClr val="D4D4D4"/>
            </a:solidFill>
            <a:prstDash val="solid"/>
          </a:ln>
        </c:spPr>
        <c:txPr>
          <a:bodyPr anchorCtr="1"/>
          <a:lstStyle/>
          <a:p>
            <a:pPr>
              <a:defRPr sz="1050">
                <a:solidFill>
                  <a:srgbClr val="9BA6A0"/>
                </a:solidFill>
                <a:latin typeface="Segoe UI"/>
                <a:ea typeface="Segoe UI"/>
                <a:cs typeface="Segoe UI"/>
              </a:defRPr>
            </a:pPr>
            <a:endParaRPr lang="en-US"/>
          </a:p>
        </c:txPr>
        <c:crossAx val="48650112"/>
        <c:crosses val="autoZero"/>
        <c:crossBetween val="between"/>
        <c:majorUnit val="10"/>
      </c:valAx>
      <c:spPr>
        <a:solidFill>
          <a:srgbClr val="050806"/>
        </a:solidFill>
        <a:ln w="9525">
          <a:solidFill>
            <a:srgbClr val="244338"/>
          </a:solidFill>
          <a:prstDash val="solid"/>
        </a:ln>
      </c:spPr>
    </c:plotArea>
    <c:legend>
      <c:legendPos val="b"/>
      <c:overlay val="0"/>
      <c:txPr>
        <a:bodyPr anchorCtr="1"/>
        <a:lstStyle/>
        <a:p>
          <a:pPr>
            <a:defRPr sz="1125">
              <a:solidFill>
                <a:srgbClr val="9BA6A0"/>
              </a:solidFill>
              <a:latin typeface="Segoe UI"/>
              <a:ea typeface="Segoe UI"/>
              <a:cs typeface="Segoe UI"/>
            </a:defRPr>
          </a:pPr>
          <a:endParaRPr lang="en-US"/>
        </a:p>
      </c:txPr>
    </c:legend>
    <c:plotVisOnly val="1"/>
    <c:dispBlanksAs val="zero"/>
    <c:showDLblsOverMax val="1"/>
  </c:chart>
  <c:spPr>
    <a:solidFill>
      <a:srgbClr val="0B110D"/>
    </a:solidFill>
    <a:ln w="0">
      <a:solidFill>
        <a:srgbClr val="0B110D"/>
      </a:solid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Taille de la suite</c:v>
          </c:tx>
          <c:spPr>
            <a:solidFill>
              <a:srgbClr val="1ED760"/>
            </a:solidFill>
          </c:spPr>
          <c:invertIfNegative val="1"/>
          <c:dLbls>
            <c:spPr>
              <a:noFill/>
              <a:ln>
                <a:noFill/>
              </a:ln>
              <a:effectLst/>
            </c:spPr>
            <c:txPr>
              <a:bodyPr anchorCtr="1"/>
              <a:lstStyle/>
              <a:p>
                <a:pPr>
                  <a:defRPr sz="1275" b="1">
                    <a:solidFill>
                      <a:srgbClr val="F5F7F6"/>
                    </a:solidFill>
                    <a:latin typeface="Segoe UI"/>
                    <a:ea typeface="Segoe UI"/>
                    <a:cs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Backend Django</c:v>
              </c:pt>
              <c:pt idx="1">
                <c:v>Frontend Vitest</c:v>
              </c:pt>
              <c:pt idx="2">
                <c:v>Agent Windows</c:v>
              </c:pt>
            </c:strLit>
          </c:cat>
          <c:val>
            <c:numLit>
              <c:formatCode>General</c:formatCode>
              <c:ptCount val="3"/>
              <c:pt idx="0">
                <c:v>203</c:v>
              </c:pt>
              <c:pt idx="1">
                <c:v>64</c:v>
              </c:pt>
              <c:pt idx="2">
                <c:v>26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26A-4898-92E8-F47313BBB141}"/>
            </c:ext>
          </c:extLst>
        </c:ser>
        <c:dLbls>
          <c:dLblPos val="outEnd"/>
          <c:showLegendKey val="0"/>
          <c:showVal val="1"/>
          <c:showCatName val="0"/>
          <c:showSerName val="0"/>
          <c:showPercent val="0"/>
          <c:showBubbleSize val="0"/>
        </c:dLbls>
        <c:gapWidth val="46"/>
        <c:axId val="48650112"/>
        <c:axId val="48672768"/>
      </c:barChart>
      <c:catAx>
        <c:axId val="48650112"/>
        <c:scaling>
          <c:orientation val="minMax"/>
        </c:scaling>
        <c:delete val="0"/>
        <c:axPos val="l"/>
        <c:majorGridlines>
          <c:spPr>
            <a:ln w="9525">
              <a:solidFill>
                <a:srgbClr val="1B302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9BA6A0"/>
                </a:solidFill>
                <a:latin typeface="Segoe UI"/>
                <a:ea typeface="Segoe UI"/>
                <a:cs typeface="Segoe U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244338"/>
            </a:solidFill>
            <a:prstDash val="solid"/>
          </a:ln>
        </c:spPr>
        <c:txPr>
          <a:bodyPr anchorCtr="1"/>
          <a:lstStyle/>
          <a:p>
            <a:pPr>
              <a:defRPr sz="1200" b="1">
                <a:solidFill>
                  <a:srgbClr val="F5F7F6"/>
                </a:solidFill>
                <a:latin typeface="Segoe UI"/>
                <a:ea typeface="Segoe UI"/>
                <a:cs typeface="Segoe UI"/>
              </a:defRPr>
            </a:pPr>
            <a:endParaRPr lang="en-US"/>
          </a:p>
        </c:txPr>
        <c:crossAx val="48650112"/>
        <c:crosses val="autoZero"/>
        <c:crossBetween val="between"/>
      </c:valAx>
      <c:spPr>
        <a:solidFill>
          <a:srgbClr val="050806"/>
        </a:solidFill>
        <a:ln w="9525">
          <a:solidFill>
            <a:srgbClr val="244338"/>
          </a:solidFill>
          <a:prstDash val="solid"/>
        </a:ln>
      </c:spPr>
    </c:plotArea>
    <c:plotVisOnly val="1"/>
    <c:dispBlanksAs val="zero"/>
    <c:showDLblsOverMax val="1"/>
  </c:chart>
  <c:spPr>
    <a:solidFill>
      <a:srgbClr val="0B110D"/>
    </a:solidFill>
    <a:ln w="0">
      <a:solidFill>
        <a:srgbClr val="0B110D"/>
      </a:solid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Présenter le projet comme une solution technologique construite à deux. Poser immédiatement l’objectif : détecter les signaux faibles avant qu’un incident ne devienne critique.</a:t>
            </a:r>
          </a:p>
          <a:p>
            <a:endParaRPr/>
          </a:p>
          <a:p>
            <a:r>
              <a:t>Sources :</a:t>
            </a:r>
          </a:p>
          <a:p>
            <a:r>
              <a:t>Brief de soutenance fourni par l’utilisateur.</a:t>
            </a:r>
          </a:p>
          <a:p>
            <a:r>
              <a:t>Fond abstrait original généré pour cette présentation, sans texte ni logo.</a:t>
            </a:r>
          </a:p>
          <a:p>
            <a:r>
              <a:t>Inspiration de mouvement uniquement : https://youtube.com/shorts/xE2xMcus8b0 ; https://youtube.com/shorts/BJ4ePOMaL6o ; https://youtube.com/shorts/F6wVEgYtdCw ; https://youtu.be/RJDpRUKwaNo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Marquer une pause. La supervision commence par une vision fiable de l’état présent, des métriques et des événements.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Relier les deux verbes. InfraSentinel-AI conserve la visibilité du monitoring et ajoute l’analyse de comportement, le risque et l’estimation de tendance.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Formuler la question au jury, puis citer quelques situations concrètes. Le problème commun tient au délai : une alerte classique arrive souvent après l’apparition de la condition critique.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Comparer les chaînes sans opposer artificiellement les outils. Le monitoring donne l’état présent. InfraSentinel-AI ajoute l’analyse du comportement, l’estimation de tendance et un score de risque.</a:t>
            </a:r>
          </a:p>
          <a:p>
            <a:endParaRPr/>
          </a:p>
          <a:p>
            <a:r>
              <a:t>Sources :</a:t>
            </a:r>
          </a:p>
          <a:p>
            <a:r>
              <a:t>README.md</a:t>
            </a:r>
          </a:p>
          <a:p>
            <a:r>
              <a:t>docs/ML.md</a:t>
            </a:r>
          </a:p>
          <a:p>
            <a:r>
              <a:t>docs/PREDICTIVE_ANALYSIS.md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Présenter InfraSentinel-AI comme la réponse à la problématique. Les trois piliers restent complémentaires : observer, détecter des comportements atypiques et estimer le risque futur.</a:t>
            </a:r>
          </a:p>
          <a:p>
            <a:endParaRPr/>
          </a:p>
          <a:p>
            <a:r>
              <a:t>Sources :</a:t>
            </a:r>
          </a:p>
          <a:p>
            <a:r>
              <a:t>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Lire l’architecture de gauche à droite. Les sources autorisées publient des métriques normalisées. Django centralise les données, PostgreSQL persiste l’historique, Redis et Celery orchestrent les traitements, puis le tableau de bord reçoit les résultats.</a:t>
            </a:r>
          </a:p>
          <a:p>
            <a:endParaRPr/>
          </a:p>
          <a:p>
            <a:r>
              <a:t>Sources :</a:t>
            </a:r>
          </a:p>
          <a:p>
            <a:r>
              <a:t>README.md</a:t>
            </a:r>
          </a:p>
          <a:p>
            <a:r>
              <a:t>docs/ARCHITECTURE.md</a:t>
            </a:r>
          </a:p>
          <a:p>
            <a:r>
              <a:t>docs/ASYNC_TASKS.md</a:t>
            </a:r>
          </a:p>
          <a:p>
            <a:r>
              <a:t>docs/REALTIME.md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Expliquer que l’agent collecte localement, s’enrôle avec un jeton temporaire et transmet des lots de métriques. La campagne locale a validé un agent Python réel, mais pas l’installation du service Windows avec élévation.</a:t>
            </a:r>
          </a:p>
          <a:p>
            <a:endParaRPr/>
          </a:p>
          <a:p>
            <a:r>
              <a:t>Sources :</a:t>
            </a:r>
          </a:p>
          <a:p>
            <a:r>
              <a:t>docs/AGENT.md</a:t>
            </a:r>
          </a:p>
          <a:p>
            <a:r>
              <a:t>docs/AGENT_INSTALLATION.md</a:t>
            </a:r>
          </a:p>
          <a:p>
            <a:r>
              <a:t>docs/LOCAL_FINAL_VALIDATION_REPORT.md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Suivre une mesure de bout en bout. Insister sur la normalisation et la persistance, car les analyses de tendance et le Machine Learning exigent un historique cohérent.</a:t>
            </a:r>
          </a:p>
          <a:p>
            <a:endParaRPr/>
          </a:p>
          <a:p>
            <a:r>
              <a:t>Sources :</a:t>
            </a:r>
          </a:p>
          <a:p>
            <a:r>
              <a:t>docs/METRICS.md</a:t>
            </a:r>
          </a:p>
          <a:p>
            <a:r>
              <a:t>docs/ARCHITECTURE.md</a:t>
            </a:r>
          </a:p>
          <a:p>
            <a:r>
              <a:t>docs/PREDICTIVE_ANALYSIS.md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Présenter deux voies distinctes : l’Isolation Forest produit une anomalie avec un score et une explication; l’analyse de tendance réalise séparément une projection linéaire avec risque et échéance estimée. Les deux aident ensuite l’opérateur à décider.</a:t>
            </a:r>
          </a:p>
          <a:p>
            <a:endParaRPr/>
          </a:p>
          <a:p>
            <a:r>
              <a:t>Sources :</a:t>
            </a:r>
          </a:p>
          <a:p>
            <a:r>
              <a:t>docs/ML.md</a:t>
            </a:r>
          </a:p>
          <a:p>
            <a:r>
              <a:t>docs/LOCAL_ML_VALIDATION.md</a:t>
            </a:r>
          </a:p>
          <a:p>
            <a:r>
              <a:t>docs/PREDICTIVE_ANALYSIS.md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Expliquer l’intuition sans équations. Un point éloigné du comportement habituel s’isole en peu de séparations. Le projet utilise six variables et un modèle versionné. La validation reste contrôlée et synthétique, sans vérité terrain réelle.</a:t>
            </a:r>
          </a:p>
          <a:p>
            <a:endParaRPr/>
          </a:p>
          <a:p>
            <a:r>
              <a:t>Sources :</a:t>
            </a:r>
          </a:p>
          <a:p>
            <a:r>
              <a:t>docs/LOCAL_ML_VALIDATION.md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Présenter ce graphique comme une estimation explicable. Le scénario contrôlé a une moyenne glissante de 70 %, une dernière valeur de 74 %, une progression de 4 points par heure et un seuil de règle à 85 %. Le système retourne un risque de 70 et une échéance d’environ 3 h 45 après le probe, sans prétendre prédire une panne certaine.</a:t>
            </a:r>
          </a:p>
          <a:p>
            <a:endParaRPr/>
          </a:p>
          <a:p>
            <a:r>
              <a:t>Sources :</a:t>
            </a:r>
          </a:p>
          <a:p>
            <a:r>
              <a:t>docs/LOCAL_ML_VALIDATION.md</a:t>
            </a:r>
          </a:p>
          <a:p>
            <a:r>
              <a:t>docs/PREDICTIVE_ANALYSIS.md</a:t>
            </a:r>
          </a:p>
          <a:p>
            <a:r>
              <a:t>docs/PFE_DEMO.md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lire la vue globale : machines en ligne, incidents, anomalie ML et santé de l’infrastructure. Préciser que cette capture utilise les données synthétiques PFE25, explicitement marquées comme telles.</a:t>
            </a:r>
          </a:p>
          <a:p>
            <a:endParaRPr/>
          </a:p>
          <a:p>
            <a:r>
              <a:t>Sources :</a:t>
            </a:r>
          </a:p>
          <a:p>
            <a:r>
              <a:t>.codex-docwork/captures/figure-05-dashboard.png</a:t>
            </a:r>
          </a:p>
          <a:p>
            <a:r>
              <a:t>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déplacement Morph doit donner l’impression d’entrer dans la machine sélectionnée. Montrer la télémétrie normalisée, le heartbeat et les onglets d’historique, d’alertes, d’anomalies et de prédictions.</a:t>
            </a:r>
          </a:p>
          <a:p>
            <a:endParaRPr/>
          </a:p>
          <a:p>
            <a:r>
              <a:t>Sources :</a:t>
            </a:r>
          </a:p>
          <a:p>
            <a:r>
              <a:t>.codex-docwork/captures/figure-07-machine-detail.png</a:t>
            </a:r>
          </a:p>
          <a:p>
            <a:r>
              <a:t>docs/DASHBOARD.md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Décrire le cycle complet d’une alerte. Le moteur évite les doublons, applique un cooldown et associe une recommandation explicable. Les actions proposées restent non destructives par défaut.</a:t>
            </a:r>
          </a:p>
          <a:p>
            <a:endParaRPr/>
          </a:p>
          <a:p>
            <a:r>
              <a:t>Sources :</a:t>
            </a:r>
          </a:p>
          <a:p>
            <a:r>
              <a:t>docs/ALERT_ENGINE.md</a:t>
            </a:r>
          </a:p>
          <a:p>
            <a:r>
              <a:t>docs/RECOMMENDATIONS.md</a:t>
            </a:r>
          </a:p>
          <a:p>
            <a:r>
              <a:t>.codex-docwork/captures/figure-12-alerts-recommendation.png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Expliquer le chemin d’un événement jusqu’au navigateur. La validation réseau a connecté deux clients, rejoué un événement manqué après reconnexion et rejeté la réutilisation d’un ticket.</a:t>
            </a:r>
          </a:p>
          <a:p>
            <a:endParaRPr/>
          </a:p>
          <a:p>
            <a:r>
              <a:t>Sources :</a:t>
            </a:r>
          </a:p>
          <a:p>
            <a:r>
              <a:t>docs/REALTIME.md</a:t>
            </a:r>
          </a:p>
          <a:p>
            <a:r>
              <a:t>docs/LOCAL_FINAL_VALIDATION_REPORT.md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Montrer que le rôle contrôle l’action et que le tenant contrôle le périmètre de données. La campagne a vérifié qu’un client ne voit pas les objets d’un autre client et qu’un agent cross-tenant reçoit un refus.</a:t>
            </a:r>
          </a:p>
          <a:p>
            <a:endParaRPr/>
          </a:p>
          <a:p>
            <a:r>
              <a:t>Sources :</a:t>
            </a:r>
          </a:p>
          <a:p>
            <a:r>
              <a:t>docs/SECURITY_AUDIT.md</a:t>
            </a:r>
          </a:p>
          <a:p>
            <a:r>
              <a:t>docs/AUDIT_LOGS.md</a:t>
            </a:r>
          </a:p>
          <a:p>
            <a:r>
              <a:t>docs/LOCAL_FINAL_VALIDATION_REPORT.md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Être précis sur le niveau de preuve. Windows a été exercé avec un agent Python réel. VMware et Hyper-V disposent du code, des normaliseurs et des tests simulés, mais aucune collecte réelle n’a été validée.</a:t>
            </a:r>
          </a:p>
          <a:p>
            <a:endParaRPr/>
          </a:p>
          <a:p>
            <a:r>
              <a:t>Sources :</a:t>
            </a:r>
          </a:p>
          <a:p>
            <a:r>
              <a:t>docs/VMWARE.md</a:t>
            </a:r>
          </a:p>
          <a:p>
            <a:r>
              <a:t>docs/HYPERV.md</a:t>
            </a:r>
          </a:p>
          <a:p>
            <a:r>
              <a:t>docs/LOCAL_FINAL_VALIDATION_REPORT.md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Présenter d’abord les preuves, puis les limites. Les barres montrent la taille des trois suites, pas une comparaison de qualité. La campagne courante compte 203 tests Django, dont six ignorés et aucun échec, 64 tests frontend réussis et 26 tests agent réussis.</a:t>
            </a:r>
          </a:p>
          <a:p>
            <a:endParaRPr/>
          </a:p>
          <a:p>
            <a:r>
              <a:t>Sources :</a:t>
            </a:r>
          </a:p>
          <a:p>
            <a:r>
              <a:t>README.md</a:t>
            </a:r>
          </a:p>
          <a:p>
            <a:r>
              <a:t>docs/README.md</a:t>
            </a:r>
          </a:p>
          <a:p>
            <a:r>
              <a:t>docs/LOCAL_FINAL_VALIDATION_REPORT.md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Résumer la valeur apportée sans promettre une suppression des incidents. Le système réduit le temps d’analyse en regroupant les métriques, les règles, le ML, la tendance et les recommandations.</a:t>
            </a:r>
          </a:p>
          <a:p>
            <a:endParaRPr/>
          </a:p>
          <a:p>
            <a:r>
              <a:t>Sources :</a:t>
            </a:r>
          </a:p>
          <a:p>
            <a:r>
              <a:t>README.md</a:t>
            </a:r>
          </a:p>
          <a:p>
            <a:r>
              <a:t>docs/RECOMMENDATIONS.md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Présenter chaque élément comme une perspective. La priorité consiste à obtenir de vraies infrastructures VMware et Hyper-V, puis des données ML labellisées. L’automatisation doit rester encadrée et réversible.</a:t>
            </a:r>
          </a:p>
          <a:p>
            <a:endParaRPr/>
          </a:p>
          <a:p>
            <a:r>
              <a:t>Sources :</a:t>
            </a:r>
          </a:p>
          <a:p>
            <a:r>
              <a:t>docs/LOCAL_FINAL_VALIDATION_REPORT.md</a:t>
            </a:r>
          </a:p>
          <a:p>
            <a:r>
              <a:t>docs/VMWARE.md</a:t>
            </a:r>
          </a:p>
          <a:p>
            <a:r>
              <a:t>docs/HYPERV.md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Conclure en une phrase : InfraSentinel-AI transforme un flux de métriques en signaux opérationnels, avec une validation locale solide et des limites clairement assumées. Inviter ensuite les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40855A7-5D2C-41E0-BB9F-E82141DF4566}"/>
              </a:ext>
            </a:extLst>
          </p:cNvPr>
          <p:cNvSpPr>
            <a:spLocks noGrp="1"/>
          </p:cNvSpPr>
          <p:nvPr/>
        </p:nvSpPr>
        <p:spPr>
          <a:xfrm>
            <a:off x="0" y="0"/>
            <a:ext cx="12192000" cy="6858000"/>
          </a:xfrm>
          <a:prstGeom prst="rect">
            <a:avLst/>
          </a:prstGeom>
          <a:solidFill>
            <a:srgbClr val="050806">
              <a:alpha val="58000"/>
            </a:srgbClr>
          </a:solidFill>
          <a:ln w="0">
            <a:noFill/>
          </a:ln>
        </p:spPr>
      </p:sp>
      <p:pic>
        <p:nvPicPr>
          <p:cNvPr id="15" name="Picture 14"/>
          <p:cNvPicPr>
            <a:picLocks noChangeAspect="1"/>
          </p:cNvPicPr>
          <p:nvPr/>
        </p:nvPicPr>
        <p:blipFill>
          <a:blip r:embed="rId4"/>
          <a:stretch/>
        </p:blipFill>
        <p:spPr>
          <a:xfrm>
            <a:off x="647700" y="389632"/>
            <a:ext cx="3143250" cy="687586"/>
          </a:xfrm>
          <a:prstGeom prst="rect">
            <a:avLst/>
          </a:prstGeom>
        </p:spPr>
      </p:pic>
      <p:pic>
        <p:nvPicPr>
          <p:cNvPr id="16" name="Picture 15"/>
          <p:cNvPicPr>
            <a:picLocks noChangeAspect="1"/>
          </p:cNvPicPr>
          <p:nvPr/>
        </p:nvPicPr>
        <p:blipFill>
          <a:blip r:embed="rId5"/>
          <a:stretch/>
        </p:blipFill>
        <p:spPr>
          <a:xfrm>
            <a:off x="10763250" y="400050"/>
            <a:ext cx="685800" cy="685800"/>
          </a:xfrm>
          <a:prstGeom prst="rect">
            <a:avLst/>
          </a:prstGeom>
        </p:spPr>
      </p:pic>
      <p:sp>
        <p:nvSpPr>
          <p:cNvPr id="5" name="Rectangle 4">
            <a:extLst>
              <a:ext uri="{FF2B5EF4-FFF2-40B4-BE49-F238E27FC236}">
                <a16:creationId xmlns:a16="http://schemas.microsoft.com/office/drawing/2014/main" id="{DAFAEAA5-9109-407F-BF97-362CEDE9FDD8}"/>
              </a:ext>
            </a:extLst>
          </p:cNvPr>
          <p:cNvSpPr>
            <a:spLocks noGrp="1"/>
          </p:cNvSpPr>
          <p:nvPr/>
        </p:nvSpPr>
        <p:spPr>
          <a:xfrm>
            <a:off x="666750" y="1562100"/>
            <a:ext cx="5715000" cy="361950"/>
          </a:xfrm>
          <a:prstGeom prst="rect">
            <a:avLst/>
          </a:prstGeom>
          <a:noFill/>
          <a:ln w="0">
            <a:noFill/>
          </a:ln>
        </p:spPr>
        <p:txBody>
          <a:bodyPr lIns="38100" tIns="19050" rIns="38100" bIns="19050" anchor="ctr">
            <a:normAutofit/>
          </a:bodyPr>
          <a:lstStyle/>
          <a:p>
            <a:pPr algn="l">
              <a:lnSpc>
                <a:spcPct val="100000"/>
              </a:lnSpc>
              <a:buNone/>
              <a:defRPr sz="1575" b="1" i="0">
                <a:solidFill>
                  <a:srgbClr val="39FF88"/>
                </a:solidFill>
                <a:latin typeface="Segoe UI"/>
                <a:ea typeface="Segoe UI"/>
                <a:cs typeface="Segoe UI"/>
              </a:defRPr>
            </a:pPr>
            <a:r>
              <a:rPr sz="1575" b="1" i="0">
                <a:solidFill>
                  <a:srgbClr val="39FF88"/>
                </a:solidFill>
                <a:latin typeface="Segoe UI"/>
                <a:ea typeface="Segoe UI"/>
                <a:cs typeface="Segoe UI"/>
              </a:rPr>
              <a:t>SOUTENANCE DE STAGE</a:t>
            </a:r>
          </a:p>
        </p:txBody>
      </p:sp>
      <p:sp>
        <p:nvSpPr>
          <p:cNvPr id="6" name="Rectangle 5">
            <a:extLst>
              <a:ext uri="{FF2B5EF4-FFF2-40B4-BE49-F238E27FC236}">
                <a16:creationId xmlns:a16="http://schemas.microsoft.com/office/drawing/2014/main" id="{E4B1734C-EF5C-4397-8DFF-66B00BB0E4D6}"/>
              </a:ext>
            </a:extLst>
          </p:cNvPr>
          <p:cNvSpPr>
            <a:spLocks noGrp="1"/>
          </p:cNvSpPr>
          <p:nvPr/>
        </p:nvSpPr>
        <p:spPr>
          <a:xfrm>
            <a:off x="628650" y="1962150"/>
            <a:ext cx="7239000" cy="876300"/>
          </a:xfrm>
          <a:prstGeom prst="rect">
            <a:avLst/>
          </a:prstGeom>
          <a:noFill/>
          <a:ln w="0">
            <a:noFill/>
          </a:ln>
        </p:spPr>
        <p:txBody>
          <a:bodyPr lIns="38100" tIns="19050" rIns="38100" bIns="19050" anchor="ctr">
            <a:noAutofit/>
          </a:bodyPr>
          <a:lstStyle/>
          <a:p>
            <a:pPr algn="l">
              <a:lnSpc>
                <a:spcPct val="100000"/>
              </a:lnSpc>
              <a:buNone/>
              <a:defRPr sz="6150" b="1" i="0">
                <a:solidFill>
                  <a:srgbClr val="F5F7F6"/>
                </a:solidFill>
                <a:latin typeface="Segoe UI"/>
                <a:ea typeface="Segoe UI"/>
                <a:cs typeface="Segoe UI"/>
              </a:defRPr>
            </a:pPr>
            <a:r>
              <a:rPr sz="6150" b="1" i="0">
                <a:solidFill>
                  <a:srgbClr val="F5F7F6"/>
                </a:solidFill>
                <a:latin typeface="Segoe UI"/>
                <a:ea typeface="Segoe UI"/>
                <a:cs typeface="Segoe UI"/>
              </a:rPr>
              <a:t>InfraSentinel-AI</a:t>
            </a:r>
          </a:p>
        </p:txBody>
      </p:sp>
      <p:sp>
        <p:nvSpPr>
          <p:cNvPr id="7" name="Straight Connector 6">
            <a:extLst>
              <a:ext uri="{FF2B5EF4-FFF2-40B4-BE49-F238E27FC236}">
                <a16:creationId xmlns:a16="http://schemas.microsoft.com/office/drawing/2014/main" id="{23587B4A-44FC-4F7D-81B7-AC5933DE2076}"/>
              </a:ext>
            </a:extLst>
          </p:cNvPr>
          <p:cNvSpPr>
            <a:spLocks noGrp="1"/>
          </p:cNvSpPr>
          <p:nvPr/>
        </p:nvSpPr>
        <p:spPr>
          <a:xfrm>
            <a:off x="666750" y="2971800"/>
            <a:ext cx="1428750" cy="0"/>
          </a:xfrm>
          <a:prstGeom prst="line">
            <a:avLst/>
          </a:prstGeom>
          <a:noFill/>
          <a:ln w="47625">
            <a:solidFill>
              <a:srgbClr val="1ED760"/>
            </a:solidFill>
            <a:prstDash val="solid"/>
          </a:ln>
        </p:spPr>
      </p:sp>
      <p:sp>
        <p:nvSpPr>
          <p:cNvPr id="8" name="Rectangle 7">
            <a:extLst>
              <a:ext uri="{FF2B5EF4-FFF2-40B4-BE49-F238E27FC236}">
                <a16:creationId xmlns:a16="http://schemas.microsoft.com/office/drawing/2014/main" id="{F0220339-2A61-4ACC-A096-4738E33A02EC}"/>
              </a:ext>
            </a:extLst>
          </p:cNvPr>
          <p:cNvSpPr>
            <a:spLocks noGrp="1"/>
          </p:cNvSpPr>
          <p:nvPr/>
        </p:nvSpPr>
        <p:spPr>
          <a:xfrm>
            <a:off x="666750" y="3143250"/>
            <a:ext cx="6477000" cy="1066800"/>
          </a:xfrm>
          <a:prstGeom prst="rect">
            <a:avLst/>
          </a:prstGeom>
          <a:noFill/>
          <a:ln w="0">
            <a:noFill/>
          </a:ln>
        </p:spPr>
        <p:txBody>
          <a:bodyPr lIns="38100" tIns="19050" rIns="38100" bIns="19050" anchor="ctr">
            <a:normAutofit/>
          </a:bodyPr>
          <a:lstStyle/>
          <a:p>
            <a:pPr algn="l">
              <a:lnSpc>
                <a:spcPct val="108000"/>
              </a:lnSpc>
              <a:buNone/>
              <a:defRPr sz="1875" b="0" i="0">
                <a:solidFill>
                  <a:srgbClr val="F5F7F6"/>
                </a:solidFill>
                <a:latin typeface="Segoe UI"/>
                <a:ea typeface="Segoe UI"/>
                <a:cs typeface="Segoe UI"/>
              </a:defRPr>
            </a:pPr>
            <a:r>
              <a:rPr sz="1875" b="0" i="0">
                <a:solidFill>
                  <a:srgbClr val="F5F7F6"/>
                </a:solidFill>
                <a:latin typeface="Segoe UI"/>
                <a:ea typeface="Segoe UI"/>
                <a:cs typeface="Segoe UI"/>
              </a:rPr>
              <a:t>Conception d’une solution basée sur l’Intelligence Artificielle et le Machine Learning pour la supervision proactive des environnements Windows, VMware et Hyper-V</a:t>
            </a:r>
          </a:p>
        </p:txBody>
      </p:sp>
      <p:sp>
        <p:nvSpPr>
          <p:cNvPr id="9" name="Rectangle 8">
            <a:extLst>
              <a:ext uri="{FF2B5EF4-FFF2-40B4-BE49-F238E27FC236}">
                <a16:creationId xmlns:a16="http://schemas.microsoft.com/office/drawing/2014/main" id="{400A4E89-AAD0-4414-817F-32DBB294E280}"/>
              </a:ext>
            </a:extLst>
          </p:cNvPr>
          <p:cNvSpPr>
            <a:spLocks noGrp="1"/>
          </p:cNvSpPr>
          <p:nvPr/>
        </p:nvSpPr>
        <p:spPr>
          <a:xfrm>
            <a:off x="666750" y="4714875"/>
            <a:ext cx="2857500" cy="266700"/>
          </a:xfrm>
          <a:prstGeom prst="rect">
            <a:avLst/>
          </a:prstGeom>
          <a:noFill/>
          <a:ln w="0">
            <a:noFill/>
          </a:ln>
        </p:spPr>
        <p:txBody>
          <a:bodyPr lIns="38100" tIns="19050" rIns="38100" bIns="19050" anchor="ctr">
            <a:normAutofit/>
          </a:bodyPr>
          <a:lstStyle/>
          <a:p>
            <a:pPr algn="l">
              <a:lnSpc>
                <a:spcPct val="100000"/>
              </a:lnSpc>
              <a:buNone/>
              <a:defRPr sz="1350" b="0" i="0">
                <a:solidFill>
                  <a:srgbClr val="9BA6A0"/>
                </a:solidFill>
                <a:latin typeface="Segoe UI"/>
                <a:ea typeface="Segoe UI"/>
                <a:cs typeface="Segoe UI"/>
              </a:defRPr>
            </a:pPr>
            <a:r>
              <a:rPr sz="1350" b="0" i="0">
                <a:solidFill>
                  <a:srgbClr val="9BA6A0"/>
                </a:solidFill>
                <a:latin typeface="Segoe UI"/>
                <a:ea typeface="Segoe UI"/>
                <a:cs typeface="Segoe UI"/>
              </a:rPr>
              <a:t>Projet préparé par</a:t>
            </a:r>
          </a:p>
        </p:txBody>
      </p:sp>
      <p:sp>
        <p:nvSpPr>
          <p:cNvPr id="10" name="Rectangle 9">
            <a:extLst>
              <a:ext uri="{FF2B5EF4-FFF2-40B4-BE49-F238E27FC236}">
                <a16:creationId xmlns:a16="http://schemas.microsoft.com/office/drawing/2014/main" id="{CE36F1D7-3A26-481C-B013-3F3D7FC95E35}"/>
              </a:ext>
            </a:extLst>
          </p:cNvPr>
          <p:cNvSpPr>
            <a:spLocks noGrp="1"/>
          </p:cNvSpPr>
          <p:nvPr/>
        </p:nvSpPr>
        <p:spPr>
          <a:xfrm>
            <a:off x="666750" y="5000625"/>
            <a:ext cx="6191250" cy="400050"/>
          </a:xfrm>
          <a:prstGeom prst="rect">
            <a:avLst/>
          </a:prstGeom>
          <a:noFill/>
          <a:ln w="0">
            <a:noFill/>
          </a:ln>
        </p:spPr>
        <p:txBody>
          <a:bodyPr lIns="38100" tIns="19050" rIns="38100" bIns="19050" anchor="ctr">
            <a:normAutofit/>
          </a:bodyPr>
          <a:lstStyle/>
          <a:p>
            <a:pPr algn="l">
              <a:lnSpc>
                <a:spcPct val="100000"/>
              </a:lnSpc>
              <a:buNone/>
              <a:defRPr sz="2175" b="1" i="0">
                <a:solidFill>
                  <a:srgbClr val="39FF88"/>
                </a:solidFill>
                <a:latin typeface="Segoe UI"/>
                <a:ea typeface="Segoe UI"/>
                <a:cs typeface="Segoe UI"/>
              </a:defRPr>
            </a:pPr>
            <a:r>
              <a:rPr sz="2175" b="1" i="0">
                <a:solidFill>
                  <a:srgbClr val="39FF88"/>
                </a:solidFill>
                <a:latin typeface="Segoe UI"/>
                <a:ea typeface="Segoe UI"/>
                <a:cs typeface="Segoe UI"/>
              </a:rPr>
              <a:t>Mehdi L'harti et Aya Benjilali</a:t>
            </a:r>
          </a:p>
        </p:txBody>
      </p:sp>
      <p:sp>
        <p:nvSpPr>
          <p:cNvPr id="11" name="Rectangle 10">
            <a:extLst>
              <a:ext uri="{FF2B5EF4-FFF2-40B4-BE49-F238E27FC236}">
                <a16:creationId xmlns:a16="http://schemas.microsoft.com/office/drawing/2014/main" id="{7D07EB37-9B68-41D1-8ADC-D97052794ACB}"/>
              </a:ext>
            </a:extLst>
          </p:cNvPr>
          <p:cNvSpPr>
            <a:spLocks noGrp="1"/>
          </p:cNvSpPr>
          <p:nvPr/>
        </p:nvSpPr>
        <p:spPr>
          <a:xfrm>
            <a:off x="666750" y="5734050"/>
            <a:ext cx="6858000" cy="285750"/>
          </a:xfrm>
          <a:prstGeom prst="rect">
            <a:avLst/>
          </a:prstGeom>
          <a:noFill/>
          <a:ln w="0">
            <a:noFill/>
          </a:ln>
        </p:spPr>
        <p:txBody>
          <a:bodyPr lIns="38100" tIns="19050" rIns="38100" bIns="19050" anchor="ctr">
            <a:normAutofit/>
          </a:bodyPr>
          <a:lstStyle/>
          <a:p>
            <a:pPr algn="l">
              <a:lnSpc>
                <a:spcPct val="100000"/>
              </a:lnSpc>
              <a:buNone/>
              <a:defRPr sz="1275" b="0" i="0">
                <a:solidFill>
                  <a:srgbClr val="9BA6A0"/>
                </a:solidFill>
                <a:latin typeface="Segoe UI"/>
                <a:ea typeface="Segoe UI"/>
                <a:cs typeface="Segoe UI"/>
              </a:defRPr>
            </a:pPr>
            <a:r>
              <a:rPr sz="1275" b="0" i="0">
                <a:solidFill>
                  <a:srgbClr val="9BA6A0"/>
                </a:solidFill>
                <a:latin typeface="Segoe UI"/>
                <a:ea typeface="Segoe UI"/>
                <a:cs typeface="Segoe UI"/>
              </a:rPr>
              <a:t>Cycle ingénieur Informatique &amp; Réseaux   |   01/07/2026 au 28/08/2026</a:t>
            </a:r>
          </a:p>
        </p:txBody>
      </p:sp>
      <p:sp>
        <p:nvSpPr>
          <p:cNvPr id="12" name="Rectangle 11">
            <a:extLst>
              <a:ext uri="{FF2B5EF4-FFF2-40B4-BE49-F238E27FC236}">
                <a16:creationId xmlns:a16="http://schemas.microsoft.com/office/drawing/2014/main" id="{D774E98A-4FAC-4A9C-840C-E4E6832DD080}"/>
              </a:ext>
            </a:extLst>
          </p:cNvPr>
          <p:cNvSpPr>
            <a:spLocks noGrp="1"/>
          </p:cNvSpPr>
          <p:nvPr/>
        </p:nvSpPr>
        <p:spPr>
          <a:xfrm>
            <a:off x="666750" y="6048375"/>
            <a:ext cx="6667500" cy="257175"/>
          </a:xfrm>
          <a:prstGeom prst="rect">
            <a:avLst/>
          </a:prstGeom>
          <a:noFill/>
          <a:ln w="0">
            <a:noFill/>
          </a:ln>
        </p:spPr>
        <p:txBody>
          <a:bodyPr lIns="38100" tIns="19050" rIns="38100" bIns="19050" anchor="ctr">
            <a:normAutofit/>
          </a:bodyPr>
          <a:lstStyle/>
          <a:p>
            <a:pPr algn="l">
              <a:lnSpc>
                <a:spcPct val="100000"/>
              </a:lnSpc>
              <a:buNone/>
              <a:defRPr sz="1200" b="0" i="0">
                <a:solidFill>
                  <a:srgbClr val="9BA6A0"/>
                </a:solidFill>
                <a:latin typeface="Segoe UI"/>
                <a:ea typeface="Segoe UI"/>
                <a:cs typeface="Segoe UI"/>
              </a:defRPr>
            </a:pPr>
            <a:r>
              <a:rPr sz="1200" b="0" i="0">
                <a:solidFill>
                  <a:srgbClr val="9BA6A0"/>
                </a:solidFill>
                <a:latin typeface="Segoe UI"/>
                <a:ea typeface="Segoe UI"/>
                <a:cs typeface="Segoe UI"/>
              </a:rPr>
              <a:t>Encadrement  Nadir Sisah  ·  Jaouad Tagnamas</a:t>
            </a:r>
          </a:p>
        </p:txBody>
      </p:sp>
    </p:spTree>
    <p:extLst>
      <p:ext uri="{BB962C8B-B14F-4D97-AF65-F5344CB8AC3E}">
        <p14:creationId xmlns:p14="http://schemas.microsoft.com/office/powerpoint/2010/main" val="47455487"/>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6603BE3-909A-4D8A-A794-E108DBE6C1D3}"/>
              </a:ext>
            </a:extLst>
          </p:cNvPr>
          <p:cNvSpPr>
            <a:spLocks noGrp="1"/>
          </p:cNvSpPr>
          <p:nvPr/>
        </p:nvSpPr>
        <p:spPr>
          <a:xfrm>
            <a:off x="0" y="0"/>
            <a:ext cx="12192000" cy="6858000"/>
          </a:xfrm>
          <a:prstGeom prst="rect">
            <a:avLst/>
          </a:prstGeom>
          <a:solidFill>
            <a:srgbClr val="050806">
              <a:alpha val="78000"/>
            </a:srgbClr>
          </a:solidFill>
          <a:ln w="0">
            <a:noFill/>
          </a:ln>
        </p:spPr>
      </p:sp>
      <p:sp>
        <p:nvSpPr>
          <p:cNvPr id="3" name="!!HeroVerbPrimary">
            <a:extLst>
              <a:ext uri="{FF2B5EF4-FFF2-40B4-BE49-F238E27FC236}">
                <a16:creationId xmlns:a16="http://schemas.microsoft.com/office/drawing/2014/main" id="{43FDA97E-6517-4B0E-B46F-031AF81F5E20}"/>
              </a:ext>
            </a:extLst>
          </p:cNvPr>
          <p:cNvSpPr>
            <a:spLocks noGrp="1"/>
          </p:cNvSpPr>
          <p:nvPr/>
        </p:nvSpPr>
        <p:spPr>
          <a:xfrm>
            <a:off x="590550" y="2381250"/>
            <a:ext cx="10953750" cy="1257300"/>
          </a:xfrm>
          <a:prstGeom prst="rect">
            <a:avLst/>
          </a:prstGeom>
          <a:noFill/>
          <a:ln w="0">
            <a:noFill/>
          </a:ln>
        </p:spPr>
        <p:txBody>
          <a:bodyPr lIns="38100" tIns="19050" rIns="38100" bIns="19050" anchor="ctr">
            <a:noAutofit/>
          </a:bodyPr>
          <a:lstStyle/>
          <a:p>
            <a:pPr algn="l">
              <a:lnSpc>
                <a:spcPct val="100000"/>
              </a:lnSpc>
              <a:buNone/>
              <a:defRPr sz="8100" b="1" i="0">
                <a:solidFill>
                  <a:srgbClr val="F5F7F6"/>
                </a:solidFill>
                <a:latin typeface="Segoe UI"/>
                <a:ea typeface="Segoe UI"/>
                <a:cs typeface="Segoe UI"/>
              </a:defRPr>
            </a:pPr>
            <a:r>
              <a:rPr sz="8100" b="1" i="0">
                <a:solidFill>
                  <a:srgbClr val="F5F7F6"/>
                </a:solidFill>
                <a:latin typeface="Segoe UI"/>
                <a:ea typeface="Segoe UI"/>
                <a:cs typeface="Segoe UI"/>
              </a:rPr>
              <a:t>SUPERVISER</a:t>
            </a:r>
          </a:p>
        </p:txBody>
      </p:sp>
      <p:sp>
        <p:nvSpPr>
          <p:cNvPr id="4" name="Rectangle 3">
            <a:extLst>
              <a:ext uri="{FF2B5EF4-FFF2-40B4-BE49-F238E27FC236}">
                <a16:creationId xmlns:a16="http://schemas.microsoft.com/office/drawing/2014/main" id="{D7E0A588-4346-49EF-AB30-4BD33CD76402}"/>
              </a:ext>
            </a:extLst>
          </p:cNvPr>
          <p:cNvSpPr>
            <a:spLocks noGrp="1"/>
          </p:cNvSpPr>
          <p:nvPr/>
        </p:nvSpPr>
        <p:spPr>
          <a:xfrm>
            <a:off x="685800" y="3810000"/>
            <a:ext cx="5905500" cy="323850"/>
          </a:xfrm>
          <a:prstGeom prst="rect">
            <a:avLst/>
          </a:prstGeom>
          <a:noFill/>
          <a:ln w="0">
            <a:noFill/>
          </a:ln>
        </p:spPr>
        <p:txBody>
          <a:bodyPr lIns="38100" tIns="19050" rIns="38100" bIns="19050" anchor="ctr">
            <a:normAutofit/>
          </a:bodyPr>
          <a:lstStyle/>
          <a:p>
            <a:pPr algn="l">
              <a:lnSpc>
                <a:spcPct val="100000"/>
              </a:lnSpc>
              <a:buNone/>
              <a:defRPr sz="1500" b="0" i="0">
                <a:solidFill>
                  <a:srgbClr val="9BA6A0"/>
                </a:solidFill>
                <a:latin typeface="Segoe UI"/>
                <a:ea typeface="Segoe UI"/>
                <a:cs typeface="Segoe UI"/>
              </a:defRPr>
            </a:pPr>
            <a:r>
              <a:rPr sz="1500" b="0" i="0">
                <a:solidFill>
                  <a:srgbClr val="9BA6A0"/>
                </a:solidFill>
                <a:latin typeface="Segoe UI"/>
                <a:ea typeface="Segoe UI"/>
                <a:cs typeface="Segoe UI"/>
              </a:rPr>
              <a:t>Métriques  •  états  •  événements</a:t>
            </a:r>
          </a:p>
        </p:txBody>
      </p:sp>
      <p:sp>
        <p:nvSpPr>
          <p:cNvPr id="5" name="Straight Connector 4">
            <a:extLst>
              <a:ext uri="{FF2B5EF4-FFF2-40B4-BE49-F238E27FC236}">
                <a16:creationId xmlns:a16="http://schemas.microsoft.com/office/drawing/2014/main" id="{C7C5D248-02CB-4E9B-A9E3-1E0497FFBC9B}"/>
              </a:ext>
            </a:extLst>
          </p:cNvPr>
          <p:cNvSpPr>
            <a:spLocks noGrp="1"/>
          </p:cNvSpPr>
          <p:nvPr/>
        </p:nvSpPr>
        <p:spPr>
          <a:xfrm>
            <a:off x="609600" y="6429375"/>
            <a:ext cx="10972800" cy="0"/>
          </a:xfrm>
          <a:prstGeom prst="line">
            <a:avLst/>
          </a:prstGeom>
          <a:noFill/>
          <a:ln w="9525">
            <a:solidFill>
              <a:srgbClr val="1B3028"/>
            </a:solidFill>
            <a:prstDash val="solid"/>
          </a:ln>
        </p:spPr>
      </p:sp>
      <p:sp>
        <p:nvSpPr>
          <p:cNvPr id="6" name="Rectangle 5">
            <a:extLst>
              <a:ext uri="{FF2B5EF4-FFF2-40B4-BE49-F238E27FC236}">
                <a16:creationId xmlns:a16="http://schemas.microsoft.com/office/drawing/2014/main" id="{42384283-2C7E-4B39-802B-5BEDEF9D7999}"/>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7" name="Rectangle 6">
            <a:extLst>
              <a:ext uri="{FF2B5EF4-FFF2-40B4-BE49-F238E27FC236}">
                <a16:creationId xmlns:a16="http://schemas.microsoft.com/office/drawing/2014/main" id="{3879ABAF-D342-4E79-9082-DB6FFF1B0FBE}"/>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02</a:t>
            </a:r>
          </a:p>
        </p:txBody>
      </p:sp>
    </p:spTree>
    <p:extLst>
      <p:ext uri="{BB962C8B-B14F-4D97-AF65-F5344CB8AC3E}">
        <p14:creationId xmlns:p14="http://schemas.microsoft.com/office/powerpoint/2010/main" val="490641044"/>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8199706-2454-4612-B948-55A489B5C287}"/>
              </a:ext>
            </a:extLst>
          </p:cNvPr>
          <p:cNvSpPr>
            <a:spLocks noGrp="1"/>
          </p:cNvSpPr>
          <p:nvPr/>
        </p:nvSpPr>
        <p:spPr>
          <a:xfrm>
            <a:off x="0" y="0"/>
            <a:ext cx="12192000" cy="6858000"/>
          </a:xfrm>
          <a:prstGeom prst="rect">
            <a:avLst/>
          </a:prstGeom>
          <a:solidFill>
            <a:srgbClr val="050806">
              <a:alpha val="78000"/>
            </a:srgbClr>
          </a:solidFill>
          <a:ln w="0">
            <a:noFill/>
          </a:ln>
        </p:spPr>
      </p:sp>
      <p:sp>
        <p:nvSpPr>
          <p:cNvPr id="3" name="!!HeroVerbPrimary">
            <a:extLst>
              <a:ext uri="{FF2B5EF4-FFF2-40B4-BE49-F238E27FC236}">
                <a16:creationId xmlns:a16="http://schemas.microsoft.com/office/drawing/2014/main" id="{C5BF7E7C-BA0C-4591-983D-D22FE3BA488C}"/>
              </a:ext>
            </a:extLst>
          </p:cNvPr>
          <p:cNvSpPr>
            <a:spLocks noGrp="1"/>
          </p:cNvSpPr>
          <p:nvPr/>
        </p:nvSpPr>
        <p:spPr>
          <a:xfrm>
            <a:off x="647700" y="781050"/>
            <a:ext cx="3905250" cy="495300"/>
          </a:xfrm>
          <a:prstGeom prst="rect">
            <a:avLst/>
          </a:prstGeom>
          <a:noFill/>
          <a:ln w="0">
            <a:noFill/>
          </a:ln>
        </p:spPr>
        <p:txBody>
          <a:bodyPr lIns="38100" tIns="19050" rIns="38100" bIns="19050" anchor="ctr">
            <a:normAutofit/>
          </a:bodyPr>
          <a:lstStyle/>
          <a:p>
            <a:pPr algn="l">
              <a:lnSpc>
                <a:spcPct val="100000"/>
              </a:lnSpc>
              <a:buNone/>
              <a:defRPr sz="2850" b="1" i="0">
                <a:solidFill>
                  <a:srgbClr val="9BA6A0"/>
                </a:solidFill>
                <a:latin typeface="Segoe UI"/>
                <a:ea typeface="Segoe UI"/>
                <a:cs typeface="Segoe UI"/>
              </a:defRPr>
            </a:pPr>
            <a:r>
              <a:rPr sz="2850" b="1" i="0">
                <a:solidFill>
                  <a:srgbClr val="9BA6A0"/>
                </a:solidFill>
                <a:latin typeface="Segoe UI"/>
                <a:ea typeface="Segoe UI"/>
                <a:cs typeface="Segoe UI"/>
              </a:rPr>
              <a:t>SUPERVISER</a:t>
            </a:r>
          </a:p>
        </p:txBody>
      </p:sp>
      <p:sp>
        <p:nvSpPr>
          <p:cNvPr id="4" name="Straight Connector 3">
            <a:extLst>
              <a:ext uri="{FF2B5EF4-FFF2-40B4-BE49-F238E27FC236}">
                <a16:creationId xmlns:a16="http://schemas.microsoft.com/office/drawing/2014/main" id="{15A2518C-7BBD-4AE1-A32D-66910D4FE529}"/>
              </a:ext>
            </a:extLst>
          </p:cNvPr>
          <p:cNvSpPr>
            <a:spLocks noGrp="1"/>
          </p:cNvSpPr>
          <p:nvPr/>
        </p:nvSpPr>
        <p:spPr>
          <a:xfrm>
            <a:off x="666750" y="1466850"/>
            <a:ext cx="1333500" cy="0"/>
          </a:xfrm>
          <a:prstGeom prst="line">
            <a:avLst/>
          </a:prstGeom>
          <a:noFill/>
          <a:ln w="38100">
            <a:solidFill>
              <a:srgbClr val="1ED760"/>
            </a:solidFill>
            <a:prstDash val="solid"/>
          </a:ln>
        </p:spPr>
      </p:sp>
      <p:sp>
        <p:nvSpPr>
          <p:cNvPr id="5" name="!!HeroVerbSecondary">
            <a:extLst>
              <a:ext uri="{FF2B5EF4-FFF2-40B4-BE49-F238E27FC236}">
                <a16:creationId xmlns:a16="http://schemas.microsoft.com/office/drawing/2014/main" id="{34DCAEAE-AA10-494D-B276-6C02BBDEFFD4}"/>
              </a:ext>
            </a:extLst>
          </p:cNvPr>
          <p:cNvSpPr>
            <a:spLocks noGrp="1"/>
          </p:cNvSpPr>
          <p:nvPr/>
        </p:nvSpPr>
        <p:spPr>
          <a:xfrm>
            <a:off x="609600" y="2095500"/>
            <a:ext cx="10858500" cy="1314450"/>
          </a:xfrm>
          <a:prstGeom prst="rect">
            <a:avLst/>
          </a:prstGeom>
          <a:noFill/>
          <a:ln w="0">
            <a:noFill/>
          </a:ln>
        </p:spPr>
        <p:txBody>
          <a:bodyPr lIns="38100" tIns="19050" rIns="38100" bIns="19050" anchor="ctr">
            <a:noAutofit/>
          </a:bodyPr>
          <a:lstStyle/>
          <a:p>
            <a:pPr algn="l">
              <a:lnSpc>
                <a:spcPct val="100000"/>
              </a:lnSpc>
              <a:buNone/>
              <a:defRPr sz="8250" b="1" i="0">
                <a:solidFill>
                  <a:srgbClr val="39FF88"/>
                </a:solidFill>
                <a:latin typeface="Segoe UI"/>
                <a:ea typeface="Segoe UI"/>
                <a:cs typeface="Segoe UI"/>
              </a:defRPr>
            </a:pPr>
            <a:r>
              <a:rPr sz="8250" b="1" i="0">
                <a:solidFill>
                  <a:srgbClr val="39FF88"/>
                </a:solidFill>
                <a:latin typeface="Segoe UI"/>
                <a:ea typeface="Segoe UI"/>
                <a:cs typeface="Segoe UI"/>
              </a:rPr>
              <a:t>ANTICIPER</a:t>
            </a:r>
          </a:p>
        </p:txBody>
      </p:sp>
      <p:sp>
        <p:nvSpPr>
          <p:cNvPr id="6" name="Rectangle 5">
            <a:extLst>
              <a:ext uri="{FF2B5EF4-FFF2-40B4-BE49-F238E27FC236}">
                <a16:creationId xmlns:a16="http://schemas.microsoft.com/office/drawing/2014/main" id="{7009D05D-5BDD-4025-9DC2-74720DC59EC1}"/>
              </a:ext>
            </a:extLst>
          </p:cNvPr>
          <p:cNvSpPr>
            <a:spLocks noGrp="1"/>
          </p:cNvSpPr>
          <p:nvPr/>
        </p:nvSpPr>
        <p:spPr>
          <a:xfrm>
            <a:off x="685800" y="3638550"/>
            <a:ext cx="8572500" cy="428625"/>
          </a:xfrm>
          <a:prstGeom prst="rect">
            <a:avLst/>
          </a:prstGeom>
          <a:noFill/>
          <a:ln w="0">
            <a:noFill/>
          </a:ln>
        </p:spPr>
        <p:txBody>
          <a:bodyPr lIns="38100" tIns="19050" rIns="38100" bIns="19050" anchor="ctr">
            <a:normAutofit/>
          </a:bodyPr>
          <a:lstStyle/>
          <a:p>
            <a:pPr algn="l">
              <a:lnSpc>
                <a:spcPct val="100000"/>
              </a:lnSpc>
              <a:buNone/>
              <a:defRPr sz="2100" b="0" i="0">
                <a:solidFill>
                  <a:srgbClr val="F5F7F6"/>
                </a:solidFill>
                <a:latin typeface="Segoe UI"/>
                <a:ea typeface="Segoe UI"/>
                <a:cs typeface="Segoe UI"/>
              </a:defRPr>
            </a:pPr>
            <a:r>
              <a:rPr sz="2100" b="0" i="0">
                <a:solidFill>
                  <a:srgbClr val="F5F7F6"/>
                </a:solidFill>
                <a:latin typeface="Segoe UI"/>
                <a:ea typeface="Segoe UI"/>
                <a:cs typeface="Segoe UI"/>
              </a:rPr>
              <a:t>Passer d’une supervision réactive à une supervision proactive</a:t>
            </a:r>
          </a:p>
        </p:txBody>
      </p:sp>
      <p:sp>
        <p:nvSpPr>
          <p:cNvPr id="7" name="Rectangle 6">
            <a:extLst>
              <a:ext uri="{FF2B5EF4-FFF2-40B4-BE49-F238E27FC236}">
                <a16:creationId xmlns:a16="http://schemas.microsoft.com/office/drawing/2014/main" id="{6B21EFF6-3270-4558-8925-084D91B466CD}"/>
              </a:ext>
            </a:extLst>
          </p:cNvPr>
          <p:cNvSpPr>
            <a:spLocks noGrp="1"/>
          </p:cNvSpPr>
          <p:nvPr/>
        </p:nvSpPr>
        <p:spPr>
          <a:xfrm>
            <a:off x="685800" y="4248150"/>
            <a:ext cx="7810500" cy="323850"/>
          </a:xfrm>
          <a:prstGeom prst="rect">
            <a:avLst/>
          </a:prstGeom>
          <a:noFill/>
          <a:ln w="0">
            <a:noFill/>
          </a:ln>
        </p:spPr>
        <p:txBody>
          <a:bodyPr lIns="38100" tIns="19050" rIns="38100" bIns="19050" anchor="ctr">
            <a:normAutofit/>
          </a:bodyPr>
          <a:lstStyle/>
          <a:p>
            <a:pPr algn="l">
              <a:lnSpc>
                <a:spcPct val="100000"/>
              </a:lnSpc>
              <a:buNone/>
              <a:defRPr sz="1575" b="0" i="0">
                <a:solidFill>
                  <a:srgbClr val="9BA6A0"/>
                </a:solidFill>
                <a:latin typeface="Segoe UI"/>
                <a:ea typeface="Segoe UI"/>
                <a:cs typeface="Segoe UI"/>
              </a:defRPr>
            </a:pPr>
            <a:r>
              <a:rPr sz="1575" b="0" i="0">
                <a:solidFill>
                  <a:srgbClr val="9BA6A0"/>
                </a:solidFill>
                <a:latin typeface="Segoe UI"/>
                <a:ea typeface="Segoe UI"/>
                <a:cs typeface="Segoe UI"/>
              </a:rPr>
              <a:t>Analyser les tendances avant le dépassement d’un seuil</a:t>
            </a:r>
          </a:p>
        </p:txBody>
      </p:sp>
      <p:sp>
        <p:nvSpPr>
          <p:cNvPr id="8" name="Straight Connector 7">
            <a:extLst>
              <a:ext uri="{FF2B5EF4-FFF2-40B4-BE49-F238E27FC236}">
                <a16:creationId xmlns:a16="http://schemas.microsoft.com/office/drawing/2014/main" id="{44A97621-30A2-4229-AFEF-5F5150BC3BAA}"/>
              </a:ext>
            </a:extLst>
          </p:cNvPr>
          <p:cNvSpPr>
            <a:spLocks noGrp="1"/>
          </p:cNvSpPr>
          <p:nvPr/>
        </p:nvSpPr>
        <p:spPr>
          <a:xfrm>
            <a:off x="609600" y="6429375"/>
            <a:ext cx="10972800" cy="0"/>
          </a:xfrm>
          <a:prstGeom prst="line">
            <a:avLst/>
          </a:prstGeom>
          <a:noFill/>
          <a:ln w="9525">
            <a:solidFill>
              <a:srgbClr val="1B3028"/>
            </a:solidFill>
            <a:prstDash val="solid"/>
          </a:ln>
        </p:spPr>
      </p:sp>
      <p:sp>
        <p:nvSpPr>
          <p:cNvPr id="9" name="Rectangle 8">
            <a:extLst>
              <a:ext uri="{FF2B5EF4-FFF2-40B4-BE49-F238E27FC236}">
                <a16:creationId xmlns:a16="http://schemas.microsoft.com/office/drawing/2014/main" id="{3E4A26CB-8C18-449E-98A6-F3398EAA85DE}"/>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0" name="Rectangle 9">
            <a:extLst>
              <a:ext uri="{FF2B5EF4-FFF2-40B4-BE49-F238E27FC236}">
                <a16:creationId xmlns:a16="http://schemas.microsoft.com/office/drawing/2014/main" id="{AFC1B076-EC9C-4360-A0A5-02694ED95C4C}"/>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03</a:t>
            </a:r>
          </a:p>
        </p:txBody>
      </p:sp>
    </p:spTree>
    <p:extLst>
      <p:ext uri="{BB962C8B-B14F-4D97-AF65-F5344CB8AC3E}">
        <p14:creationId xmlns:p14="http://schemas.microsoft.com/office/powerpoint/2010/main" val="663278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25" name="Straight Connector 24">
            <a:extLst>
              <a:ext uri="{FF2B5EF4-FFF2-40B4-BE49-F238E27FC236}">
                <a16:creationId xmlns:a16="http://schemas.microsoft.com/office/drawing/2014/main" id="{BF05551E-BDAE-4355-9D3D-2C38484B9025}"/>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F7730A09-854B-46A2-B89C-D9810B6B4173}"/>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Problématique</a:t>
            </a:r>
          </a:p>
        </p:txBody>
      </p:sp>
      <p:sp>
        <p:nvSpPr>
          <p:cNvPr id="3" name="Rectangle 2">
            <a:extLst>
              <a:ext uri="{FF2B5EF4-FFF2-40B4-BE49-F238E27FC236}">
                <a16:creationId xmlns:a16="http://schemas.microsoft.com/office/drawing/2014/main" id="{0169B4A8-DC3F-4F09-BF90-5C687627046E}"/>
              </a:ext>
            </a:extLst>
          </p:cNvPr>
          <p:cNvSpPr>
            <a:spLocks noGrp="1"/>
          </p:cNvSpPr>
          <p:nvPr/>
        </p:nvSpPr>
        <p:spPr>
          <a:xfrm>
            <a:off x="1619250" y="1314450"/>
            <a:ext cx="8953500" cy="1143000"/>
          </a:xfrm>
          <a:prstGeom prst="rect">
            <a:avLst/>
          </a:prstGeom>
          <a:noFill/>
          <a:ln w="0">
            <a:noFill/>
          </a:ln>
        </p:spPr>
        <p:txBody>
          <a:bodyPr lIns="38100" tIns="19050" rIns="38100" bIns="19050" anchor="ctr">
            <a:normAutofit/>
          </a:bodyPr>
          <a:lstStyle/>
          <a:p>
            <a:pPr algn="ctr">
              <a:lnSpc>
                <a:spcPct val="95000"/>
              </a:lnSpc>
              <a:buNone/>
              <a:defRPr sz="3600" b="1" i="0">
                <a:solidFill>
                  <a:srgbClr val="F5F7F6"/>
                </a:solidFill>
                <a:latin typeface="Segoe UI"/>
                <a:ea typeface="Segoe UI"/>
                <a:cs typeface="Segoe UI"/>
              </a:defRPr>
            </a:pPr>
            <a:r>
              <a:rPr sz="3600" b="1" i="0">
                <a:solidFill>
                  <a:srgbClr val="F5F7F6"/>
                </a:solidFill>
                <a:latin typeface="Segoe UI"/>
                <a:ea typeface="Segoe UI"/>
                <a:cs typeface="Segoe UI"/>
              </a:rPr>
              <a:t>Et si l’on pouvait détecter un problème</a:t>
            </a:r>
          </a:p>
          <a:p>
            <a:pPr algn="ctr">
              <a:lnSpc>
                <a:spcPct val="95000"/>
              </a:lnSpc>
              <a:buNone/>
              <a:defRPr sz="3600" b="1" i="0">
                <a:solidFill>
                  <a:srgbClr val="F5F7F6"/>
                </a:solidFill>
                <a:latin typeface="Segoe UI"/>
                <a:ea typeface="Segoe UI"/>
                <a:cs typeface="Segoe UI"/>
              </a:defRPr>
            </a:pPr>
            <a:r>
              <a:rPr sz="3600" b="1" i="0">
                <a:solidFill>
                  <a:srgbClr val="F5F7F6"/>
                </a:solidFill>
                <a:latin typeface="Segoe UI"/>
                <a:ea typeface="Segoe UI"/>
                <a:cs typeface="Segoe UI"/>
              </a:rPr>
              <a:t>avant qu’il ne devienne critique ?</a:t>
            </a:r>
          </a:p>
        </p:txBody>
      </p:sp>
      <p:sp>
        <p:nvSpPr>
          <p:cNvPr id="4" name="Rectangle 3">
            <a:extLst>
              <a:ext uri="{FF2B5EF4-FFF2-40B4-BE49-F238E27FC236}">
                <a16:creationId xmlns:a16="http://schemas.microsoft.com/office/drawing/2014/main" id="{E92F33EB-4B62-46C6-BD98-F3C0636C70C8}"/>
              </a:ext>
            </a:extLst>
          </p:cNvPr>
          <p:cNvSpPr>
            <a:spLocks noGrp="1"/>
          </p:cNvSpPr>
          <p:nvPr/>
        </p:nvSpPr>
        <p:spPr>
          <a:xfrm>
            <a:off x="876300" y="3143250"/>
            <a:ext cx="314325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7D7E8"/>
                </a:solidFill>
                <a:latin typeface="Segoe UI"/>
                <a:ea typeface="Segoe UI"/>
                <a:cs typeface="Segoe UI"/>
              </a:defRPr>
            </a:pPr>
            <a:r>
              <a:rPr sz="1350" b="1" i="0">
                <a:solidFill>
                  <a:srgbClr val="37D7E8"/>
                </a:solidFill>
                <a:latin typeface="Segoe UI"/>
                <a:ea typeface="Segoe UI"/>
                <a:cs typeface="Segoe UI"/>
              </a:rPr>
              <a:t>CPU</a:t>
            </a:r>
          </a:p>
        </p:txBody>
      </p:sp>
      <p:sp>
        <p:nvSpPr>
          <p:cNvPr id="5" name="Rectangle 4">
            <a:extLst>
              <a:ext uri="{FF2B5EF4-FFF2-40B4-BE49-F238E27FC236}">
                <a16:creationId xmlns:a16="http://schemas.microsoft.com/office/drawing/2014/main" id="{7E9F2CA8-A004-4E56-ACF2-BB0FFDCD706E}"/>
              </a:ext>
            </a:extLst>
          </p:cNvPr>
          <p:cNvSpPr>
            <a:spLocks noGrp="1"/>
          </p:cNvSpPr>
          <p:nvPr/>
        </p:nvSpPr>
        <p:spPr>
          <a:xfrm>
            <a:off x="876300" y="3467100"/>
            <a:ext cx="3143250" cy="400050"/>
          </a:xfrm>
          <a:prstGeom prst="rect">
            <a:avLst/>
          </a:prstGeom>
          <a:noFill/>
          <a:ln w="0">
            <a:noFill/>
          </a:ln>
        </p:spPr>
        <p:txBody>
          <a:bodyPr lIns="38100" tIns="19050" rIns="38100" bIns="19050" anchor="ctr">
            <a:normAutofit/>
          </a:bodyPr>
          <a:lstStyle/>
          <a:p>
            <a:pPr algn="ctr">
              <a:lnSpc>
                <a:spcPct val="100000"/>
              </a:lnSpc>
              <a:buNone/>
              <a:defRPr sz="1950" b="1" i="0">
                <a:solidFill>
                  <a:srgbClr val="F5F7F6"/>
                </a:solidFill>
                <a:latin typeface="Segoe UI"/>
                <a:ea typeface="Segoe UI"/>
                <a:cs typeface="Segoe UI"/>
              </a:defRPr>
            </a:pPr>
            <a:r>
              <a:rPr sz="1950" b="1" i="0">
                <a:solidFill>
                  <a:srgbClr val="F5F7F6"/>
                </a:solidFill>
                <a:latin typeface="Segoe UI"/>
                <a:ea typeface="Segoe UI"/>
                <a:cs typeface="Segoe UI"/>
              </a:rPr>
              <a:t>surcharge</a:t>
            </a:r>
          </a:p>
        </p:txBody>
      </p:sp>
      <p:sp>
        <p:nvSpPr>
          <p:cNvPr id="6" name="Straight Connector 5">
            <a:extLst>
              <a:ext uri="{FF2B5EF4-FFF2-40B4-BE49-F238E27FC236}">
                <a16:creationId xmlns:a16="http://schemas.microsoft.com/office/drawing/2014/main" id="{C01769E6-333B-46FE-A0FD-01A558ADBD2E}"/>
              </a:ext>
            </a:extLst>
          </p:cNvPr>
          <p:cNvSpPr>
            <a:spLocks noGrp="1"/>
          </p:cNvSpPr>
          <p:nvPr/>
        </p:nvSpPr>
        <p:spPr>
          <a:xfrm>
            <a:off x="2019300" y="3981450"/>
            <a:ext cx="857250" cy="0"/>
          </a:xfrm>
          <a:prstGeom prst="line">
            <a:avLst/>
          </a:prstGeom>
          <a:noFill/>
          <a:ln w="19050">
            <a:solidFill>
              <a:srgbClr val="244338"/>
            </a:solidFill>
            <a:prstDash val="solid"/>
          </a:ln>
        </p:spPr>
      </p:sp>
      <p:sp>
        <p:nvSpPr>
          <p:cNvPr id="7" name="Rectangle 6">
            <a:extLst>
              <a:ext uri="{FF2B5EF4-FFF2-40B4-BE49-F238E27FC236}">
                <a16:creationId xmlns:a16="http://schemas.microsoft.com/office/drawing/2014/main" id="{5127C695-AB5E-41E4-929C-606654F226F8}"/>
              </a:ext>
            </a:extLst>
          </p:cNvPr>
          <p:cNvSpPr>
            <a:spLocks noGrp="1"/>
          </p:cNvSpPr>
          <p:nvPr/>
        </p:nvSpPr>
        <p:spPr>
          <a:xfrm>
            <a:off x="4514850" y="3143250"/>
            <a:ext cx="314325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7D7E8"/>
                </a:solidFill>
                <a:latin typeface="Segoe UI"/>
                <a:ea typeface="Segoe UI"/>
                <a:cs typeface="Segoe UI"/>
              </a:defRPr>
            </a:pPr>
            <a:r>
              <a:rPr sz="1350" b="1" i="0">
                <a:solidFill>
                  <a:srgbClr val="37D7E8"/>
                </a:solidFill>
                <a:latin typeface="Segoe UI"/>
                <a:ea typeface="Segoe UI"/>
                <a:cs typeface="Segoe UI"/>
              </a:rPr>
              <a:t>RAM</a:t>
            </a:r>
          </a:p>
        </p:txBody>
      </p:sp>
      <p:sp>
        <p:nvSpPr>
          <p:cNvPr id="8" name="Rectangle 7">
            <a:extLst>
              <a:ext uri="{FF2B5EF4-FFF2-40B4-BE49-F238E27FC236}">
                <a16:creationId xmlns:a16="http://schemas.microsoft.com/office/drawing/2014/main" id="{8A23265D-5E83-4899-B4DF-F096E9311618}"/>
              </a:ext>
            </a:extLst>
          </p:cNvPr>
          <p:cNvSpPr>
            <a:spLocks noGrp="1"/>
          </p:cNvSpPr>
          <p:nvPr/>
        </p:nvSpPr>
        <p:spPr>
          <a:xfrm>
            <a:off x="4514850" y="3467100"/>
            <a:ext cx="3143250" cy="400050"/>
          </a:xfrm>
          <a:prstGeom prst="rect">
            <a:avLst/>
          </a:prstGeom>
          <a:noFill/>
          <a:ln w="0">
            <a:noFill/>
          </a:ln>
        </p:spPr>
        <p:txBody>
          <a:bodyPr lIns="38100" tIns="19050" rIns="38100" bIns="19050" anchor="ctr">
            <a:normAutofit/>
          </a:bodyPr>
          <a:lstStyle/>
          <a:p>
            <a:pPr algn="ctr">
              <a:lnSpc>
                <a:spcPct val="100000"/>
              </a:lnSpc>
              <a:buNone/>
              <a:defRPr sz="1950" b="1" i="0">
                <a:solidFill>
                  <a:srgbClr val="F5F7F6"/>
                </a:solidFill>
                <a:latin typeface="Segoe UI"/>
                <a:ea typeface="Segoe UI"/>
                <a:cs typeface="Segoe UI"/>
              </a:defRPr>
            </a:pPr>
            <a:r>
              <a:rPr sz="1950" b="1" i="0">
                <a:solidFill>
                  <a:srgbClr val="F5F7F6"/>
                </a:solidFill>
                <a:latin typeface="Segoe UI"/>
                <a:ea typeface="Segoe UI"/>
                <a:cs typeface="Segoe UI"/>
              </a:rPr>
              <a:t>saturation</a:t>
            </a:r>
          </a:p>
        </p:txBody>
      </p:sp>
      <p:sp>
        <p:nvSpPr>
          <p:cNvPr id="9" name="Straight Connector 8">
            <a:extLst>
              <a:ext uri="{FF2B5EF4-FFF2-40B4-BE49-F238E27FC236}">
                <a16:creationId xmlns:a16="http://schemas.microsoft.com/office/drawing/2014/main" id="{5CA2649B-386F-4F30-8DFD-3BABB98B90BC}"/>
              </a:ext>
            </a:extLst>
          </p:cNvPr>
          <p:cNvSpPr>
            <a:spLocks noGrp="1"/>
          </p:cNvSpPr>
          <p:nvPr/>
        </p:nvSpPr>
        <p:spPr>
          <a:xfrm>
            <a:off x="5657850" y="3981450"/>
            <a:ext cx="857250" cy="0"/>
          </a:xfrm>
          <a:prstGeom prst="line">
            <a:avLst/>
          </a:prstGeom>
          <a:noFill/>
          <a:ln w="19050">
            <a:solidFill>
              <a:srgbClr val="244338"/>
            </a:solidFill>
            <a:prstDash val="solid"/>
          </a:ln>
        </p:spPr>
      </p:sp>
      <p:sp>
        <p:nvSpPr>
          <p:cNvPr id="10" name="Rectangle 9">
            <a:extLst>
              <a:ext uri="{FF2B5EF4-FFF2-40B4-BE49-F238E27FC236}">
                <a16:creationId xmlns:a16="http://schemas.microsoft.com/office/drawing/2014/main" id="{D2508C4C-C009-4BC7-8AF6-D1F0E45BE9C4}"/>
              </a:ext>
            </a:extLst>
          </p:cNvPr>
          <p:cNvSpPr>
            <a:spLocks noGrp="1"/>
          </p:cNvSpPr>
          <p:nvPr/>
        </p:nvSpPr>
        <p:spPr>
          <a:xfrm>
            <a:off x="8153400" y="3143250"/>
            <a:ext cx="314325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7D7E8"/>
                </a:solidFill>
                <a:latin typeface="Segoe UI"/>
                <a:ea typeface="Segoe UI"/>
                <a:cs typeface="Segoe UI"/>
              </a:defRPr>
            </a:pPr>
            <a:r>
              <a:rPr sz="1350" b="1" i="0">
                <a:solidFill>
                  <a:srgbClr val="37D7E8"/>
                </a:solidFill>
                <a:latin typeface="Segoe UI"/>
                <a:ea typeface="Segoe UI"/>
                <a:cs typeface="Segoe UI"/>
              </a:rPr>
              <a:t>DISQUE</a:t>
            </a:r>
          </a:p>
        </p:txBody>
      </p:sp>
      <p:sp>
        <p:nvSpPr>
          <p:cNvPr id="11" name="Rectangle 10">
            <a:extLst>
              <a:ext uri="{FF2B5EF4-FFF2-40B4-BE49-F238E27FC236}">
                <a16:creationId xmlns:a16="http://schemas.microsoft.com/office/drawing/2014/main" id="{2487A77C-DEE1-4E5D-9667-F1FBEDF068BC}"/>
              </a:ext>
            </a:extLst>
          </p:cNvPr>
          <p:cNvSpPr>
            <a:spLocks noGrp="1"/>
          </p:cNvSpPr>
          <p:nvPr/>
        </p:nvSpPr>
        <p:spPr>
          <a:xfrm>
            <a:off x="8153400" y="3467100"/>
            <a:ext cx="3143250" cy="400050"/>
          </a:xfrm>
          <a:prstGeom prst="rect">
            <a:avLst/>
          </a:prstGeom>
          <a:noFill/>
          <a:ln w="0">
            <a:noFill/>
          </a:ln>
        </p:spPr>
        <p:txBody>
          <a:bodyPr lIns="38100" tIns="19050" rIns="38100" bIns="19050" anchor="ctr">
            <a:normAutofit/>
          </a:bodyPr>
          <a:lstStyle/>
          <a:p>
            <a:pPr algn="ctr">
              <a:lnSpc>
                <a:spcPct val="100000"/>
              </a:lnSpc>
              <a:buNone/>
              <a:defRPr sz="1950" b="1" i="0">
                <a:solidFill>
                  <a:srgbClr val="F5F7F6"/>
                </a:solidFill>
                <a:latin typeface="Segoe UI"/>
                <a:ea typeface="Segoe UI"/>
                <a:cs typeface="Segoe UI"/>
              </a:defRPr>
            </a:pPr>
            <a:r>
              <a:rPr sz="1950" b="1" i="0">
                <a:solidFill>
                  <a:srgbClr val="F5F7F6"/>
                </a:solidFill>
                <a:latin typeface="Segoe UI"/>
                <a:ea typeface="Segoe UI"/>
                <a:cs typeface="Segoe UI"/>
              </a:rPr>
              <a:t>espace critique</a:t>
            </a:r>
          </a:p>
        </p:txBody>
      </p:sp>
      <p:sp>
        <p:nvSpPr>
          <p:cNvPr id="12" name="Straight Connector 11">
            <a:extLst>
              <a:ext uri="{FF2B5EF4-FFF2-40B4-BE49-F238E27FC236}">
                <a16:creationId xmlns:a16="http://schemas.microsoft.com/office/drawing/2014/main" id="{5AB5D072-AEB0-4FFA-B47B-C3BEAA6EDBFC}"/>
              </a:ext>
            </a:extLst>
          </p:cNvPr>
          <p:cNvSpPr>
            <a:spLocks noGrp="1"/>
          </p:cNvSpPr>
          <p:nvPr/>
        </p:nvSpPr>
        <p:spPr>
          <a:xfrm>
            <a:off x="9296400" y="3981450"/>
            <a:ext cx="857250" cy="0"/>
          </a:xfrm>
          <a:prstGeom prst="line">
            <a:avLst/>
          </a:prstGeom>
          <a:noFill/>
          <a:ln w="19050">
            <a:solidFill>
              <a:srgbClr val="244338"/>
            </a:solidFill>
            <a:prstDash val="solid"/>
          </a:ln>
        </p:spPr>
      </p:sp>
      <p:sp>
        <p:nvSpPr>
          <p:cNvPr id="13" name="Rectangle 12">
            <a:extLst>
              <a:ext uri="{FF2B5EF4-FFF2-40B4-BE49-F238E27FC236}">
                <a16:creationId xmlns:a16="http://schemas.microsoft.com/office/drawing/2014/main" id="{67D79303-9CD5-47EA-9494-EED3F45634BC}"/>
              </a:ext>
            </a:extLst>
          </p:cNvPr>
          <p:cNvSpPr>
            <a:spLocks noGrp="1"/>
          </p:cNvSpPr>
          <p:nvPr/>
        </p:nvSpPr>
        <p:spPr>
          <a:xfrm>
            <a:off x="876300" y="4286250"/>
            <a:ext cx="314325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7D7E8"/>
                </a:solidFill>
                <a:latin typeface="Segoe UI"/>
                <a:ea typeface="Segoe UI"/>
                <a:cs typeface="Segoe UI"/>
              </a:defRPr>
            </a:pPr>
            <a:r>
              <a:rPr sz="1350" b="1" i="0">
                <a:solidFill>
                  <a:srgbClr val="37D7E8"/>
                </a:solidFill>
                <a:latin typeface="Segoe UI"/>
                <a:ea typeface="Segoe UI"/>
                <a:cs typeface="Segoe UI"/>
              </a:rPr>
              <a:t>RÉSEAU</a:t>
            </a:r>
          </a:p>
        </p:txBody>
      </p:sp>
      <p:sp>
        <p:nvSpPr>
          <p:cNvPr id="14" name="Rectangle 13">
            <a:extLst>
              <a:ext uri="{FF2B5EF4-FFF2-40B4-BE49-F238E27FC236}">
                <a16:creationId xmlns:a16="http://schemas.microsoft.com/office/drawing/2014/main" id="{9245C44E-6F9C-49B4-8657-A00B738F3593}"/>
              </a:ext>
            </a:extLst>
          </p:cNvPr>
          <p:cNvSpPr>
            <a:spLocks noGrp="1"/>
          </p:cNvSpPr>
          <p:nvPr/>
        </p:nvSpPr>
        <p:spPr>
          <a:xfrm>
            <a:off x="876300" y="4610100"/>
            <a:ext cx="3143250" cy="400050"/>
          </a:xfrm>
          <a:prstGeom prst="rect">
            <a:avLst/>
          </a:prstGeom>
          <a:noFill/>
          <a:ln w="0">
            <a:noFill/>
          </a:ln>
        </p:spPr>
        <p:txBody>
          <a:bodyPr lIns="38100" tIns="19050" rIns="38100" bIns="19050" anchor="ctr">
            <a:normAutofit/>
          </a:bodyPr>
          <a:lstStyle/>
          <a:p>
            <a:pPr algn="ctr">
              <a:lnSpc>
                <a:spcPct val="100000"/>
              </a:lnSpc>
              <a:buNone/>
              <a:defRPr sz="1950" b="1" i="0">
                <a:solidFill>
                  <a:srgbClr val="F5F7F6"/>
                </a:solidFill>
                <a:latin typeface="Segoe UI"/>
                <a:ea typeface="Segoe UI"/>
                <a:cs typeface="Segoe UI"/>
              </a:defRPr>
            </a:pPr>
            <a:r>
              <a:rPr sz="1950" b="1" i="0">
                <a:solidFill>
                  <a:srgbClr val="F5F7F6"/>
                </a:solidFill>
                <a:latin typeface="Segoe UI"/>
                <a:ea typeface="Segoe UI"/>
                <a:cs typeface="Segoe UI"/>
              </a:rPr>
              <a:t>dégradation</a:t>
            </a:r>
          </a:p>
        </p:txBody>
      </p:sp>
      <p:sp>
        <p:nvSpPr>
          <p:cNvPr id="15" name="Straight Connector 14">
            <a:extLst>
              <a:ext uri="{FF2B5EF4-FFF2-40B4-BE49-F238E27FC236}">
                <a16:creationId xmlns:a16="http://schemas.microsoft.com/office/drawing/2014/main" id="{634972A3-D03B-4F38-B6EF-9F0E99FD0A2E}"/>
              </a:ext>
            </a:extLst>
          </p:cNvPr>
          <p:cNvSpPr>
            <a:spLocks noGrp="1"/>
          </p:cNvSpPr>
          <p:nvPr/>
        </p:nvSpPr>
        <p:spPr>
          <a:xfrm>
            <a:off x="2019300" y="5124450"/>
            <a:ext cx="857250" cy="0"/>
          </a:xfrm>
          <a:prstGeom prst="line">
            <a:avLst/>
          </a:prstGeom>
          <a:noFill/>
          <a:ln w="19050">
            <a:solidFill>
              <a:srgbClr val="244338"/>
            </a:solidFill>
            <a:prstDash val="solid"/>
          </a:ln>
        </p:spPr>
      </p:sp>
      <p:sp>
        <p:nvSpPr>
          <p:cNvPr id="16" name="Rectangle 15">
            <a:extLst>
              <a:ext uri="{FF2B5EF4-FFF2-40B4-BE49-F238E27FC236}">
                <a16:creationId xmlns:a16="http://schemas.microsoft.com/office/drawing/2014/main" id="{A998EB7F-3F29-4627-A80D-B48BECF58F44}"/>
              </a:ext>
            </a:extLst>
          </p:cNvPr>
          <p:cNvSpPr>
            <a:spLocks noGrp="1"/>
          </p:cNvSpPr>
          <p:nvPr/>
        </p:nvSpPr>
        <p:spPr>
          <a:xfrm>
            <a:off x="4514850" y="4286250"/>
            <a:ext cx="314325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7D7E8"/>
                </a:solidFill>
                <a:latin typeface="Segoe UI"/>
                <a:ea typeface="Segoe UI"/>
                <a:cs typeface="Segoe UI"/>
              </a:defRPr>
            </a:pPr>
            <a:r>
              <a:rPr sz="1350" b="1" i="0">
                <a:solidFill>
                  <a:srgbClr val="37D7E8"/>
                </a:solidFill>
                <a:latin typeface="Segoe UI"/>
                <a:ea typeface="Segoe UI"/>
                <a:cs typeface="Segoe UI"/>
              </a:rPr>
              <a:t>SERVICE</a:t>
            </a:r>
          </a:p>
        </p:txBody>
      </p:sp>
      <p:sp>
        <p:nvSpPr>
          <p:cNvPr id="17" name="Rectangle 16">
            <a:extLst>
              <a:ext uri="{FF2B5EF4-FFF2-40B4-BE49-F238E27FC236}">
                <a16:creationId xmlns:a16="http://schemas.microsoft.com/office/drawing/2014/main" id="{C0C29649-47C4-41E4-813F-9DF5E71DC12C}"/>
              </a:ext>
            </a:extLst>
          </p:cNvPr>
          <p:cNvSpPr>
            <a:spLocks noGrp="1"/>
          </p:cNvSpPr>
          <p:nvPr/>
        </p:nvSpPr>
        <p:spPr>
          <a:xfrm>
            <a:off x="4514850" y="4610100"/>
            <a:ext cx="3143250" cy="400050"/>
          </a:xfrm>
          <a:prstGeom prst="rect">
            <a:avLst/>
          </a:prstGeom>
          <a:noFill/>
          <a:ln w="0">
            <a:noFill/>
          </a:ln>
        </p:spPr>
        <p:txBody>
          <a:bodyPr lIns="38100" tIns="19050" rIns="38100" bIns="19050" anchor="ctr">
            <a:normAutofit/>
          </a:bodyPr>
          <a:lstStyle/>
          <a:p>
            <a:pPr algn="ctr">
              <a:lnSpc>
                <a:spcPct val="100000"/>
              </a:lnSpc>
              <a:buNone/>
              <a:defRPr sz="1950" b="1" i="0">
                <a:solidFill>
                  <a:srgbClr val="F5F7F6"/>
                </a:solidFill>
                <a:latin typeface="Segoe UI"/>
                <a:ea typeface="Segoe UI"/>
                <a:cs typeface="Segoe UI"/>
              </a:defRPr>
            </a:pPr>
            <a:r>
              <a:rPr sz="1950" b="1" i="0">
                <a:solidFill>
                  <a:srgbClr val="F5F7F6"/>
                </a:solidFill>
                <a:latin typeface="Segoe UI"/>
                <a:ea typeface="Segoe UI"/>
                <a:cs typeface="Segoe UI"/>
              </a:rPr>
              <a:t>indisponible</a:t>
            </a:r>
          </a:p>
        </p:txBody>
      </p:sp>
      <p:sp>
        <p:nvSpPr>
          <p:cNvPr id="18" name="Straight Connector 17">
            <a:extLst>
              <a:ext uri="{FF2B5EF4-FFF2-40B4-BE49-F238E27FC236}">
                <a16:creationId xmlns:a16="http://schemas.microsoft.com/office/drawing/2014/main" id="{F4DA6C58-BFF1-4127-B544-9CA7E0AA95CE}"/>
              </a:ext>
            </a:extLst>
          </p:cNvPr>
          <p:cNvSpPr>
            <a:spLocks noGrp="1"/>
          </p:cNvSpPr>
          <p:nvPr/>
        </p:nvSpPr>
        <p:spPr>
          <a:xfrm>
            <a:off x="5657850" y="5124450"/>
            <a:ext cx="857250" cy="0"/>
          </a:xfrm>
          <a:prstGeom prst="line">
            <a:avLst/>
          </a:prstGeom>
          <a:noFill/>
          <a:ln w="19050">
            <a:solidFill>
              <a:srgbClr val="244338"/>
            </a:solidFill>
            <a:prstDash val="solid"/>
          </a:ln>
        </p:spPr>
      </p:sp>
      <p:sp>
        <p:nvSpPr>
          <p:cNvPr id="19" name="Rectangle 18">
            <a:extLst>
              <a:ext uri="{FF2B5EF4-FFF2-40B4-BE49-F238E27FC236}">
                <a16:creationId xmlns:a16="http://schemas.microsoft.com/office/drawing/2014/main" id="{B8CCE5E0-556A-4EC9-B1CC-2692CC94956A}"/>
              </a:ext>
            </a:extLst>
          </p:cNvPr>
          <p:cNvSpPr>
            <a:spLocks noGrp="1"/>
          </p:cNvSpPr>
          <p:nvPr/>
        </p:nvSpPr>
        <p:spPr>
          <a:xfrm>
            <a:off x="8153400" y="4286250"/>
            <a:ext cx="314325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9FF88"/>
                </a:solidFill>
                <a:latin typeface="Segoe UI"/>
                <a:ea typeface="Segoe UI"/>
                <a:cs typeface="Segoe UI"/>
              </a:defRPr>
            </a:pPr>
            <a:r>
              <a:rPr sz="1350" b="1" i="0">
                <a:solidFill>
                  <a:srgbClr val="39FF88"/>
                </a:solidFill>
                <a:latin typeface="Segoe UI"/>
                <a:ea typeface="Segoe UI"/>
                <a:cs typeface="Segoe UI"/>
              </a:rPr>
              <a:t>COMPORTEMENT</a:t>
            </a:r>
          </a:p>
        </p:txBody>
      </p:sp>
      <p:sp>
        <p:nvSpPr>
          <p:cNvPr id="20" name="Rectangle 19">
            <a:extLst>
              <a:ext uri="{FF2B5EF4-FFF2-40B4-BE49-F238E27FC236}">
                <a16:creationId xmlns:a16="http://schemas.microsoft.com/office/drawing/2014/main" id="{49563FF4-4D00-4BBD-BC12-DFDD776D3A9B}"/>
              </a:ext>
            </a:extLst>
          </p:cNvPr>
          <p:cNvSpPr>
            <a:spLocks noGrp="1"/>
          </p:cNvSpPr>
          <p:nvPr/>
        </p:nvSpPr>
        <p:spPr>
          <a:xfrm>
            <a:off x="8153400" y="4610100"/>
            <a:ext cx="3143250" cy="400050"/>
          </a:xfrm>
          <a:prstGeom prst="rect">
            <a:avLst/>
          </a:prstGeom>
          <a:noFill/>
          <a:ln w="0">
            <a:noFill/>
          </a:ln>
        </p:spPr>
        <p:txBody>
          <a:bodyPr lIns="38100" tIns="19050" rIns="38100" bIns="19050" anchor="ctr">
            <a:normAutofit/>
          </a:bodyPr>
          <a:lstStyle/>
          <a:p>
            <a:pPr algn="ctr">
              <a:lnSpc>
                <a:spcPct val="100000"/>
              </a:lnSpc>
              <a:buNone/>
              <a:defRPr sz="1950" b="1" i="0">
                <a:solidFill>
                  <a:srgbClr val="F5F7F6"/>
                </a:solidFill>
                <a:latin typeface="Segoe UI"/>
                <a:ea typeface="Segoe UI"/>
                <a:cs typeface="Segoe UI"/>
              </a:defRPr>
            </a:pPr>
            <a:r>
              <a:rPr sz="1950" b="1" i="0">
                <a:solidFill>
                  <a:srgbClr val="F5F7F6"/>
                </a:solidFill>
                <a:latin typeface="Segoe UI"/>
                <a:ea typeface="Segoe UI"/>
                <a:cs typeface="Segoe UI"/>
              </a:rPr>
              <a:t>inhabituel</a:t>
            </a:r>
          </a:p>
        </p:txBody>
      </p:sp>
      <p:sp>
        <p:nvSpPr>
          <p:cNvPr id="21" name="Straight Connector 20">
            <a:extLst>
              <a:ext uri="{FF2B5EF4-FFF2-40B4-BE49-F238E27FC236}">
                <a16:creationId xmlns:a16="http://schemas.microsoft.com/office/drawing/2014/main" id="{9C01D2F9-9DAB-4AE5-B64C-84C711633097}"/>
              </a:ext>
            </a:extLst>
          </p:cNvPr>
          <p:cNvSpPr>
            <a:spLocks noGrp="1"/>
          </p:cNvSpPr>
          <p:nvPr/>
        </p:nvSpPr>
        <p:spPr>
          <a:xfrm>
            <a:off x="9296400" y="5124450"/>
            <a:ext cx="857250" cy="0"/>
          </a:xfrm>
          <a:prstGeom prst="line">
            <a:avLst/>
          </a:prstGeom>
          <a:noFill/>
          <a:ln w="19050">
            <a:solidFill>
              <a:srgbClr val="244338"/>
            </a:solidFill>
            <a:prstDash val="solid"/>
          </a:ln>
        </p:spPr>
      </p:sp>
      <p:sp>
        <p:nvSpPr>
          <p:cNvPr id="22" name="Straight Connector 21">
            <a:extLst>
              <a:ext uri="{FF2B5EF4-FFF2-40B4-BE49-F238E27FC236}">
                <a16:creationId xmlns:a16="http://schemas.microsoft.com/office/drawing/2014/main" id="{516F00EF-FCC1-4E0A-B545-DFD578683171}"/>
              </a:ext>
            </a:extLst>
          </p:cNvPr>
          <p:cNvSpPr>
            <a:spLocks noGrp="1"/>
          </p:cNvSpPr>
          <p:nvPr/>
        </p:nvSpPr>
        <p:spPr>
          <a:xfrm>
            <a:off x="609600" y="6429375"/>
            <a:ext cx="10972800" cy="0"/>
          </a:xfrm>
          <a:prstGeom prst="line">
            <a:avLst/>
          </a:prstGeom>
          <a:noFill/>
          <a:ln w="9525">
            <a:solidFill>
              <a:srgbClr val="1B3028"/>
            </a:solidFill>
            <a:prstDash val="solid"/>
          </a:ln>
        </p:spPr>
      </p:sp>
      <p:sp>
        <p:nvSpPr>
          <p:cNvPr id="23" name="Rectangle 22">
            <a:extLst>
              <a:ext uri="{FF2B5EF4-FFF2-40B4-BE49-F238E27FC236}">
                <a16:creationId xmlns:a16="http://schemas.microsoft.com/office/drawing/2014/main" id="{26AD1061-239A-422C-9BCD-417893EFAEC8}"/>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4" name="Rectangle 23">
            <a:extLst>
              <a:ext uri="{FF2B5EF4-FFF2-40B4-BE49-F238E27FC236}">
                <a16:creationId xmlns:a16="http://schemas.microsoft.com/office/drawing/2014/main" id="{F3C4D507-45A3-49CE-91B5-6BB84905D708}"/>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04</a:t>
            </a:r>
          </a:p>
        </p:txBody>
      </p:sp>
    </p:spTree>
    <p:extLst>
      <p:ext uri="{BB962C8B-B14F-4D97-AF65-F5344CB8AC3E}">
        <p14:creationId xmlns:p14="http://schemas.microsoft.com/office/powerpoint/2010/main" val="1551388364"/>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sp>
        <p:nvSpPr>
          <p:cNvPr id="27" name="Straight Connector 26">
            <a:extLst>
              <a:ext uri="{FF2B5EF4-FFF2-40B4-BE49-F238E27FC236}">
                <a16:creationId xmlns:a16="http://schemas.microsoft.com/office/drawing/2014/main" id="{A015D55F-284A-4567-905C-D431D0F32428}"/>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6C83202F-79F6-4083-A430-7C2B41A2845D}"/>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Monitoring traditionnel et supervision proactive</a:t>
            </a:r>
          </a:p>
        </p:txBody>
      </p:sp>
      <p:sp>
        <p:nvSpPr>
          <p:cNvPr id="3" name="Rectangle 2">
            <a:extLst>
              <a:ext uri="{FF2B5EF4-FFF2-40B4-BE49-F238E27FC236}">
                <a16:creationId xmlns:a16="http://schemas.microsoft.com/office/drawing/2014/main" id="{336E2F1E-5891-42E0-9AD0-DDF904D1711F}"/>
              </a:ext>
            </a:extLst>
          </p:cNvPr>
          <p:cNvSpPr>
            <a:spLocks noGrp="1"/>
          </p:cNvSpPr>
          <p:nvPr/>
        </p:nvSpPr>
        <p:spPr>
          <a:xfrm>
            <a:off x="704850" y="1162050"/>
            <a:ext cx="4667250" cy="323850"/>
          </a:xfrm>
          <a:prstGeom prst="rect">
            <a:avLst/>
          </a:prstGeom>
          <a:noFill/>
          <a:ln w="0">
            <a:noFill/>
          </a:ln>
        </p:spPr>
        <p:txBody>
          <a:bodyPr lIns="38100" tIns="19050" rIns="38100" bIns="19050" anchor="ctr">
            <a:normAutofit/>
          </a:bodyPr>
          <a:lstStyle/>
          <a:p>
            <a:pPr algn="ctr">
              <a:lnSpc>
                <a:spcPct val="100000"/>
              </a:lnSpc>
              <a:buNone/>
              <a:defRPr sz="1425" b="1" i="0">
                <a:solidFill>
                  <a:srgbClr val="9BA6A0"/>
                </a:solidFill>
                <a:latin typeface="Segoe UI"/>
                <a:ea typeface="Segoe UI"/>
                <a:cs typeface="Segoe UI"/>
              </a:defRPr>
            </a:pPr>
            <a:r>
              <a:rPr sz="1425" b="1" i="0">
                <a:solidFill>
                  <a:srgbClr val="9BA6A0"/>
                </a:solidFill>
                <a:latin typeface="Segoe UI"/>
                <a:ea typeface="Segoe UI"/>
                <a:cs typeface="Segoe UI"/>
              </a:rPr>
              <a:t>MONITORING TRADITIONNEL</a:t>
            </a:r>
          </a:p>
        </p:txBody>
      </p:sp>
      <p:sp>
        <p:nvSpPr>
          <p:cNvPr id="4" name="Rectangle 3">
            <a:extLst>
              <a:ext uri="{FF2B5EF4-FFF2-40B4-BE49-F238E27FC236}">
                <a16:creationId xmlns:a16="http://schemas.microsoft.com/office/drawing/2014/main" id="{B5FBCE2D-C851-4271-A252-05FF6185493C}"/>
              </a:ext>
            </a:extLst>
          </p:cNvPr>
          <p:cNvSpPr>
            <a:spLocks noGrp="1"/>
          </p:cNvSpPr>
          <p:nvPr/>
        </p:nvSpPr>
        <p:spPr>
          <a:xfrm>
            <a:off x="6819900" y="1162050"/>
            <a:ext cx="4667250" cy="323850"/>
          </a:xfrm>
          <a:prstGeom prst="rect">
            <a:avLst/>
          </a:prstGeom>
          <a:noFill/>
          <a:ln w="0">
            <a:noFill/>
          </a:ln>
        </p:spPr>
        <p:txBody>
          <a:bodyPr lIns="38100" tIns="19050" rIns="38100" bIns="19050" anchor="ctr">
            <a:normAutofit/>
          </a:bodyPr>
          <a:lstStyle/>
          <a:p>
            <a:pPr algn="ctr">
              <a:lnSpc>
                <a:spcPct val="100000"/>
              </a:lnSpc>
              <a:buNone/>
              <a:defRPr sz="1425" b="1" i="0">
                <a:solidFill>
                  <a:srgbClr val="39FF88"/>
                </a:solidFill>
                <a:latin typeface="Segoe UI"/>
                <a:ea typeface="Segoe UI"/>
                <a:cs typeface="Segoe UI"/>
              </a:defRPr>
            </a:pPr>
            <a:r>
              <a:rPr sz="1425" b="1" i="0">
                <a:solidFill>
                  <a:srgbClr val="39FF88"/>
                </a:solidFill>
                <a:latin typeface="Segoe UI"/>
                <a:ea typeface="Segoe UI"/>
                <a:cs typeface="Segoe UI"/>
              </a:rPr>
              <a:t>INFRASENTINEL-AI</a:t>
            </a:r>
          </a:p>
        </p:txBody>
      </p:sp>
      <p:sp>
        <p:nvSpPr>
          <p:cNvPr id="5" name="Rectangle: Rounded Corners 4">
            <a:extLst>
              <a:ext uri="{FF2B5EF4-FFF2-40B4-BE49-F238E27FC236}">
                <a16:creationId xmlns:a16="http://schemas.microsoft.com/office/drawing/2014/main" id="{342B5A42-42C3-47F8-920E-30C8C17957EA}"/>
              </a:ext>
            </a:extLst>
          </p:cNvPr>
          <p:cNvSpPr>
            <a:spLocks noGrp="1"/>
          </p:cNvSpPr>
          <p:nvPr/>
        </p:nvSpPr>
        <p:spPr>
          <a:xfrm>
            <a:off x="1695450" y="1714500"/>
            <a:ext cx="2714625" cy="533400"/>
          </a:xfrm>
          <a:prstGeom prst="roundRect">
            <a:avLst>
              <a:gd name="adj" fmla="val 25000"/>
            </a:avLst>
          </a:prstGeom>
          <a:solidFill>
            <a:srgbClr val="0F1A16"/>
          </a:solidFill>
          <a:ln w="9525">
            <a:solidFill>
              <a:srgbClr val="244338"/>
            </a:solidFill>
            <a:prstDash val="solid"/>
          </a:ln>
        </p:spPr>
        <p:txBody>
          <a:bodyPr lIns="95250" tIns="76200" rIns="95250" bIns="76200" anchor="ctr">
            <a:normAutofit/>
          </a:bodyPr>
          <a:lstStyle/>
          <a:p>
            <a:pPr algn="ctr">
              <a:lnSpc>
                <a:spcPct val="100000"/>
              </a:lnSpc>
              <a:buNone/>
              <a:defRPr sz="1725" b="0">
                <a:solidFill>
                  <a:srgbClr val="F5F7F6"/>
                </a:solidFill>
                <a:latin typeface="Segoe UI"/>
                <a:ea typeface="Segoe UI"/>
                <a:cs typeface="Segoe UI"/>
              </a:defRPr>
            </a:pPr>
            <a:r>
              <a:rPr sz="1725" b="0">
                <a:solidFill>
                  <a:srgbClr val="F5F7F6"/>
                </a:solidFill>
                <a:latin typeface="Segoe UI"/>
                <a:ea typeface="Segoe UI"/>
                <a:cs typeface="Segoe UI"/>
              </a:rPr>
              <a:t>Métrique</a:t>
            </a:r>
          </a:p>
        </p:txBody>
      </p:sp>
      <p:sp>
        <p:nvSpPr>
          <p:cNvPr id="6" name="Rectangle: Rounded Corners 5">
            <a:extLst>
              <a:ext uri="{FF2B5EF4-FFF2-40B4-BE49-F238E27FC236}">
                <a16:creationId xmlns:a16="http://schemas.microsoft.com/office/drawing/2014/main" id="{F8B53FE7-0DFA-4200-954A-8A48322654FD}"/>
              </a:ext>
            </a:extLst>
          </p:cNvPr>
          <p:cNvSpPr>
            <a:spLocks noGrp="1"/>
          </p:cNvSpPr>
          <p:nvPr/>
        </p:nvSpPr>
        <p:spPr>
          <a:xfrm>
            <a:off x="1695450" y="2590800"/>
            <a:ext cx="2714625" cy="533400"/>
          </a:xfrm>
          <a:prstGeom prst="roundRect">
            <a:avLst>
              <a:gd name="adj" fmla="val 25000"/>
            </a:avLst>
          </a:prstGeom>
          <a:solidFill>
            <a:srgbClr val="0F1A16"/>
          </a:solidFill>
          <a:ln w="9525">
            <a:solidFill>
              <a:srgbClr val="244338"/>
            </a:solidFill>
            <a:prstDash val="solid"/>
          </a:ln>
        </p:spPr>
        <p:txBody>
          <a:bodyPr lIns="95250" tIns="76200" rIns="95250" bIns="76200" anchor="ctr">
            <a:normAutofit/>
          </a:bodyPr>
          <a:lstStyle/>
          <a:p>
            <a:pPr algn="ctr">
              <a:lnSpc>
                <a:spcPct val="100000"/>
              </a:lnSpc>
              <a:buNone/>
              <a:defRPr sz="1725" b="0">
                <a:solidFill>
                  <a:srgbClr val="F5F7F6"/>
                </a:solidFill>
                <a:latin typeface="Segoe UI"/>
                <a:ea typeface="Segoe UI"/>
                <a:cs typeface="Segoe UI"/>
              </a:defRPr>
            </a:pPr>
            <a:r>
              <a:rPr sz="1725" b="0">
                <a:solidFill>
                  <a:srgbClr val="F5F7F6"/>
                </a:solidFill>
                <a:latin typeface="Segoe UI"/>
                <a:ea typeface="Segoe UI"/>
                <a:cs typeface="Segoe UI"/>
              </a:rPr>
              <a:t>Seuil</a:t>
            </a:r>
          </a:p>
        </p:txBody>
      </p:sp>
      <p:sp>
        <p:nvSpPr>
          <p:cNvPr id="7" name="Rectangle: Rounded Corners 6">
            <a:extLst>
              <a:ext uri="{FF2B5EF4-FFF2-40B4-BE49-F238E27FC236}">
                <a16:creationId xmlns:a16="http://schemas.microsoft.com/office/drawing/2014/main" id="{12CDBC01-A908-4BA8-9AE2-FB1B3F0EC9FD}"/>
              </a:ext>
            </a:extLst>
          </p:cNvPr>
          <p:cNvSpPr>
            <a:spLocks noGrp="1"/>
          </p:cNvSpPr>
          <p:nvPr/>
        </p:nvSpPr>
        <p:spPr>
          <a:xfrm>
            <a:off x="1695450" y="3467100"/>
            <a:ext cx="2714625" cy="533400"/>
          </a:xfrm>
          <a:prstGeom prst="roundRect">
            <a:avLst>
              <a:gd name="adj" fmla="val 25000"/>
            </a:avLst>
          </a:prstGeom>
          <a:solidFill>
            <a:srgbClr val="0F1A16"/>
          </a:solidFill>
          <a:ln w="9525">
            <a:solidFill>
              <a:srgbClr val="244338"/>
            </a:solidFill>
            <a:prstDash val="solid"/>
          </a:ln>
        </p:spPr>
        <p:txBody>
          <a:bodyPr lIns="95250" tIns="76200" rIns="95250" bIns="76200" anchor="ctr">
            <a:normAutofit/>
          </a:bodyPr>
          <a:lstStyle/>
          <a:p>
            <a:pPr algn="ctr">
              <a:lnSpc>
                <a:spcPct val="100000"/>
              </a:lnSpc>
              <a:buNone/>
              <a:defRPr sz="1725" b="0">
                <a:solidFill>
                  <a:srgbClr val="F5F7F6"/>
                </a:solidFill>
                <a:latin typeface="Segoe UI"/>
                <a:ea typeface="Segoe UI"/>
                <a:cs typeface="Segoe UI"/>
              </a:defRPr>
            </a:pPr>
            <a:r>
              <a:rPr sz="1725" b="0">
                <a:solidFill>
                  <a:srgbClr val="F5F7F6"/>
                </a:solidFill>
                <a:latin typeface="Segoe UI"/>
                <a:ea typeface="Segoe UI"/>
                <a:cs typeface="Segoe UI"/>
              </a:rPr>
              <a:t>Problème</a:t>
            </a:r>
          </a:p>
        </p:txBody>
      </p:sp>
      <p:sp>
        <p:nvSpPr>
          <p:cNvPr id="8" name="Rectangle: Rounded Corners 7">
            <a:extLst>
              <a:ext uri="{FF2B5EF4-FFF2-40B4-BE49-F238E27FC236}">
                <a16:creationId xmlns:a16="http://schemas.microsoft.com/office/drawing/2014/main" id="{978FF038-6D49-4E07-A08B-BD304D54CED2}"/>
              </a:ext>
            </a:extLst>
          </p:cNvPr>
          <p:cNvSpPr>
            <a:spLocks noGrp="1"/>
          </p:cNvSpPr>
          <p:nvPr/>
        </p:nvSpPr>
        <p:spPr>
          <a:xfrm>
            <a:off x="1695450" y="4343400"/>
            <a:ext cx="2714625" cy="533400"/>
          </a:xfrm>
          <a:prstGeom prst="roundRect">
            <a:avLst>
              <a:gd name="adj" fmla="val 25000"/>
            </a:avLst>
          </a:prstGeom>
          <a:solidFill>
            <a:srgbClr val="29151A"/>
          </a:solidFill>
          <a:ln w="9525">
            <a:solidFill>
              <a:srgbClr val="FF5C7A"/>
            </a:solidFill>
            <a:prstDash val="solid"/>
          </a:ln>
        </p:spPr>
        <p:txBody>
          <a:bodyPr lIns="95250" tIns="76200" rIns="95250" bIns="76200" anchor="ctr">
            <a:normAutofit/>
          </a:bodyPr>
          <a:lstStyle/>
          <a:p>
            <a:pPr algn="ctr">
              <a:lnSpc>
                <a:spcPct val="100000"/>
              </a:lnSpc>
              <a:buNone/>
              <a:defRPr sz="1725" b="1">
                <a:solidFill>
                  <a:srgbClr val="FF5C7A"/>
                </a:solidFill>
                <a:latin typeface="Segoe UI"/>
                <a:ea typeface="Segoe UI"/>
                <a:cs typeface="Segoe UI"/>
              </a:defRPr>
            </a:pPr>
            <a:r>
              <a:rPr sz="1725" b="1">
                <a:solidFill>
                  <a:srgbClr val="FF5C7A"/>
                </a:solidFill>
                <a:latin typeface="Segoe UI"/>
                <a:ea typeface="Segoe UI"/>
                <a:cs typeface="Segoe UI"/>
              </a:rPr>
              <a:t>Alerte</a:t>
            </a:r>
          </a:p>
        </p:txBody>
      </p:sp>
      <p:sp>
        <p:nvSpPr>
          <p:cNvPr id="9" name="Rectangle: Rounded Corners 8">
            <a:extLst>
              <a:ext uri="{FF2B5EF4-FFF2-40B4-BE49-F238E27FC236}">
                <a16:creationId xmlns:a16="http://schemas.microsoft.com/office/drawing/2014/main" id="{D8287001-0D04-4B3A-8E46-AB489BA0E549}"/>
              </a:ext>
            </a:extLst>
          </p:cNvPr>
          <p:cNvSpPr>
            <a:spLocks noGrp="1"/>
          </p:cNvSpPr>
          <p:nvPr/>
        </p:nvSpPr>
        <p:spPr>
          <a:xfrm>
            <a:off x="7734300" y="1619250"/>
            <a:ext cx="2857500" cy="457200"/>
          </a:xfrm>
          <a:prstGeom prst="roundRect">
            <a:avLst>
              <a:gd name="adj" fmla="val 29167"/>
            </a:avLst>
          </a:prstGeom>
          <a:solidFill>
            <a:srgbClr val="10231C"/>
          </a:solidFill>
          <a:ln w="9525">
            <a:solidFill>
              <a:srgbClr val="244338"/>
            </a:solidFill>
            <a:prstDash val="solid"/>
          </a:ln>
        </p:spPr>
        <p:txBody>
          <a:bodyPr lIns="95250" tIns="76200" rIns="95250" bIns="76200" anchor="ctr">
            <a:normAutofit fontScale="99162"/>
          </a:bodyPr>
          <a:lstStyle/>
          <a:p>
            <a:pPr algn="ctr">
              <a:lnSpc>
                <a:spcPct val="100000"/>
              </a:lnSpc>
              <a:buNone/>
              <a:defRPr sz="1500" b="0">
                <a:solidFill>
                  <a:srgbClr val="F5F7F6"/>
                </a:solidFill>
                <a:latin typeface="Segoe UI"/>
                <a:ea typeface="Segoe UI"/>
                <a:cs typeface="Segoe UI"/>
              </a:defRPr>
            </a:pPr>
            <a:r>
              <a:rPr sz="1500" b="0">
                <a:solidFill>
                  <a:srgbClr val="F5F7F6"/>
                </a:solidFill>
                <a:latin typeface="Segoe UI"/>
                <a:ea typeface="Segoe UI"/>
                <a:cs typeface="Segoe UI"/>
              </a:rPr>
              <a:t>Métriques</a:t>
            </a:r>
          </a:p>
        </p:txBody>
      </p:sp>
      <p:sp>
        <p:nvSpPr>
          <p:cNvPr id="10" name="Rectangle: Rounded Corners 9">
            <a:extLst>
              <a:ext uri="{FF2B5EF4-FFF2-40B4-BE49-F238E27FC236}">
                <a16:creationId xmlns:a16="http://schemas.microsoft.com/office/drawing/2014/main" id="{EF2CC3D7-D7B2-41F8-9FF6-32DBE225555A}"/>
              </a:ext>
            </a:extLst>
          </p:cNvPr>
          <p:cNvSpPr>
            <a:spLocks noGrp="1"/>
          </p:cNvSpPr>
          <p:nvPr/>
        </p:nvSpPr>
        <p:spPr>
          <a:xfrm>
            <a:off x="7734300" y="2276475"/>
            <a:ext cx="2857500" cy="457200"/>
          </a:xfrm>
          <a:prstGeom prst="roundRect">
            <a:avLst>
              <a:gd name="adj" fmla="val 29167"/>
            </a:avLst>
          </a:prstGeom>
          <a:solidFill>
            <a:srgbClr val="10231C"/>
          </a:solidFill>
          <a:ln w="9525">
            <a:solidFill>
              <a:srgbClr val="244338"/>
            </a:solidFill>
            <a:prstDash val="solid"/>
          </a:ln>
        </p:spPr>
        <p:txBody>
          <a:bodyPr lIns="95250" tIns="76200" rIns="95250" bIns="76200" anchor="ctr">
            <a:normAutofit fontScale="99162"/>
          </a:bodyPr>
          <a:lstStyle/>
          <a:p>
            <a:pPr algn="ctr">
              <a:lnSpc>
                <a:spcPct val="100000"/>
              </a:lnSpc>
              <a:buNone/>
              <a:defRPr sz="1500" b="0">
                <a:solidFill>
                  <a:srgbClr val="F5F7F6"/>
                </a:solidFill>
                <a:latin typeface="Segoe UI"/>
                <a:ea typeface="Segoe UI"/>
                <a:cs typeface="Segoe UI"/>
              </a:defRPr>
            </a:pPr>
            <a:r>
              <a:rPr sz="1500" b="0">
                <a:solidFill>
                  <a:srgbClr val="F5F7F6"/>
                </a:solidFill>
                <a:latin typeface="Segoe UI"/>
                <a:ea typeface="Segoe UI"/>
                <a:cs typeface="Segoe UI"/>
              </a:rPr>
              <a:t>Comportement</a:t>
            </a:r>
          </a:p>
        </p:txBody>
      </p:sp>
      <p:sp>
        <p:nvSpPr>
          <p:cNvPr id="11" name="Rectangle: Rounded Corners 10">
            <a:extLst>
              <a:ext uri="{FF2B5EF4-FFF2-40B4-BE49-F238E27FC236}">
                <a16:creationId xmlns:a16="http://schemas.microsoft.com/office/drawing/2014/main" id="{4E8B0A69-C56E-4604-9C7D-7CD0416F477B}"/>
              </a:ext>
            </a:extLst>
          </p:cNvPr>
          <p:cNvSpPr>
            <a:spLocks noGrp="1"/>
          </p:cNvSpPr>
          <p:nvPr/>
        </p:nvSpPr>
        <p:spPr>
          <a:xfrm>
            <a:off x="7734300" y="2933700"/>
            <a:ext cx="2857500" cy="457200"/>
          </a:xfrm>
          <a:prstGeom prst="roundRect">
            <a:avLst>
              <a:gd name="adj" fmla="val 29167"/>
            </a:avLst>
          </a:prstGeom>
          <a:solidFill>
            <a:srgbClr val="10231C"/>
          </a:solidFill>
          <a:ln w="9525">
            <a:solidFill>
              <a:srgbClr val="244338"/>
            </a:solidFill>
            <a:prstDash val="solid"/>
          </a:ln>
        </p:spPr>
        <p:txBody>
          <a:bodyPr lIns="95250" tIns="76200" rIns="95250" bIns="76200" anchor="ctr">
            <a:normAutofit fontScale="99162"/>
          </a:bodyPr>
          <a:lstStyle/>
          <a:p>
            <a:pPr algn="ctr">
              <a:lnSpc>
                <a:spcPct val="100000"/>
              </a:lnSpc>
              <a:buNone/>
              <a:defRPr sz="1500" b="0">
                <a:solidFill>
                  <a:srgbClr val="F5F7F6"/>
                </a:solidFill>
                <a:latin typeface="Segoe UI"/>
                <a:ea typeface="Segoe UI"/>
                <a:cs typeface="Segoe UI"/>
              </a:defRPr>
            </a:pPr>
            <a:r>
              <a:rPr sz="1500" b="0">
                <a:solidFill>
                  <a:srgbClr val="F5F7F6"/>
                </a:solidFill>
                <a:latin typeface="Segoe UI"/>
                <a:ea typeface="Segoe UI"/>
                <a:cs typeface="Segoe UI"/>
              </a:rPr>
              <a:t>Anomalie</a:t>
            </a:r>
          </a:p>
        </p:txBody>
      </p:sp>
      <p:sp>
        <p:nvSpPr>
          <p:cNvPr id="12" name="Rectangle: Rounded Corners 11">
            <a:extLst>
              <a:ext uri="{FF2B5EF4-FFF2-40B4-BE49-F238E27FC236}">
                <a16:creationId xmlns:a16="http://schemas.microsoft.com/office/drawing/2014/main" id="{A0EE231F-64DF-42A9-9869-BFACDCE44E14}"/>
              </a:ext>
            </a:extLst>
          </p:cNvPr>
          <p:cNvSpPr>
            <a:spLocks noGrp="1"/>
          </p:cNvSpPr>
          <p:nvPr/>
        </p:nvSpPr>
        <p:spPr>
          <a:xfrm>
            <a:off x="7734300" y="3590925"/>
            <a:ext cx="2857500" cy="457200"/>
          </a:xfrm>
          <a:prstGeom prst="roundRect">
            <a:avLst>
              <a:gd name="adj" fmla="val 29167"/>
            </a:avLst>
          </a:prstGeom>
          <a:solidFill>
            <a:srgbClr val="10231C"/>
          </a:solidFill>
          <a:ln w="9525">
            <a:solidFill>
              <a:srgbClr val="244338"/>
            </a:solidFill>
            <a:prstDash val="solid"/>
          </a:ln>
        </p:spPr>
        <p:txBody>
          <a:bodyPr lIns="95250" tIns="76200" rIns="95250" bIns="76200" anchor="ctr">
            <a:normAutofit fontScale="99162"/>
          </a:bodyPr>
          <a:lstStyle/>
          <a:p>
            <a:pPr algn="ctr">
              <a:lnSpc>
                <a:spcPct val="100000"/>
              </a:lnSpc>
              <a:buNone/>
              <a:defRPr sz="1500" b="0">
                <a:solidFill>
                  <a:srgbClr val="F5F7F6"/>
                </a:solidFill>
                <a:latin typeface="Segoe UI"/>
                <a:ea typeface="Segoe UI"/>
                <a:cs typeface="Segoe UI"/>
              </a:defRPr>
            </a:pPr>
            <a:r>
              <a:rPr sz="1500" b="0">
                <a:solidFill>
                  <a:srgbClr val="F5F7F6"/>
                </a:solidFill>
                <a:latin typeface="Segoe UI"/>
                <a:ea typeface="Segoe UI"/>
                <a:cs typeface="Segoe UI"/>
              </a:rPr>
              <a:t>Tendance</a:t>
            </a:r>
          </a:p>
        </p:txBody>
      </p:sp>
      <p:sp>
        <p:nvSpPr>
          <p:cNvPr id="13" name="Rectangle: Rounded Corners 12">
            <a:extLst>
              <a:ext uri="{FF2B5EF4-FFF2-40B4-BE49-F238E27FC236}">
                <a16:creationId xmlns:a16="http://schemas.microsoft.com/office/drawing/2014/main" id="{6231FBC0-61C9-4AE6-B6FB-8A0AB58FCD5E}"/>
              </a:ext>
            </a:extLst>
          </p:cNvPr>
          <p:cNvSpPr>
            <a:spLocks noGrp="1"/>
          </p:cNvSpPr>
          <p:nvPr/>
        </p:nvSpPr>
        <p:spPr>
          <a:xfrm>
            <a:off x="7734300" y="4248150"/>
            <a:ext cx="2857500" cy="457200"/>
          </a:xfrm>
          <a:prstGeom prst="roundRect">
            <a:avLst>
              <a:gd name="adj" fmla="val 29167"/>
            </a:avLst>
          </a:prstGeom>
          <a:solidFill>
            <a:srgbClr val="10231C"/>
          </a:solidFill>
          <a:ln w="9525">
            <a:solidFill>
              <a:srgbClr val="244338"/>
            </a:solidFill>
            <a:prstDash val="solid"/>
          </a:ln>
        </p:spPr>
        <p:txBody>
          <a:bodyPr lIns="95250" tIns="76200" rIns="95250" bIns="76200" anchor="ctr">
            <a:normAutofit fontScale="99162"/>
          </a:bodyPr>
          <a:lstStyle/>
          <a:p>
            <a:pPr algn="ctr">
              <a:lnSpc>
                <a:spcPct val="100000"/>
              </a:lnSpc>
              <a:buNone/>
              <a:defRPr sz="1500" b="0">
                <a:solidFill>
                  <a:srgbClr val="F5F7F6"/>
                </a:solidFill>
                <a:latin typeface="Segoe UI"/>
                <a:ea typeface="Segoe UI"/>
                <a:cs typeface="Segoe UI"/>
              </a:defRPr>
            </a:pPr>
            <a:r>
              <a:rPr sz="1500" b="0">
                <a:solidFill>
                  <a:srgbClr val="F5F7F6"/>
                </a:solidFill>
                <a:latin typeface="Segoe UI"/>
                <a:ea typeface="Segoe UI"/>
                <a:cs typeface="Segoe UI"/>
              </a:rPr>
              <a:t>Risque</a:t>
            </a:r>
          </a:p>
        </p:txBody>
      </p:sp>
      <p:sp>
        <p:nvSpPr>
          <p:cNvPr id="14" name="Rectangle: Rounded Corners 13">
            <a:extLst>
              <a:ext uri="{FF2B5EF4-FFF2-40B4-BE49-F238E27FC236}">
                <a16:creationId xmlns:a16="http://schemas.microsoft.com/office/drawing/2014/main" id="{23044E37-D43F-4506-BC60-B54D9CB5A6C7}"/>
              </a:ext>
            </a:extLst>
          </p:cNvPr>
          <p:cNvSpPr>
            <a:spLocks noGrp="1"/>
          </p:cNvSpPr>
          <p:nvPr/>
        </p:nvSpPr>
        <p:spPr>
          <a:xfrm>
            <a:off x="7734300" y="4905375"/>
            <a:ext cx="2857500" cy="457200"/>
          </a:xfrm>
          <a:prstGeom prst="roundRect">
            <a:avLst>
              <a:gd name="adj" fmla="val 29167"/>
            </a:avLst>
          </a:prstGeom>
          <a:solidFill>
            <a:srgbClr val="0E2B1D"/>
          </a:solidFill>
          <a:ln w="9525">
            <a:solidFill>
              <a:srgbClr val="1ED760"/>
            </a:solidFill>
            <a:prstDash val="solid"/>
          </a:ln>
        </p:spPr>
        <p:txBody>
          <a:bodyPr lIns="95250" tIns="76200" rIns="95250" bIns="76200" anchor="ctr">
            <a:normAutofit fontScale="99162"/>
          </a:bodyPr>
          <a:lstStyle/>
          <a:p>
            <a:pPr algn="ctr">
              <a:lnSpc>
                <a:spcPct val="100000"/>
              </a:lnSpc>
              <a:buNone/>
              <a:defRPr sz="1500" b="1">
                <a:solidFill>
                  <a:srgbClr val="39FF88"/>
                </a:solidFill>
                <a:latin typeface="Segoe UI"/>
                <a:ea typeface="Segoe UI"/>
                <a:cs typeface="Segoe UI"/>
              </a:defRPr>
            </a:pPr>
            <a:r>
              <a:rPr sz="1500" b="1">
                <a:solidFill>
                  <a:srgbClr val="39FF88"/>
                </a:solidFill>
                <a:latin typeface="Segoe UI"/>
                <a:ea typeface="Segoe UI"/>
                <a:cs typeface="Segoe UI"/>
              </a:rPr>
              <a:t>Alerte proactive</a:t>
            </a:r>
          </a:p>
        </p:txBody>
      </p:sp>
      <p:cxnSp>
        <p:nvCxnSpPr>
          <p:cNvPr id="41" name="Straight Arrow Connector 40"/>
          <p:cNvCxnSpPr>
            <a:stCxn id="5" idx="2"/>
            <a:endCxn id="6" idx="0"/>
          </p:cNvCxnSpPr>
          <p:nvPr/>
        </p:nvCxnSpPr>
        <p:spPr>
          <a:xfrm>
            <a:off x="3052763" y="2247900"/>
            <a:ext cx="0" cy="342900"/>
          </a:xfrm>
          <a:prstGeom prst="straightConnector1">
            <a:avLst/>
          </a:prstGeom>
          <a:ln w="19050">
            <a:solidFill>
              <a:srgbClr val="9BA6A0"/>
            </a:solidFill>
            <a:prstDash val="solid"/>
            <a:tailEnd type="arrow" w="med" len="med"/>
          </a:ln>
        </p:spPr>
      </p:cxnSp>
      <p:cxnSp>
        <p:nvCxnSpPr>
          <p:cNvPr id="42" name="Straight Arrow Connector 41"/>
          <p:cNvCxnSpPr>
            <a:stCxn id="6" idx="2"/>
            <a:endCxn id="7" idx="0"/>
          </p:cNvCxnSpPr>
          <p:nvPr/>
        </p:nvCxnSpPr>
        <p:spPr>
          <a:xfrm>
            <a:off x="3052763" y="3124200"/>
            <a:ext cx="0" cy="342900"/>
          </a:xfrm>
          <a:prstGeom prst="straightConnector1">
            <a:avLst/>
          </a:prstGeom>
          <a:ln w="19050">
            <a:solidFill>
              <a:srgbClr val="9BA6A0"/>
            </a:solidFill>
            <a:prstDash val="solid"/>
            <a:tailEnd type="arrow" w="med" len="med"/>
          </a:ln>
        </p:spPr>
      </p:cxnSp>
      <p:cxnSp>
        <p:nvCxnSpPr>
          <p:cNvPr id="43" name="Straight Arrow Connector 42"/>
          <p:cNvCxnSpPr>
            <a:stCxn id="7" idx="2"/>
            <a:endCxn id="8" idx="0"/>
          </p:cNvCxnSpPr>
          <p:nvPr/>
        </p:nvCxnSpPr>
        <p:spPr>
          <a:xfrm>
            <a:off x="3052763" y="4000500"/>
            <a:ext cx="0" cy="342900"/>
          </a:xfrm>
          <a:prstGeom prst="straightConnector1">
            <a:avLst/>
          </a:prstGeom>
          <a:ln w="19050">
            <a:solidFill>
              <a:srgbClr val="9BA6A0"/>
            </a:solidFill>
            <a:prstDash val="solid"/>
            <a:tailEnd type="arrow" w="med" len="med"/>
          </a:ln>
        </p:spPr>
      </p:cxnSp>
      <p:cxnSp>
        <p:nvCxnSpPr>
          <p:cNvPr id="44" name="Straight Arrow Connector 43"/>
          <p:cNvCxnSpPr>
            <a:stCxn id="9" idx="2"/>
            <a:endCxn id="10" idx="0"/>
          </p:cNvCxnSpPr>
          <p:nvPr/>
        </p:nvCxnSpPr>
        <p:spPr>
          <a:xfrm>
            <a:off x="9163050" y="2076450"/>
            <a:ext cx="0" cy="200025"/>
          </a:xfrm>
          <a:prstGeom prst="straightConnector1">
            <a:avLst/>
          </a:prstGeom>
          <a:ln w="19050">
            <a:solidFill>
              <a:srgbClr val="1ED760"/>
            </a:solidFill>
            <a:prstDash val="solid"/>
            <a:tailEnd type="arrow" w="med" len="med"/>
          </a:ln>
        </p:spPr>
      </p:cxnSp>
      <p:cxnSp>
        <p:nvCxnSpPr>
          <p:cNvPr id="45" name="Straight Arrow Connector 44"/>
          <p:cNvCxnSpPr>
            <a:stCxn id="10" idx="2"/>
            <a:endCxn id="11" idx="0"/>
          </p:cNvCxnSpPr>
          <p:nvPr/>
        </p:nvCxnSpPr>
        <p:spPr>
          <a:xfrm>
            <a:off x="9163050" y="2733675"/>
            <a:ext cx="0" cy="200025"/>
          </a:xfrm>
          <a:prstGeom prst="straightConnector1">
            <a:avLst/>
          </a:prstGeom>
          <a:ln w="19050">
            <a:solidFill>
              <a:srgbClr val="1ED760"/>
            </a:solidFill>
            <a:prstDash val="solid"/>
            <a:tailEnd type="arrow" w="med" len="med"/>
          </a:ln>
        </p:spPr>
      </p:cxnSp>
      <p:cxnSp>
        <p:nvCxnSpPr>
          <p:cNvPr id="46" name="Straight Arrow Connector 45"/>
          <p:cNvCxnSpPr>
            <a:stCxn id="11" idx="2"/>
            <a:endCxn id="12" idx="0"/>
          </p:cNvCxnSpPr>
          <p:nvPr/>
        </p:nvCxnSpPr>
        <p:spPr>
          <a:xfrm>
            <a:off x="9163050" y="3390900"/>
            <a:ext cx="0" cy="200025"/>
          </a:xfrm>
          <a:prstGeom prst="straightConnector1">
            <a:avLst/>
          </a:prstGeom>
          <a:ln w="19050">
            <a:solidFill>
              <a:srgbClr val="1ED760"/>
            </a:solidFill>
            <a:prstDash val="solid"/>
            <a:tailEnd type="arrow" w="med" len="med"/>
          </a:ln>
        </p:spPr>
      </p:cxnSp>
      <p:cxnSp>
        <p:nvCxnSpPr>
          <p:cNvPr id="47" name="Straight Arrow Connector 46"/>
          <p:cNvCxnSpPr>
            <a:stCxn id="12" idx="2"/>
            <a:endCxn id="13" idx="0"/>
          </p:cNvCxnSpPr>
          <p:nvPr/>
        </p:nvCxnSpPr>
        <p:spPr>
          <a:xfrm>
            <a:off x="9163050" y="4048125"/>
            <a:ext cx="0" cy="200025"/>
          </a:xfrm>
          <a:prstGeom prst="straightConnector1">
            <a:avLst/>
          </a:prstGeom>
          <a:ln w="19050">
            <a:solidFill>
              <a:srgbClr val="1ED760"/>
            </a:solidFill>
            <a:prstDash val="solid"/>
            <a:tailEnd type="arrow" w="med" len="med"/>
          </a:ln>
        </p:spPr>
      </p:cxnSp>
      <p:cxnSp>
        <p:nvCxnSpPr>
          <p:cNvPr id="48" name="Straight Arrow Connector 47"/>
          <p:cNvCxnSpPr>
            <a:stCxn id="13" idx="2"/>
            <a:endCxn id="14" idx="0"/>
          </p:cNvCxnSpPr>
          <p:nvPr/>
        </p:nvCxnSpPr>
        <p:spPr>
          <a:xfrm>
            <a:off x="9163050" y="4705350"/>
            <a:ext cx="0" cy="200025"/>
          </a:xfrm>
          <a:prstGeom prst="straightConnector1">
            <a:avLst/>
          </a:prstGeom>
          <a:ln w="19050">
            <a:solidFill>
              <a:srgbClr val="1ED760"/>
            </a:solidFill>
            <a:prstDash val="solid"/>
            <a:tailEnd type="arrow" w="med" len="med"/>
          </a:ln>
        </p:spPr>
      </p:cxnSp>
      <p:sp>
        <p:nvSpPr>
          <p:cNvPr id="23" name="Straight Connector 22">
            <a:extLst>
              <a:ext uri="{FF2B5EF4-FFF2-40B4-BE49-F238E27FC236}">
                <a16:creationId xmlns:a16="http://schemas.microsoft.com/office/drawing/2014/main" id="{F6AA28FD-EB2B-44D8-A937-9542D7EA69D5}"/>
              </a:ext>
            </a:extLst>
          </p:cNvPr>
          <p:cNvSpPr>
            <a:spLocks noGrp="1"/>
          </p:cNvSpPr>
          <p:nvPr/>
        </p:nvSpPr>
        <p:spPr>
          <a:xfrm>
            <a:off x="6096000" y="1485900"/>
            <a:ext cx="0" cy="4286250"/>
          </a:xfrm>
          <a:prstGeom prst="line">
            <a:avLst/>
          </a:prstGeom>
          <a:noFill/>
          <a:ln w="19050">
            <a:solidFill>
              <a:srgbClr val="244338"/>
            </a:solidFill>
            <a:prstDash val="solid"/>
          </a:ln>
        </p:spPr>
      </p:sp>
      <p:sp>
        <p:nvSpPr>
          <p:cNvPr id="24" name="Straight Connector 23">
            <a:extLst>
              <a:ext uri="{FF2B5EF4-FFF2-40B4-BE49-F238E27FC236}">
                <a16:creationId xmlns:a16="http://schemas.microsoft.com/office/drawing/2014/main" id="{C4EC8EB0-AFA4-4BFB-A2CC-874C1FDC91C1}"/>
              </a:ext>
            </a:extLst>
          </p:cNvPr>
          <p:cNvSpPr>
            <a:spLocks noGrp="1"/>
          </p:cNvSpPr>
          <p:nvPr/>
        </p:nvSpPr>
        <p:spPr>
          <a:xfrm>
            <a:off x="609600" y="6429375"/>
            <a:ext cx="10972800" cy="0"/>
          </a:xfrm>
          <a:prstGeom prst="line">
            <a:avLst/>
          </a:prstGeom>
          <a:noFill/>
          <a:ln w="9525">
            <a:solidFill>
              <a:srgbClr val="1B3028"/>
            </a:solidFill>
            <a:prstDash val="solid"/>
          </a:ln>
        </p:spPr>
      </p:sp>
      <p:sp>
        <p:nvSpPr>
          <p:cNvPr id="25" name="Rectangle 24">
            <a:extLst>
              <a:ext uri="{FF2B5EF4-FFF2-40B4-BE49-F238E27FC236}">
                <a16:creationId xmlns:a16="http://schemas.microsoft.com/office/drawing/2014/main" id="{8BD6BAA0-3524-492B-B763-2F79C6B3E18E}"/>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6" name="Rectangle 25">
            <a:extLst>
              <a:ext uri="{FF2B5EF4-FFF2-40B4-BE49-F238E27FC236}">
                <a16:creationId xmlns:a16="http://schemas.microsoft.com/office/drawing/2014/main" id="{D33BA618-3E86-4802-B279-7E540826701B}"/>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05</a:t>
            </a:r>
          </a:p>
        </p:txBody>
      </p:sp>
    </p:spTree>
    <p:extLst>
      <p:ext uri="{BB962C8B-B14F-4D97-AF65-F5344CB8AC3E}">
        <p14:creationId xmlns:p14="http://schemas.microsoft.com/office/powerpoint/2010/main" val="898129052"/>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A17692D-464A-43BC-A70F-2914EC7F78FE}"/>
              </a:ext>
            </a:extLst>
          </p:cNvPr>
          <p:cNvSpPr>
            <a:spLocks noGrp="1"/>
          </p:cNvSpPr>
          <p:nvPr/>
        </p:nvSpPr>
        <p:spPr>
          <a:xfrm>
            <a:off x="0" y="0"/>
            <a:ext cx="12192000" cy="6858000"/>
          </a:xfrm>
          <a:prstGeom prst="rect">
            <a:avLst/>
          </a:prstGeom>
          <a:solidFill>
            <a:srgbClr val="050806">
              <a:alpha val="86000"/>
            </a:srgbClr>
          </a:solidFill>
          <a:ln w="0">
            <a:noFill/>
          </a:ln>
        </p:spPr>
      </p:sp>
      <p:sp>
        <p:nvSpPr>
          <p:cNvPr id="3" name="!!SolutionName1">
            <a:extLst>
              <a:ext uri="{FF2B5EF4-FFF2-40B4-BE49-F238E27FC236}">
                <a16:creationId xmlns:a16="http://schemas.microsoft.com/office/drawing/2014/main" id="{893A6B8F-BE15-4672-82C9-5EE5E4B7949C}"/>
              </a:ext>
            </a:extLst>
          </p:cNvPr>
          <p:cNvSpPr>
            <a:spLocks noGrp="1"/>
          </p:cNvSpPr>
          <p:nvPr/>
        </p:nvSpPr>
        <p:spPr>
          <a:xfrm>
            <a:off x="838200" y="1095375"/>
            <a:ext cx="5334000" cy="819150"/>
          </a:xfrm>
          <a:prstGeom prst="rect">
            <a:avLst/>
          </a:prstGeom>
          <a:noFill/>
          <a:ln w="0">
            <a:noFill/>
          </a:ln>
        </p:spPr>
        <p:txBody>
          <a:bodyPr lIns="38100" tIns="19050" rIns="38100" bIns="19050" anchor="ctr">
            <a:noAutofit/>
          </a:bodyPr>
          <a:lstStyle/>
          <a:p>
            <a:pPr algn="l">
              <a:lnSpc>
                <a:spcPct val="100000"/>
              </a:lnSpc>
              <a:buNone/>
              <a:defRPr sz="5550" b="1" i="0">
                <a:solidFill>
                  <a:srgbClr val="F5F7F6"/>
                </a:solidFill>
                <a:latin typeface="Segoe UI"/>
                <a:ea typeface="Segoe UI"/>
                <a:cs typeface="Segoe UI"/>
              </a:defRPr>
            </a:pPr>
            <a:r>
              <a:rPr sz="5550" b="1" i="0">
                <a:solidFill>
                  <a:srgbClr val="F5F7F6"/>
                </a:solidFill>
                <a:latin typeface="Segoe UI"/>
                <a:ea typeface="Segoe UI"/>
                <a:cs typeface="Segoe UI"/>
              </a:rPr>
              <a:t>INFRA</a:t>
            </a:r>
          </a:p>
        </p:txBody>
      </p:sp>
      <p:sp>
        <p:nvSpPr>
          <p:cNvPr id="4" name="!!SolutionName2">
            <a:extLst>
              <a:ext uri="{FF2B5EF4-FFF2-40B4-BE49-F238E27FC236}">
                <a16:creationId xmlns:a16="http://schemas.microsoft.com/office/drawing/2014/main" id="{D758F609-6963-4BE0-B78C-1B9460807F0C}"/>
              </a:ext>
            </a:extLst>
          </p:cNvPr>
          <p:cNvSpPr>
            <a:spLocks noGrp="1"/>
          </p:cNvSpPr>
          <p:nvPr/>
        </p:nvSpPr>
        <p:spPr>
          <a:xfrm>
            <a:off x="838200" y="1857375"/>
            <a:ext cx="6381750" cy="876300"/>
          </a:xfrm>
          <a:prstGeom prst="rect">
            <a:avLst/>
          </a:prstGeom>
          <a:noFill/>
          <a:ln w="0">
            <a:noFill/>
          </a:ln>
        </p:spPr>
        <p:txBody>
          <a:bodyPr lIns="38100" tIns="19050" rIns="38100" bIns="19050" anchor="ctr">
            <a:noAutofit/>
          </a:bodyPr>
          <a:lstStyle/>
          <a:p>
            <a:pPr algn="l">
              <a:lnSpc>
                <a:spcPct val="100000"/>
              </a:lnSpc>
              <a:buNone/>
              <a:defRPr sz="5850" b="1" i="0">
                <a:solidFill>
                  <a:srgbClr val="39FF88"/>
                </a:solidFill>
                <a:latin typeface="Segoe UI"/>
                <a:ea typeface="Segoe UI"/>
                <a:cs typeface="Segoe UI"/>
              </a:defRPr>
            </a:pPr>
            <a:r>
              <a:rPr sz="5850" b="1" i="0">
                <a:solidFill>
                  <a:srgbClr val="39FF88"/>
                </a:solidFill>
                <a:latin typeface="Segoe UI"/>
                <a:ea typeface="Segoe UI"/>
                <a:cs typeface="Segoe UI"/>
              </a:rPr>
              <a:t>SENTINEL</a:t>
            </a:r>
          </a:p>
        </p:txBody>
      </p:sp>
      <p:sp>
        <p:nvSpPr>
          <p:cNvPr id="5" name="!!SolutionName3">
            <a:extLst>
              <a:ext uri="{FF2B5EF4-FFF2-40B4-BE49-F238E27FC236}">
                <a16:creationId xmlns:a16="http://schemas.microsoft.com/office/drawing/2014/main" id="{F706D150-760F-449D-AFFF-F3DA5A5BE3D7}"/>
              </a:ext>
            </a:extLst>
          </p:cNvPr>
          <p:cNvSpPr>
            <a:spLocks noGrp="1"/>
          </p:cNvSpPr>
          <p:nvPr/>
        </p:nvSpPr>
        <p:spPr>
          <a:xfrm>
            <a:off x="838200" y="2667000"/>
            <a:ext cx="2476500" cy="952500"/>
          </a:xfrm>
          <a:prstGeom prst="rect">
            <a:avLst/>
          </a:prstGeom>
          <a:noFill/>
          <a:ln w="0">
            <a:noFill/>
          </a:ln>
        </p:spPr>
        <p:txBody>
          <a:bodyPr lIns="38100" tIns="19050" rIns="38100" bIns="19050" anchor="ctr">
            <a:noAutofit/>
          </a:bodyPr>
          <a:lstStyle/>
          <a:p>
            <a:pPr algn="l">
              <a:lnSpc>
                <a:spcPct val="100000"/>
              </a:lnSpc>
              <a:buNone/>
              <a:defRPr sz="6600" b="1" i="0">
                <a:solidFill>
                  <a:srgbClr val="F5F7F6"/>
                </a:solidFill>
                <a:latin typeface="Segoe UI"/>
                <a:ea typeface="Segoe UI"/>
                <a:cs typeface="Segoe UI"/>
              </a:defRPr>
            </a:pPr>
            <a:r>
              <a:rPr sz="6600" b="1" i="0">
                <a:solidFill>
                  <a:srgbClr val="F5F7F6"/>
                </a:solidFill>
                <a:latin typeface="Segoe UI"/>
                <a:ea typeface="Segoe UI"/>
                <a:cs typeface="Segoe UI"/>
              </a:rPr>
              <a:t>AI</a:t>
            </a:r>
          </a:p>
        </p:txBody>
      </p:sp>
      <p:sp>
        <p:nvSpPr>
          <p:cNvPr id="6" name="Straight Connector 5">
            <a:extLst>
              <a:ext uri="{FF2B5EF4-FFF2-40B4-BE49-F238E27FC236}">
                <a16:creationId xmlns:a16="http://schemas.microsoft.com/office/drawing/2014/main" id="{953B7A4D-7D1A-4072-96FA-14DC56CA8DE2}"/>
              </a:ext>
            </a:extLst>
          </p:cNvPr>
          <p:cNvSpPr>
            <a:spLocks noGrp="1"/>
          </p:cNvSpPr>
          <p:nvPr/>
        </p:nvSpPr>
        <p:spPr>
          <a:xfrm>
            <a:off x="876300" y="3848100"/>
            <a:ext cx="1714500" cy="0"/>
          </a:xfrm>
          <a:prstGeom prst="line">
            <a:avLst/>
          </a:prstGeom>
          <a:noFill/>
          <a:ln w="47625">
            <a:solidFill>
              <a:srgbClr val="1ED760"/>
            </a:solidFill>
            <a:prstDash val="solid"/>
          </a:ln>
        </p:spPr>
      </p:sp>
      <p:sp>
        <p:nvSpPr>
          <p:cNvPr id="7" name="Rectangle 6">
            <a:extLst>
              <a:ext uri="{FF2B5EF4-FFF2-40B4-BE49-F238E27FC236}">
                <a16:creationId xmlns:a16="http://schemas.microsoft.com/office/drawing/2014/main" id="{1C2AA2C1-FB04-432B-9BF0-B3B6EE1AEF76}"/>
              </a:ext>
            </a:extLst>
          </p:cNvPr>
          <p:cNvSpPr>
            <a:spLocks noGrp="1"/>
          </p:cNvSpPr>
          <p:nvPr/>
        </p:nvSpPr>
        <p:spPr>
          <a:xfrm>
            <a:off x="838200" y="4095750"/>
            <a:ext cx="6667500" cy="723900"/>
          </a:xfrm>
          <a:prstGeom prst="rect">
            <a:avLst/>
          </a:prstGeom>
          <a:noFill/>
          <a:ln w="0">
            <a:noFill/>
          </a:ln>
        </p:spPr>
        <p:txBody>
          <a:bodyPr lIns="38100" tIns="19050" rIns="38100" bIns="19050" anchor="ctr">
            <a:normAutofit/>
          </a:bodyPr>
          <a:lstStyle/>
          <a:p>
            <a:pPr algn="l">
              <a:lnSpc>
                <a:spcPct val="100000"/>
              </a:lnSpc>
              <a:buNone/>
              <a:defRPr sz="2175" b="0" i="0">
                <a:solidFill>
                  <a:srgbClr val="F5F7F6"/>
                </a:solidFill>
                <a:latin typeface="Segoe UI"/>
                <a:ea typeface="Segoe UI"/>
                <a:cs typeface="Segoe UI"/>
              </a:defRPr>
            </a:pPr>
            <a:r>
              <a:rPr sz="2175" b="0" i="0">
                <a:solidFill>
                  <a:srgbClr val="F5F7F6"/>
                </a:solidFill>
                <a:latin typeface="Segoe UI"/>
                <a:ea typeface="Segoe UI"/>
                <a:cs typeface="Segoe UI"/>
              </a:rPr>
              <a:t>Une plateforme centralisée qui relie collecte, analyse et décision opérationnelle</a:t>
            </a:r>
          </a:p>
        </p:txBody>
      </p:sp>
      <p:sp>
        <p:nvSpPr>
          <p:cNvPr id="8" name="Rectangle: Rounded Corners 7">
            <a:extLst>
              <a:ext uri="{FF2B5EF4-FFF2-40B4-BE49-F238E27FC236}">
                <a16:creationId xmlns:a16="http://schemas.microsoft.com/office/drawing/2014/main" id="{9FA5C84D-7B11-46A6-8B68-CC50DE49594D}"/>
              </a:ext>
            </a:extLst>
          </p:cNvPr>
          <p:cNvSpPr>
            <a:spLocks noGrp="1"/>
          </p:cNvSpPr>
          <p:nvPr/>
        </p:nvSpPr>
        <p:spPr>
          <a:xfrm>
            <a:off x="8191500" y="1752600"/>
            <a:ext cx="2476500" cy="438150"/>
          </a:xfrm>
          <a:prstGeom prst="roundRect">
            <a:avLst>
              <a:gd name="adj" fmla="val 36957"/>
            </a:avLst>
          </a:prstGeom>
          <a:solidFill>
            <a:srgbClr val="10231C"/>
          </a:solidFill>
          <a:ln w="9525">
            <a:solidFill>
              <a:srgbClr val="2A5747"/>
            </a:solidFill>
            <a:prstDash val="solid"/>
          </a:ln>
        </p:spPr>
        <p:txBody>
          <a:bodyPr lIns="76200" tIns="38100" rIns="76200" bIns="38100" anchor="ctr">
            <a:normAutofit/>
          </a:bodyPr>
          <a:lstStyle/>
          <a:p>
            <a:pPr algn="ctr">
              <a:lnSpc>
                <a:spcPct val="100000"/>
              </a:lnSpc>
              <a:buNone/>
              <a:defRPr sz="1425" b="1">
                <a:solidFill>
                  <a:srgbClr val="39FF88"/>
                </a:solidFill>
                <a:latin typeface="Segoe UI"/>
                <a:ea typeface="Segoe UI"/>
                <a:cs typeface="Segoe UI"/>
              </a:defRPr>
            </a:pPr>
            <a:r>
              <a:rPr sz="1425" b="1">
                <a:solidFill>
                  <a:srgbClr val="39FF88"/>
                </a:solidFill>
                <a:latin typeface="Segoe UI"/>
                <a:ea typeface="Segoe UI"/>
                <a:cs typeface="Segoe UI"/>
              </a:rPr>
              <a:t>MONITORING</a:t>
            </a:r>
          </a:p>
        </p:txBody>
      </p:sp>
      <p:sp>
        <p:nvSpPr>
          <p:cNvPr id="9" name="Rectangle: Rounded Corners 8">
            <a:extLst>
              <a:ext uri="{FF2B5EF4-FFF2-40B4-BE49-F238E27FC236}">
                <a16:creationId xmlns:a16="http://schemas.microsoft.com/office/drawing/2014/main" id="{B6632456-CDE6-4906-BFC7-6371D77C4F0C}"/>
              </a:ext>
            </a:extLst>
          </p:cNvPr>
          <p:cNvSpPr>
            <a:spLocks noGrp="1"/>
          </p:cNvSpPr>
          <p:nvPr/>
        </p:nvSpPr>
        <p:spPr>
          <a:xfrm>
            <a:off x="8191500" y="2476500"/>
            <a:ext cx="2476500" cy="438150"/>
          </a:xfrm>
          <a:prstGeom prst="roundRect">
            <a:avLst>
              <a:gd name="adj" fmla="val 36957"/>
            </a:avLst>
          </a:prstGeom>
          <a:solidFill>
            <a:srgbClr val="102127"/>
          </a:solidFill>
          <a:ln w="9525">
            <a:solidFill>
              <a:srgbClr val="37D7E8"/>
            </a:solidFill>
            <a:prstDash val="solid"/>
          </a:ln>
        </p:spPr>
        <p:txBody>
          <a:bodyPr lIns="76200" tIns="38100" rIns="76200" bIns="38100" anchor="ctr">
            <a:normAutofit/>
          </a:bodyPr>
          <a:lstStyle/>
          <a:p>
            <a:pPr algn="ctr">
              <a:lnSpc>
                <a:spcPct val="100000"/>
              </a:lnSpc>
              <a:buNone/>
              <a:defRPr sz="1425" b="1">
                <a:solidFill>
                  <a:srgbClr val="37D7E8"/>
                </a:solidFill>
                <a:latin typeface="Segoe UI"/>
                <a:ea typeface="Segoe UI"/>
                <a:cs typeface="Segoe UI"/>
              </a:defRPr>
            </a:pPr>
            <a:r>
              <a:rPr sz="1425" b="1">
                <a:solidFill>
                  <a:srgbClr val="37D7E8"/>
                </a:solidFill>
                <a:latin typeface="Segoe UI"/>
                <a:ea typeface="Segoe UI"/>
                <a:cs typeface="Segoe UI"/>
              </a:rPr>
              <a:t>MACHINE LEARNING</a:t>
            </a:r>
          </a:p>
        </p:txBody>
      </p:sp>
      <p:sp>
        <p:nvSpPr>
          <p:cNvPr id="10" name="Rectangle: Rounded Corners 9">
            <a:extLst>
              <a:ext uri="{FF2B5EF4-FFF2-40B4-BE49-F238E27FC236}">
                <a16:creationId xmlns:a16="http://schemas.microsoft.com/office/drawing/2014/main" id="{82C1B306-37D8-4F39-8225-7800BE343BB4}"/>
              </a:ext>
            </a:extLst>
          </p:cNvPr>
          <p:cNvSpPr>
            <a:spLocks noGrp="1"/>
          </p:cNvSpPr>
          <p:nvPr/>
        </p:nvSpPr>
        <p:spPr>
          <a:xfrm>
            <a:off x="8191500" y="3200400"/>
            <a:ext cx="2476500" cy="438150"/>
          </a:xfrm>
          <a:prstGeom prst="roundRect">
            <a:avLst>
              <a:gd name="adj" fmla="val 36957"/>
            </a:avLst>
          </a:prstGeom>
          <a:solidFill>
            <a:srgbClr val="10231C"/>
          </a:solidFill>
          <a:ln w="9525">
            <a:solidFill>
              <a:srgbClr val="2A5747"/>
            </a:solidFill>
            <a:prstDash val="solid"/>
          </a:ln>
        </p:spPr>
        <p:txBody>
          <a:bodyPr lIns="76200" tIns="38100" rIns="76200" bIns="38100" anchor="ctr">
            <a:normAutofit/>
          </a:bodyPr>
          <a:lstStyle/>
          <a:p>
            <a:pPr algn="ctr">
              <a:lnSpc>
                <a:spcPct val="100000"/>
              </a:lnSpc>
              <a:buNone/>
              <a:defRPr sz="1425" b="1">
                <a:solidFill>
                  <a:srgbClr val="39FF88"/>
                </a:solidFill>
                <a:latin typeface="Segoe UI"/>
                <a:ea typeface="Segoe UI"/>
                <a:cs typeface="Segoe UI"/>
              </a:defRPr>
            </a:pPr>
            <a:r>
              <a:rPr sz="1425" b="1">
                <a:solidFill>
                  <a:srgbClr val="39FF88"/>
                </a:solidFill>
                <a:latin typeface="Segoe UI"/>
                <a:ea typeface="Segoe UI"/>
                <a:cs typeface="Segoe UI"/>
              </a:rPr>
              <a:t>PRÉDICTION</a:t>
            </a:r>
          </a:p>
        </p:txBody>
      </p:sp>
      <p:sp>
        <p:nvSpPr>
          <p:cNvPr id="11" name="Rectangle 10">
            <a:extLst>
              <a:ext uri="{FF2B5EF4-FFF2-40B4-BE49-F238E27FC236}">
                <a16:creationId xmlns:a16="http://schemas.microsoft.com/office/drawing/2014/main" id="{78970679-29E3-4905-8F3D-401BDBA38190}"/>
              </a:ext>
            </a:extLst>
          </p:cNvPr>
          <p:cNvSpPr>
            <a:spLocks noGrp="1"/>
          </p:cNvSpPr>
          <p:nvPr/>
        </p:nvSpPr>
        <p:spPr>
          <a:xfrm>
            <a:off x="8210550" y="4000500"/>
            <a:ext cx="2857500" cy="381000"/>
          </a:xfrm>
          <a:prstGeom prst="rect">
            <a:avLst/>
          </a:prstGeom>
          <a:noFill/>
          <a:ln w="0">
            <a:noFill/>
          </a:ln>
        </p:spPr>
        <p:txBody>
          <a:bodyPr lIns="38100" tIns="19050" rIns="38100" bIns="19050" anchor="ctr">
            <a:normAutofit/>
          </a:bodyPr>
          <a:lstStyle/>
          <a:p>
            <a:pPr algn="ctr">
              <a:lnSpc>
                <a:spcPct val="100000"/>
              </a:lnSpc>
              <a:buNone/>
              <a:defRPr sz="1575" b="0" i="1">
                <a:solidFill>
                  <a:srgbClr val="9BA6A0"/>
                </a:solidFill>
                <a:latin typeface="Segoe UI"/>
                <a:ea typeface="Segoe UI"/>
                <a:cs typeface="Segoe UI"/>
              </a:defRPr>
            </a:pPr>
            <a:r>
              <a:rPr sz="1575" b="0" i="1">
                <a:solidFill>
                  <a:srgbClr val="9BA6A0"/>
                </a:solidFill>
                <a:latin typeface="Segoe UI"/>
                <a:ea typeface="Segoe UI"/>
                <a:cs typeface="Segoe UI"/>
              </a:rPr>
              <a:t>See. Understand. Anticipate.</a:t>
            </a:r>
          </a:p>
        </p:txBody>
      </p:sp>
      <p:sp>
        <p:nvSpPr>
          <p:cNvPr id="12" name="Straight Connector 11">
            <a:extLst>
              <a:ext uri="{FF2B5EF4-FFF2-40B4-BE49-F238E27FC236}">
                <a16:creationId xmlns:a16="http://schemas.microsoft.com/office/drawing/2014/main" id="{5533267F-F796-4D0D-90F8-58E7F75D87AF}"/>
              </a:ext>
            </a:extLst>
          </p:cNvPr>
          <p:cNvSpPr>
            <a:spLocks noGrp="1"/>
          </p:cNvSpPr>
          <p:nvPr/>
        </p:nvSpPr>
        <p:spPr>
          <a:xfrm>
            <a:off x="609600" y="6429375"/>
            <a:ext cx="10972800" cy="0"/>
          </a:xfrm>
          <a:prstGeom prst="line">
            <a:avLst/>
          </a:prstGeom>
          <a:noFill/>
          <a:ln w="9525">
            <a:solidFill>
              <a:srgbClr val="1B3028"/>
            </a:solidFill>
            <a:prstDash val="solid"/>
          </a:ln>
        </p:spPr>
      </p:sp>
      <p:sp>
        <p:nvSpPr>
          <p:cNvPr id="13" name="Rectangle 12">
            <a:extLst>
              <a:ext uri="{FF2B5EF4-FFF2-40B4-BE49-F238E27FC236}">
                <a16:creationId xmlns:a16="http://schemas.microsoft.com/office/drawing/2014/main" id="{7617C75A-947B-4014-9E79-40A201AFB530}"/>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4" name="Rectangle 13">
            <a:extLst>
              <a:ext uri="{FF2B5EF4-FFF2-40B4-BE49-F238E27FC236}">
                <a16:creationId xmlns:a16="http://schemas.microsoft.com/office/drawing/2014/main" id="{24DB0013-3195-4BCA-9D8E-D8B69303AEBF}"/>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06</a:t>
            </a:r>
          </a:p>
        </p:txBody>
      </p:sp>
    </p:spTree>
    <p:extLst>
      <p:ext uri="{BB962C8B-B14F-4D97-AF65-F5344CB8AC3E}">
        <p14:creationId xmlns:p14="http://schemas.microsoft.com/office/powerpoint/2010/main" val="728247940"/>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26" name="Straight Connector 25">
            <a:extLst>
              <a:ext uri="{FF2B5EF4-FFF2-40B4-BE49-F238E27FC236}">
                <a16:creationId xmlns:a16="http://schemas.microsoft.com/office/drawing/2014/main" id="{6AA294B4-3E53-40F3-9490-26AF221CEF5D}"/>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464A37CE-6F8F-4236-83D1-18B08C53EC31}"/>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Architecture globale</a:t>
            </a:r>
          </a:p>
        </p:txBody>
      </p:sp>
      <p:sp>
        <p:nvSpPr>
          <p:cNvPr id="3" name="!!WindowsAgent">
            <a:extLst>
              <a:ext uri="{FF2B5EF4-FFF2-40B4-BE49-F238E27FC236}">
                <a16:creationId xmlns:a16="http://schemas.microsoft.com/office/drawing/2014/main" id="{F1DBD249-3FCF-4C10-ABCC-B4F2C4167EE9}"/>
              </a:ext>
            </a:extLst>
          </p:cNvPr>
          <p:cNvSpPr>
            <a:spLocks noGrp="1"/>
          </p:cNvSpPr>
          <p:nvPr/>
        </p:nvSpPr>
        <p:spPr>
          <a:xfrm>
            <a:off x="628650" y="1485900"/>
            <a:ext cx="1809750" cy="647700"/>
          </a:xfrm>
          <a:prstGeom prst="roundRect">
            <a:avLst>
              <a:gd name="adj" fmla="val 20588"/>
            </a:avLst>
          </a:prstGeom>
          <a:solidFill>
            <a:srgbClr val="0F1A16"/>
          </a:solidFill>
          <a:ln w="9525">
            <a:solidFill>
              <a:srgbClr val="1ED760"/>
            </a:solidFill>
            <a:prstDash val="solid"/>
          </a:ln>
        </p:spPr>
        <p:txBody>
          <a:bodyPr lIns="95250" tIns="76200" rIns="95250" bIns="76200" anchor="ctr">
            <a:normAutofit fontScale="86903"/>
          </a:bodyPr>
          <a:lstStyle/>
          <a:p>
            <a:pPr algn="ctr">
              <a:lnSpc>
                <a:spcPct val="100000"/>
              </a:lnSpc>
              <a:buNone/>
              <a:defRPr sz="1575" b="1">
                <a:solidFill>
                  <a:srgbClr val="F5F7F6"/>
                </a:solidFill>
                <a:latin typeface="Segoe UI"/>
                <a:ea typeface="Segoe UI"/>
                <a:cs typeface="Segoe UI"/>
              </a:defRPr>
            </a:pPr>
            <a:r>
              <a:rPr sz="1575" b="1">
                <a:solidFill>
                  <a:srgbClr val="F5F7F6"/>
                </a:solidFill>
                <a:latin typeface="Segoe UI"/>
                <a:ea typeface="Segoe UI"/>
                <a:cs typeface="Segoe UI"/>
              </a:rPr>
              <a:t>WINDOWS</a:t>
            </a:r>
          </a:p>
          <a:p>
            <a:pPr algn="ctr">
              <a:lnSpc>
                <a:spcPct val="100000"/>
              </a:lnSpc>
              <a:buNone/>
              <a:defRPr sz="1575" b="1">
                <a:solidFill>
                  <a:srgbClr val="F5F7F6"/>
                </a:solidFill>
                <a:latin typeface="Segoe UI"/>
                <a:ea typeface="Segoe UI"/>
                <a:cs typeface="Segoe UI"/>
              </a:defRPr>
            </a:pPr>
            <a:r>
              <a:rPr sz="1575" b="1">
                <a:solidFill>
                  <a:srgbClr val="F5F7F6"/>
                </a:solidFill>
                <a:latin typeface="Segoe UI"/>
                <a:ea typeface="Segoe UI"/>
                <a:cs typeface="Segoe UI"/>
              </a:rPr>
              <a:t>AGENT</a:t>
            </a:r>
          </a:p>
        </p:txBody>
      </p:sp>
      <p:sp>
        <p:nvSpPr>
          <p:cNvPr id="4" name="!!VmwareConnector">
            <a:extLst>
              <a:ext uri="{FF2B5EF4-FFF2-40B4-BE49-F238E27FC236}">
                <a16:creationId xmlns:a16="http://schemas.microsoft.com/office/drawing/2014/main" id="{9594D412-DDA5-4A74-9F9E-ED80A0C0B47E}"/>
              </a:ext>
            </a:extLst>
          </p:cNvPr>
          <p:cNvSpPr>
            <a:spLocks noGrp="1"/>
          </p:cNvSpPr>
          <p:nvPr/>
        </p:nvSpPr>
        <p:spPr>
          <a:xfrm>
            <a:off x="628650" y="2552700"/>
            <a:ext cx="1809750" cy="647700"/>
          </a:xfrm>
          <a:prstGeom prst="roundRect">
            <a:avLst>
              <a:gd name="adj" fmla="val 20588"/>
            </a:avLst>
          </a:prstGeom>
          <a:solidFill>
            <a:srgbClr val="0F1A16"/>
          </a:solidFill>
          <a:ln w="9525">
            <a:solidFill>
              <a:srgbClr val="37D7E8"/>
            </a:solidFill>
            <a:prstDash val="solid"/>
          </a:ln>
        </p:spPr>
        <p:txBody>
          <a:bodyPr lIns="95250" tIns="76200" rIns="95250" bIns="76200" anchor="ctr">
            <a:normAutofit fontScale="91248"/>
          </a:bodyPr>
          <a:lstStyle/>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VMWARE</a:t>
            </a:r>
          </a:p>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CONNECTOR</a:t>
            </a:r>
          </a:p>
        </p:txBody>
      </p:sp>
      <p:sp>
        <p:nvSpPr>
          <p:cNvPr id="5" name="!!HyperVConnector">
            <a:extLst>
              <a:ext uri="{FF2B5EF4-FFF2-40B4-BE49-F238E27FC236}">
                <a16:creationId xmlns:a16="http://schemas.microsoft.com/office/drawing/2014/main" id="{CD20CC8A-FF50-4F9A-968A-3AD8FFC00993}"/>
              </a:ext>
            </a:extLst>
          </p:cNvPr>
          <p:cNvSpPr>
            <a:spLocks noGrp="1"/>
          </p:cNvSpPr>
          <p:nvPr/>
        </p:nvSpPr>
        <p:spPr>
          <a:xfrm>
            <a:off x="628650" y="3619500"/>
            <a:ext cx="1809750" cy="647700"/>
          </a:xfrm>
          <a:prstGeom prst="roundRect">
            <a:avLst>
              <a:gd name="adj" fmla="val 20588"/>
            </a:avLst>
          </a:prstGeom>
          <a:solidFill>
            <a:srgbClr val="0F1A16"/>
          </a:solidFill>
          <a:ln w="9525">
            <a:solidFill>
              <a:srgbClr val="37D7E8"/>
            </a:solidFill>
            <a:prstDash val="solid"/>
          </a:ln>
        </p:spPr>
        <p:txBody>
          <a:bodyPr lIns="95250" tIns="76200" rIns="95250" bIns="76200" anchor="ctr">
            <a:normAutofit fontScale="91248"/>
          </a:bodyPr>
          <a:lstStyle/>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HYPER-V</a:t>
            </a:r>
          </a:p>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CONNECTOR</a:t>
            </a:r>
          </a:p>
        </p:txBody>
      </p:sp>
      <p:sp>
        <p:nvSpPr>
          <p:cNvPr id="6" name="!!DjangoAPI">
            <a:extLst>
              <a:ext uri="{FF2B5EF4-FFF2-40B4-BE49-F238E27FC236}">
                <a16:creationId xmlns:a16="http://schemas.microsoft.com/office/drawing/2014/main" id="{A6590DFD-87E3-4DE7-B8C4-C8F6A4001C5F}"/>
              </a:ext>
            </a:extLst>
          </p:cNvPr>
          <p:cNvSpPr>
            <a:spLocks noGrp="1"/>
          </p:cNvSpPr>
          <p:nvPr/>
        </p:nvSpPr>
        <p:spPr>
          <a:xfrm>
            <a:off x="3476625" y="1943100"/>
            <a:ext cx="2095500" cy="685800"/>
          </a:xfrm>
          <a:prstGeom prst="roundRect">
            <a:avLst>
              <a:gd name="adj" fmla="val 19444"/>
            </a:avLst>
          </a:prstGeom>
          <a:solidFill>
            <a:srgbClr val="0F1A16"/>
          </a:solidFill>
          <a:ln w="9525">
            <a:solidFill>
              <a:srgbClr val="1ED760"/>
            </a:solidFill>
            <a:prstDash val="solid"/>
          </a:ln>
        </p:spPr>
        <p:txBody>
          <a:bodyPr lIns="95250" tIns="76200" rIns="95250" bIns="76200" anchor="ctr">
            <a:normAutofit fontScale="99582"/>
          </a:bodyPr>
          <a:lstStyle/>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DJANGO REST API</a:t>
            </a:r>
          </a:p>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CHANNELS / ASGI</a:t>
            </a:r>
          </a:p>
        </p:txBody>
      </p:sp>
      <p:sp>
        <p:nvSpPr>
          <p:cNvPr id="7" name="!!DataLayer">
            <a:extLst>
              <a:ext uri="{FF2B5EF4-FFF2-40B4-BE49-F238E27FC236}">
                <a16:creationId xmlns:a16="http://schemas.microsoft.com/office/drawing/2014/main" id="{ACD87554-0A65-4F87-AA1A-CE3BBCF6FBCF}"/>
              </a:ext>
            </a:extLst>
          </p:cNvPr>
          <p:cNvSpPr>
            <a:spLocks noGrp="1"/>
          </p:cNvSpPr>
          <p:nvPr/>
        </p:nvSpPr>
        <p:spPr>
          <a:xfrm>
            <a:off x="3476625" y="3352800"/>
            <a:ext cx="2095500" cy="685800"/>
          </a:xfrm>
          <a:prstGeom prst="roundRect">
            <a:avLst>
              <a:gd name="adj" fmla="val 19444"/>
            </a:avLst>
          </a:prstGeom>
          <a:solidFill>
            <a:srgbClr val="0F1A16"/>
          </a:solidFill>
          <a:ln w="9525">
            <a:solidFill>
              <a:srgbClr val="244338"/>
            </a:solidFill>
            <a:prstDash val="solid"/>
          </a:ln>
        </p:spPr>
        <p:txBody>
          <a:bodyPr lIns="95250" tIns="76200" rIns="95250" bIns="76200" anchor="ctr">
            <a:normAutofit fontScale="99582"/>
          </a:bodyPr>
          <a:lstStyle/>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POSTGRESQL</a:t>
            </a:r>
          </a:p>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REDIS / CELERY</a:t>
            </a:r>
          </a:p>
        </p:txBody>
      </p:sp>
      <p:sp>
        <p:nvSpPr>
          <p:cNvPr id="8" name="!!AnalysisEngine">
            <a:extLst>
              <a:ext uri="{FF2B5EF4-FFF2-40B4-BE49-F238E27FC236}">
                <a16:creationId xmlns:a16="http://schemas.microsoft.com/office/drawing/2014/main" id="{740A65D5-3F5F-444F-AD74-3593F1265979}"/>
              </a:ext>
            </a:extLst>
          </p:cNvPr>
          <p:cNvSpPr>
            <a:spLocks noGrp="1"/>
          </p:cNvSpPr>
          <p:nvPr/>
        </p:nvSpPr>
        <p:spPr>
          <a:xfrm>
            <a:off x="6572250" y="1943100"/>
            <a:ext cx="2095500" cy="685800"/>
          </a:xfrm>
          <a:prstGeom prst="roundRect">
            <a:avLst>
              <a:gd name="adj" fmla="val 19444"/>
            </a:avLst>
          </a:prstGeom>
          <a:solidFill>
            <a:srgbClr val="0F1A16"/>
          </a:solidFill>
          <a:ln w="9525">
            <a:solidFill>
              <a:srgbClr val="39FF88"/>
            </a:solidFill>
            <a:prstDash val="solid"/>
          </a:ln>
        </p:spPr>
        <p:txBody>
          <a:bodyPr lIns="95250" tIns="76200" rIns="95250" bIns="76200" anchor="ctr">
            <a:normAutofit fontScale="99582"/>
          </a:bodyPr>
          <a:lstStyle/>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RULES ENGINE</a:t>
            </a:r>
          </a:p>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ML ENGINE</a:t>
            </a:r>
          </a:p>
        </p:txBody>
      </p:sp>
      <p:sp>
        <p:nvSpPr>
          <p:cNvPr id="9" name="!!Realtime">
            <a:extLst>
              <a:ext uri="{FF2B5EF4-FFF2-40B4-BE49-F238E27FC236}">
                <a16:creationId xmlns:a16="http://schemas.microsoft.com/office/drawing/2014/main" id="{748DD8F1-CE9C-48A1-87DB-D5EBDC696C24}"/>
              </a:ext>
            </a:extLst>
          </p:cNvPr>
          <p:cNvSpPr>
            <a:spLocks noGrp="1"/>
          </p:cNvSpPr>
          <p:nvPr/>
        </p:nvSpPr>
        <p:spPr>
          <a:xfrm>
            <a:off x="6572250" y="3352800"/>
            <a:ext cx="2095500" cy="685800"/>
          </a:xfrm>
          <a:prstGeom prst="roundRect">
            <a:avLst>
              <a:gd name="adj" fmla="val 19444"/>
            </a:avLst>
          </a:prstGeom>
          <a:solidFill>
            <a:srgbClr val="0F1A16"/>
          </a:solidFill>
          <a:ln w="9525">
            <a:solidFill>
              <a:srgbClr val="37D7E8"/>
            </a:solidFill>
            <a:prstDash val="solid"/>
          </a:ln>
        </p:spPr>
        <p:txBody>
          <a:bodyPr lIns="95250" tIns="76200" rIns="95250" bIns="76200" anchor="ctr">
            <a:normAutofit fontScale="99582"/>
          </a:bodyPr>
          <a:lstStyle/>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WEBSOCKET</a:t>
            </a:r>
          </a:p>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NOTIFICATIONS</a:t>
            </a:r>
          </a:p>
        </p:txBody>
      </p:sp>
      <p:sp>
        <p:nvSpPr>
          <p:cNvPr id="10" name="!!Dashboard">
            <a:extLst>
              <a:ext uri="{FF2B5EF4-FFF2-40B4-BE49-F238E27FC236}">
                <a16:creationId xmlns:a16="http://schemas.microsoft.com/office/drawing/2014/main" id="{99311B64-2272-49A4-9967-04B493756B8F}"/>
              </a:ext>
            </a:extLst>
          </p:cNvPr>
          <p:cNvSpPr>
            <a:spLocks noGrp="1"/>
          </p:cNvSpPr>
          <p:nvPr/>
        </p:nvSpPr>
        <p:spPr>
          <a:xfrm>
            <a:off x="9715500" y="2524125"/>
            <a:ext cx="1857375" cy="876300"/>
          </a:xfrm>
          <a:prstGeom prst="roundRect">
            <a:avLst>
              <a:gd name="adj" fmla="val 15217"/>
            </a:avLst>
          </a:prstGeom>
          <a:solidFill>
            <a:srgbClr val="0E2B1D"/>
          </a:solidFill>
          <a:ln w="9525">
            <a:solidFill>
              <a:srgbClr val="1ED760"/>
            </a:solidFill>
            <a:prstDash val="solid"/>
          </a:ln>
        </p:spPr>
        <p:txBody>
          <a:bodyPr lIns="95250" tIns="76200" rIns="95250" bIns="76200" anchor="ctr">
            <a:normAutofit/>
          </a:bodyPr>
          <a:lstStyle/>
          <a:p>
            <a:pPr algn="ctr">
              <a:lnSpc>
                <a:spcPct val="100000"/>
              </a:lnSpc>
              <a:buNone/>
              <a:defRPr sz="1725" b="1">
                <a:solidFill>
                  <a:srgbClr val="39FF88"/>
                </a:solidFill>
                <a:latin typeface="Segoe UI"/>
                <a:ea typeface="Segoe UI"/>
                <a:cs typeface="Segoe UI"/>
              </a:defRPr>
            </a:pPr>
            <a:r>
              <a:rPr sz="1725" b="1">
                <a:solidFill>
                  <a:srgbClr val="39FF88"/>
                </a:solidFill>
                <a:latin typeface="Segoe UI"/>
                <a:ea typeface="Segoe UI"/>
                <a:cs typeface="Segoe UI"/>
              </a:rPr>
              <a:t>REACT</a:t>
            </a:r>
          </a:p>
          <a:p>
            <a:pPr algn="ctr">
              <a:lnSpc>
                <a:spcPct val="100000"/>
              </a:lnSpc>
              <a:buNone/>
              <a:defRPr sz="1725" b="1">
                <a:solidFill>
                  <a:srgbClr val="39FF88"/>
                </a:solidFill>
                <a:latin typeface="Segoe UI"/>
                <a:ea typeface="Segoe UI"/>
                <a:cs typeface="Segoe UI"/>
              </a:defRPr>
            </a:pPr>
            <a:r>
              <a:rPr sz="1725" b="1">
                <a:solidFill>
                  <a:srgbClr val="39FF88"/>
                </a:solidFill>
                <a:latin typeface="Segoe UI"/>
                <a:ea typeface="Segoe UI"/>
                <a:cs typeface="Segoe UI"/>
              </a:rPr>
              <a:t>DASHBOARD</a:t>
            </a:r>
          </a:p>
        </p:txBody>
      </p:sp>
      <p:cxnSp>
        <p:nvCxnSpPr>
          <p:cNvPr id="36" name="Connector: Elbow 35"/>
          <p:cNvCxnSpPr>
            <a:stCxn id="3" idx="3"/>
            <a:endCxn id="6" idx="1"/>
          </p:cNvCxnSpPr>
          <p:nvPr/>
        </p:nvCxnSpPr>
        <p:spPr>
          <a:xfrm>
            <a:off x="2438400" y="1809750"/>
            <a:ext cx="1038225" cy="476250"/>
          </a:xfrm>
          <a:prstGeom prst="bentConnector3">
            <a:avLst>
              <a:gd name="adj1" fmla="val 50000"/>
            </a:avLst>
          </a:prstGeom>
          <a:ln w="19050">
            <a:solidFill>
              <a:srgbClr val="1ED760"/>
            </a:solidFill>
            <a:prstDash val="solid"/>
            <a:tailEnd type="arrow" w="med" len="med"/>
          </a:ln>
        </p:spPr>
      </p:cxnSp>
      <p:cxnSp>
        <p:nvCxnSpPr>
          <p:cNvPr id="37" name="Connector: Elbow 36"/>
          <p:cNvCxnSpPr>
            <a:stCxn id="4" idx="3"/>
            <a:endCxn id="6" idx="1"/>
          </p:cNvCxnSpPr>
          <p:nvPr/>
        </p:nvCxnSpPr>
        <p:spPr>
          <a:xfrm flipV="1">
            <a:off x="2438400" y="2286000"/>
            <a:ext cx="1038225" cy="590550"/>
          </a:xfrm>
          <a:prstGeom prst="bentConnector3">
            <a:avLst>
              <a:gd name="adj1" fmla="val 50000"/>
            </a:avLst>
          </a:prstGeom>
          <a:ln w="19050">
            <a:solidFill>
              <a:srgbClr val="1ED760"/>
            </a:solidFill>
            <a:prstDash val="solid"/>
            <a:tailEnd type="arrow" w="med" len="med"/>
          </a:ln>
        </p:spPr>
      </p:cxnSp>
      <p:cxnSp>
        <p:nvCxnSpPr>
          <p:cNvPr id="38" name="Connector: Elbow 37"/>
          <p:cNvCxnSpPr>
            <a:stCxn id="5" idx="3"/>
            <a:endCxn id="6" idx="1"/>
          </p:cNvCxnSpPr>
          <p:nvPr/>
        </p:nvCxnSpPr>
        <p:spPr>
          <a:xfrm flipV="1">
            <a:off x="2438400" y="2286000"/>
            <a:ext cx="1038225" cy="1657350"/>
          </a:xfrm>
          <a:prstGeom prst="bentConnector3">
            <a:avLst>
              <a:gd name="adj1" fmla="val 50000"/>
            </a:avLst>
          </a:prstGeom>
          <a:ln w="19050">
            <a:solidFill>
              <a:srgbClr val="1ED760"/>
            </a:solidFill>
            <a:prstDash val="solid"/>
            <a:tailEnd type="arrow" w="med" len="med"/>
          </a:ln>
        </p:spPr>
      </p:cxnSp>
      <p:cxnSp>
        <p:nvCxnSpPr>
          <p:cNvPr id="39" name="Straight Arrow Connector 38"/>
          <p:cNvCxnSpPr>
            <a:stCxn id="6" idx="2"/>
            <a:endCxn id="7" idx="0"/>
          </p:cNvCxnSpPr>
          <p:nvPr/>
        </p:nvCxnSpPr>
        <p:spPr>
          <a:xfrm>
            <a:off x="4524375" y="2628900"/>
            <a:ext cx="0" cy="723900"/>
          </a:xfrm>
          <a:prstGeom prst="straightConnector1">
            <a:avLst/>
          </a:prstGeom>
          <a:ln w="19050">
            <a:solidFill>
              <a:srgbClr val="9BA6A0"/>
            </a:solidFill>
            <a:prstDash val="solid"/>
            <a:tailEnd type="arrow" w="med" len="med"/>
          </a:ln>
        </p:spPr>
      </p:cxnSp>
      <p:cxnSp>
        <p:nvCxnSpPr>
          <p:cNvPr id="40" name="Connector: Elbow 39"/>
          <p:cNvCxnSpPr>
            <a:stCxn id="7" idx="3"/>
            <a:endCxn id="8" idx="1"/>
          </p:cNvCxnSpPr>
          <p:nvPr/>
        </p:nvCxnSpPr>
        <p:spPr>
          <a:xfrm flipV="1">
            <a:off x="5572125" y="2286000"/>
            <a:ext cx="1000125" cy="1409700"/>
          </a:xfrm>
          <a:prstGeom prst="bentConnector3">
            <a:avLst>
              <a:gd name="adj1" fmla="val 50000"/>
            </a:avLst>
          </a:prstGeom>
          <a:ln w="19050">
            <a:solidFill>
              <a:srgbClr val="1ED760"/>
            </a:solidFill>
            <a:prstDash val="solid"/>
            <a:tailEnd type="arrow" w="med" len="med"/>
          </a:ln>
        </p:spPr>
      </p:cxnSp>
      <p:cxnSp>
        <p:nvCxnSpPr>
          <p:cNvPr id="41" name="Straight Arrow Connector 40"/>
          <p:cNvCxnSpPr>
            <a:stCxn id="8" idx="2"/>
            <a:endCxn id="9" idx="0"/>
          </p:cNvCxnSpPr>
          <p:nvPr/>
        </p:nvCxnSpPr>
        <p:spPr>
          <a:xfrm>
            <a:off x="7620000" y="2628900"/>
            <a:ext cx="0" cy="723900"/>
          </a:xfrm>
          <a:prstGeom prst="straightConnector1">
            <a:avLst/>
          </a:prstGeom>
          <a:ln w="19050">
            <a:solidFill>
              <a:srgbClr val="37D7E8"/>
            </a:solidFill>
            <a:prstDash val="solid"/>
            <a:tailEnd type="arrow" w="med" len="med"/>
          </a:ln>
        </p:spPr>
      </p:cxnSp>
      <p:cxnSp>
        <p:nvCxnSpPr>
          <p:cNvPr id="42" name="Connector: Elbow 41"/>
          <p:cNvCxnSpPr>
            <a:stCxn id="9" idx="3"/>
            <a:endCxn id="10" idx="1"/>
          </p:cNvCxnSpPr>
          <p:nvPr/>
        </p:nvCxnSpPr>
        <p:spPr>
          <a:xfrm flipV="1">
            <a:off x="8667750" y="2962275"/>
            <a:ext cx="1047750" cy="733425"/>
          </a:xfrm>
          <a:prstGeom prst="bentConnector3">
            <a:avLst>
              <a:gd name="adj1" fmla="val 50000"/>
            </a:avLst>
          </a:prstGeom>
          <a:ln w="19050">
            <a:solidFill>
              <a:srgbClr val="1ED760"/>
            </a:solidFill>
            <a:prstDash val="solid"/>
            <a:tailEnd type="arrow" w="med" len="med"/>
          </a:ln>
        </p:spPr>
      </p:cxnSp>
      <p:sp>
        <p:nvSpPr>
          <p:cNvPr id="18" name="Rectangle 17">
            <a:extLst>
              <a:ext uri="{FF2B5EF4-FFF2-40B4-BE49-F238E27FC236}">
                <a16:creationId xmlns:a16="http://schemas.microsoft.com/office/drawing/2014/main" id="{DE86777F-7D9D-4EA3-9945-3598FE21059F}"/>
              </a:ext>
            </a:extLst>
          </p:cNvPr>
          <p:cNvSpPr>
            <a:spLocks noGrp="1"/>
          </p:cNvSpPr>
          <p:nvPr/>
        </p:nvSpPr>
        <p:spPr>
          <a:xfrm>
            <a:off x="9715500" y="3524250"/>
            <a:ext cx="1857375" cy="247650"/>
          </a:xfrm>
          <a:prstGeom prst="rect">
            <a:avLst/>
          </a:prstGeom>
          <a:noFill/>
          <a:ln w="0">
            <a:noFill/>
          </a:ln>
        </p:spPr>
        <p:txBody>
          <a:bodyPr lIns="38100" tIns="19050" rIns="38100" bIns="19050" anchor="ctr">
            <a:normAutofit/>
          </a:bodyPr>
          <a:lstStyle/>
          <a:p>
            <a:pPr algn="ctr">
              <a:lnSpc>
                <a:spcPct val="100000"/>
              </a:lnSpc>
              <a:buNone/>
              <a:defRPr sz="1125" b="0" i="0">
                <a:solidFill>
                  <a:srgbClr val="9BA6A0"/>
                </a:solidFill>
                <a:latin typeface="Segoe UI"/>
                <a:ea typeface="Segoe UI"/>
                <a:cs typeface="Segoe UI"/>
              </a:defRPr>
            </a:pPr>
            <a:r>
              <a:rPr sz="1125" b="0" i="0">
                <a:solidFill>
                  <a:srgbClr val="9BA6A0"/>
                </a:solidFill>
                <a:latin typeface="Segoe UI"/>
                <a:ea typeface="Segoe UI"/>
                <a:cs typeface="Segoe UI"/>
              </a:rPr>
              <a:t>REST + événements</a:t>
            </a:r>
          </a:p>
        </p:txBody>
      </p:sp>
      <p:sp>
        <p:nvSpPr>
          <p:cNvPr id="19" name="Rectangle 18">
            <a:extLst>
              <a:ext uri="{FF2B5EF4-FFF2-40B4-BE49-F238E27FC236}">
                <a16:creationId xmlns:a16="http://schemas.microsoft.com/office/drawing/2014/main" id="{EF1ED52E-ED4F-41C3-8259-4433BCA5AB69}"/>
              </a:ext>
            </a:extLst>
          </p:cNvPr>
          <p:cNvSpPr>
            <a:spLocks noGrp="1"/>
          </p:cNvSpPr>
          <p:nvPr/>
        </p:nvSpPr>
        <p:spPr>
          <a:xfrm>
            <a:off x="781050" y="4724400"/>
            <a:ext cx="1524000" cy="285750"/>
          </a:xfrm>
          <a:prstGeom prst="rect">
            <a:avLst/>
          </a:prstGeom>
          <a:noFill/>
          <a:ln w="0">
            <a:noFill/>
          </a:ln>
        </p:spPr>
        <p:txBody>
          <a:bodyPr lIns="38100" tIns="19050" rIns="38100" bIns="19050" anchor="ctr">
            <a:normAutofit/>
          </a:bodyPr>
          <a:lstStyle/>
          <a:p>
            <a:pPr algn="ctr">
              <a:lnSpc>
                <a:spcPct val="100000"/>
              </a:lnSpc>
              <a:buNone/>
              <a:defRPr sz="1275" b="0" i="0">
                <a:solidFill>
                  <a:srgbClr val="9BA6A0"/>
                </a:solidFill>
                <a:latin typeface="Segoe UI"/>
                <a:ea typeface="Segoe UI"/>
                <a:cs typeface="Segoe UI"/>
              </a:defRPr>
            </a:pPr>
            <a:r>
              <a:rPr sz="1275" b="0" i="0">
                <a:solidFill>
                  <a:srgbClr val="9BA6A0"/>
                </a:solidFill>
                <a:latin typeface="Segoe UI"/>
                <a:ea typeface="Segoe UI"/>
                <a:cs typeface="Segoe UI"/>
              </a:rPr>
              <a:t>Collecte</a:t>
            </a:r>
          </a:p>
        </p:txBody>
      </p:sp>
      <p:sp>
        <p:nvSpPr>
          <p:cNvPr id="20" name="Rectangle 19">
            <a:extLst>
              <a:ext uri="{FF2B5EF4-FFF2-40B4-BE49-F238E27FC236}">
                <a16:creationId xmlns:a16="http://schemas.microsoft.com/office/drawing/2014/main" id="{91D96F1C-711A-4D34-A734-1E26FEC2966E}"/>
              </a:ext>
            </a:extLst>
          </p:cNvPr>
          <p:cNvSpPr>
            <a:spLocks noGrp="1"/>
          </p:cNvSpPr>
          <p:nvPr/>
        </p:nvSpPr>
        <p:spPr>
          <a:xfrm>
            <a:off x="3352800" y="4724400"/>
            <a:ext cx="2381250" cy="285750"/>
          </a:xfrm>
          <a:prstGeom prst="rect">
            <a:avLst/>
          </a:prstGeom>
          <a:noFill/>
          <a:ln w="0">
            <a:noFill/>
          </a:ln>
        </p:spPr>
        <p:txBody>
          <a:bodyPr lIns="38100" tIns="19050" rIns="38100" bIns="19050" anchor="ctr">
            <a:normAutofit/>
          </a:bodyPr>
          <a:lstStyle/>
          <a:p>
            <a:pPr algn="ctr">
              <a:lnSpc>
                <a:spcPct val="100000"/>
              </a:lnSpc>
              <a:buNone/>
              <a:defRPr sz="1275" b="0" i="0">
                <a:solidFill>
                  <a:srgbClr val="9BA6A0"/>
                </a:solidFill>
                <a:latin typeface="Segoe UI"/>
                <a:ea typeface="Segoe UI"/>
                <a:cs typeface="Segoe UI"/>
              </a:defRPr>
            </a:pPr>
            <a:r>
              <a:rPr sz="1275" b="0" i="0">
                <a:solidFill>
                  <a:srgbClr val="9BA6A0"/>
                </a:solidFill>
                <a:latin typeface="Segoe UI"/>
                <a:ea typeface="Segoe UI"/>
                <a:cs typeface="Segoe UI"/>
              </a:rPr>
              <a:t>Persistance et orchestration</a:t>
            </a:r>
          </a:p>
        </p:txBody>
      </p:sp>
      <p:sp>
        <p:nvSpPr>
          <p:cNvPr id="21" name="Rectangle 20">
            <a:extLst>
              <a:ext uri="{FF2B5EF4-FFF2-40B4-BE49-F238E27FC236}">
                <a16:creationId xmlns:a16="http://schemas.microsoft.com/office/drawing/2014/main" id="{92581C2B-DD54-4C28-BEDF-E88D71C63D48}"/>
              </a:ext>
            </a:extLst>
          </p:cNvPr>
          <p:cNvSpPr>
            <a:spLocks noGrp="1"/>
          </p:cNvSpPr>
          <p:nvPr/>
        </p:nvSpPr>
        <p:spPr>
          <a:xfrm>
            <a:off x="6457950" y="4724400"/>
            <a:ext cx="2381250" cy="285750"/>
          </a:xfrm>
          <a:prstGeom prst="rect">
            <a:avLst/>
          </a:prstGeom>
          <a:noFill/>
          <a:ln w="0">
            <a:noFill/>
          </a:ln>
        </p:spPr>
        <p:txBody>
          <a:bodyPr lIns="38100" tIns="19050" rIns="38100" bIns="19050" anchor="ctr">
            <a:normAutofit/>
          </a:bodyPr>
          <a:lstStyle/>
          <a:p>
            <a:pPr algn="ctr">
              <a:lnSpc>
                <a:spcPct val="100000"/>
              </a:lnSpc>
              <a:buNone/>
              <a:defRPr sz="1275" b="0" i="0">
                <a:solidFill>
                  <a:srgbClr val="9BA6A0"/>
                </a:solidFill>
                <a:latin typeface="Segoe UI"/>
                <a:ea typeface="Segoe UI"/>
                <a:cs typeface="Segoe UI"/>
              </a:defRPr>
            </a:pPr>
            <a:r>
              <a:rPr sz="1275" b="0" i="0">
                <a:solidFill>
                  <a:srgbClr val="9BA6A0"/>
                </a:solidFill>
                <a:latin typeface="Segoe UI"/>
                <a:ea typeface="Segoe UI"/>
                <a:cs typeface="Segoe UI"/>
              </a:rPr>
              <a:t>Analyse et temps réel</a:t>
            </a:r>
          </a:p>
        </p:txBody>
      </p:sp>
      <p:sp>
        <p:nvSpPr>
          <p:cNvPr id="22" name="Rectangle 21">
            <a:extLst>
              <a:ext uri="{FF2B5EF4-FFF2-40B4-BE49-F238E27FC236}">
                <a16:creationId xmlns:a16="http://schemas.microsoft.com/office/drawing/2014/main" id="{EAE9E021-D672-46BB-91B7-A2EC228E3E50}"/>
              </a:ext>
            </a:extLst>
          </p:cNvPr>
          <p:cNvSpPr>
            <a:spLocks noGrp="1"/>
          </p:cNvSpPr>
          <p:nvPr/>
        </p:nvSpPr>
        <p:spPr>
          <a:xfrm>
            <a:off x="9810750" y="4724400"/>
            <a:ext cx="1619250" cy="285750"/>
          </a:xfrm>
          <a:prstGeom prst="rect">
            <a:avLst/>
          </a:prstGeom>
          <a:noFill/>
          <a:ln w="0">
            <a:noFill/>
          </a:ln>
        </p:spPr>
        <p:txBody>
          <a:bodyPr lIns="38100" tIns="19050" rIns="38100" bIns="19050" anchor="ctr">
            <a:normAutofit/>
          </a:bodyPr>
          <a:lstStyle/>
          <a:p>
            <a:pPr algn="ctr">
              <a:lnSpc>
                <a:spcPct val="100000"/>
              </a:lnSpc>
              <a:buNone/>
              <a:defRPr sz="1275" b="0" i="0">
                <a:solidFill>
                  <a:srgbClr val="9BA6A0"/>
                </a:solidFill>
                <a:latin typeface="Segoe UI"/>
                <a:ea typeface="Segoe UI"/>
                <a:cs typeface="Segoe UI"/>
              </a:defRPr>
            </a:pPr>
            <a:r>
              <a:rPr sz="1275" b="0" i="0">
                <a:solidFill>
                  <a:srgbClr val="9BA6A0"/>
                </a:solidFill>
                <a:latin typeface="Segoe UI"/>
                <a:ea typeface="Segoe UI"/>
                <a:cs typeface="Segoe UI"/>
              </a:rPr>
              <a:t>Décision</a:t>
            </a:r>
          </a:p>
        </p:txBody>
      </p:sp>
      <p:sp>
        <p:nvSpPr>
          <p:cNvPr id="23" name="Straight Connector 22">
            <a:extLst>
              <a:ext uri="{FF2B5EF4-FFF2-40B4-BE49-F238E27FC236}">
                <a16:creationId xmlns:a16="http://schemas.microsoft.com/office/drawing/2014/main" id="{6C8F5ADC-90BF-484A-BD00-DB9BD0A0D367}"/>
              </a:ext>
            </a:extLst>
          </p:cNvPr>
          <p:cNvSpPr>
            <a:spLocks noGrp="1"/>
          </p:cNvSpPr>
          <p:nvPr/>
        </p:nvSpPr>
        <p:spPr>
          <a:xfrm>
            <a:off x="609600" y="6429375"/>
            <a:ext cx="10972800" cy="0"/>
          </a:xfrm>
          <a:prstGeom prst="line">
            <a:avLst/>
          </a:prstGeom>
          <a:noFill/>
          <a:ln w="9525">
            <a:solidFill>
              <a:srgbClr val="1B3028"/>
            </a:solidFill>
            <a:prstDash val="solid"/>
          </a:ln>
        </p:spPr>
      </p:sp>
      <p:sp>
        <p:nvSpPr>
          <p:cNvPr id="24" name="Rectangle 23">
            <a:extLst>
              <a:ext uri="{FF2B5EF4-FFF2-40B4-BE49-F238E27FC236}">
                <a16:creationId xmlns:a16="http://schemas.microsoft.com/office/drawing/2014/main" id="{D59C5090-61E6-49C5-B6CD-9DB36E50354C}"/>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5" name="Rectangle 24">
            <a:extLst>
              <a:ext uri="{FF2B5EF4-FFF2-40B4-BE49-F238E27FC236}">
                <a16:creationId xmlns:a16="http://schemas.microsoft.com/office/drawing/2014/main" id="{E010975A-3644-49A5-8F02-A5CF033A6059}"/>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07</a:t>
            </a:r>
          </a:p>
        </p:txBody>
      </p:sp>
    </p:spTree>
    <p:extLst>
      <p:ext uri="{BB962C8B-B14F-4D97-AF65-F5344CB8AC3E}">
        <p14:creationId xmlns:p14="http://schemas.microsoft.com/office/powerpoint/2010/main" val="1416517012"/>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29" name="Straight Connector 28">
            <a:extLst>
              <a:ext uri="{FF2B5EF4-FFF2-40B4-BE49-F238E27FC236}">
                <a16:creationId xmlns:a16="http://schemas.microsoft.com/office/drawing/2014/main" id="{95017112-88A5-4A29-9162-E632C0AA10ED}"/>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445D9173-21B3-4F67-AB0C-E6BA07E061A0}"/>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Agent Windows</a:t>
            </a:r>
          </a:p>
        </p:txBody>
      </p:sp>
      <p:sp>
        <p:nvSpPr>
          <p:cNvPr id="3" name="!!WindowsAgent">
            <a:extLst>
              <a:ext uri="{FF2B5EF4-FFF2-40B4-BE49-F238E27FC236}">
                <a16:creationId xmlns:a16="http://schemas.microsoft.com/office/drawing/2014/main" id="{AC592594-6D25-4D10-A8AB-0ADA4088F53E}"/>
              </a:ext>
            </a:extLst>
          </p:cNvPr>
          <p:cNvSpPr>
            <a:spLocks noGrp="1"/>
          </p:cNvSpPr>
          <p:nvPr/>
        </p:nvSpPr>
        <p:spPr>
          <a:xfrm>
            <a:off x="4286250" y="1790700"/>
            <a:ext cx="3619500" cy="1809750"/>
          </a:xfrm>
          <a:prstGeom prst="roundRect">
            <a:avLst>
              <a:gd name="adj" fmla="val 11579"/>
            </a:avLst>
          </a:prstGeom>
          <a:solidFill>
            <a:srgbClr val="0D2A1D"/>
          </a:solidFill>
          <a:ln w="19050">
            <a:solidFill>
              <a:srgbClr val="1ED760"/>
            </a:solidFill>
            <a:prstDash val="solid"/>
          </a:ln>
        </p:spPr>
        <p:txBody>
          <a:bodyPr lIns="95250" tIns="76200" rIns="95250" bIns="76200" anchor="ctr">
            <a:normAutofit/>
          </a:bodyPr>
          <a:lstStyle/>
          <a:p>
            <a:pPr algn="ctr">
              <a:lnSpc>
                <a:spcPct val="100000"/>
              </a:lnSpc>
              <a:buNone/>
              <a:defRPr sz="2025" b="1">
                <a:solidFill>
                  <a:srgbClr val="F5F7F6"/>
                </a:solidFill>
                <a:latin typeface="Segoe UI"/>
                <a:ea typeface="Segoe UI"/>
                <a:cs typeface="Segoe UI"/>
              </a:defRPr>
            </a:pPr>
            <a:r>
              <a:rPr sz="2025" b="1">
                <a:solidFill>
                  <a:srgbClr val="F5F7F6"/>
                </a:solidFill>
                <a:latin typeface="Segoe UI"/>
                <a:ea typeface="Segoe UI"/>
                <a:cs typeface="Segoe UI"/>
              </a:rPr>
              <a:t>WINDOWS AGENT</a:t>
            </a:r>
          </a:p>
          <a:p>
            <a:pPr algn="ctr">
              <a:lnSpc>
                <a:spcPct val="100000"/>
              </a:lnSpc>
              <a:buNone/>
              <a:defRPr sz="2025" b="1">
                <a:solidFill>
                  <a:srgbClr val="F5F7F6"/>
                </a:solidFill>
                <a:latin typeface="Segoe UI"/>
                <a:ea typeface="Segoe UI"/>
                <a:cs typeface="Segoe UI"/>
              </a:defRPr>
            </a:pPr>
            <a:r>
              <a:rPr sz="2025" b="1">
                <a:solidFill>
                  <a:srgbClr val="F5F7F6"/>
                </a:solidFill>
                <a:latin typeface="Segoe UI"/>
                <a:ea typeface="Segoe UI"/>
                <a:cs typeface="Segoe UI"/>
              </a:rPr>
              <a:t>Python + psutil</a:t>
            </a:r>
          </a:p>
          <a:p>
            <a:pPr algn="ctr">
              <a:lnSpc>
                <a:spcPct val="100000"/>
              </a:lnSpc>
              <a:buNone/>
              <a:defRPr sz="2025" b="1">
                <a:solidFill>
                  <a:srgbClr val="F5F7F6"/>
                </a:solidFill>
                <a:latin typeface="Segoe UI"/>
                <a:ea typeface="Segoe UI"/>
                <a:cs typeface="Segoe UI"/>
              </a:defRPr>
            </a:pPr>
            <a:r>
              <a:rPr sz="2025" b="1">
                <a:solidFill>
                  <a:srgbClr val="F5F7F6"/>
                </a:solidFill>
                <a:latin typeface="Segoe UI"/>
                <a:ea typeface="Segoe UI"/>
                <a:cs typeface="Segoe UI"/>
              </a:rPr>
              <a:t>Heartbeat et lots de métriques</a:t>
            </a:r>
          </a:p>
        </p:txBody>
      </p:sp>
      <p:sp>
        <p:nvSpPr>
          <p:cNvPr id="4" name="Rectangle: Rounded Corners 3">
            <a:extLst>
              <a:ext uri="{FF2B5EF4-FFF2-40B4-BE49-F238E27FC236}">
                <a16:creationId xmlns:a16="http://schemas.microsoft.com/office/drawing/2014/main" id="{39B39D6F-C311-4767-B14A-FCE111CE82AA}"/>
              </a:ext>
            </a:extLst>
          </p:cNvPr>
          <p:cNvSpPr>
            <a:spLocks noGrp="1"/>
          </p:cNvSpPr>
          <p:nvPr/>
        </p:nvSpPr>
        <p:spPr>
          <a:xfrm>
            <a:off x="933450" y="1381125"/>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CPU</a:t>
            </a:r>
          </a:p>
        </p:txBody>
      </p:sp>
      <p:cxnSp>
        <p:nvCxnSpPr>
          <p:cNvPr id="33" name="Connector: Elbow 32"/>
          <p:cNvCxnSpPr>
            <a:stCxn id="4" idx="3"/>
            <a:endCxn id="3" idx="1"/>
          </p:cNvCxnSpPr>
          <p:nvPr/>
        </p:nvCxnSpPr>
        <p:spPr>
          <a:xfrm>
            <a:off x="2743200" y="1581150"/>
            <a:ext cx="1543050" cy="1114425"/>
          </a:xfrm>
          <a:prstGeom prst="bentConnector3">
            <a:avLst>
              <a:gd name="adj1" fmla="val 50000"/>
            </a:avLst>
          </a:prstGeom>
          <a:ln w="19050">
            <a:solidFill>
              <a:srgbClr val="244338"/>
            </a:solidFill>
            <a:prstDash val="solid"/>
            <a:tailEnd type="none" w="med" len="med"/>
          </a:ln>
        </p:spPr>
      </p:cxnSp>
      <p:sp>
        <p:nvSpPr>
          <p:cNvPr id="6" name="Rectangle: Rounded Corners 5">
            <a:extLst>
              <a:ext uri="{FF2B5EF4-FFF2-40B4-BE49-F238E27FC236}">
                <a16:creationId xmlns:a16="http://schemas.microsoft.com/office/drawing/2014/main" id="{F5D4523D-4390-4B7C-9295-65836E25A964}"/>
              </a:ext>
            </a:extLst>
          </p:cNvPr>
          <p:cNvSpPr>
            <a:spLocks noGrp="1"/>
          </p:cNvSpPr>
          <p:nvPr/>
        </p:nvSpPr>
        <p:spPr>
          <a:xfrm>
            <a:off x="933450" y="2124075"/>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RAM</a:t>
            </a:r>
          </a:p>
        </p:txBody>
      </p:sp>
      <p:cxnSp>
        <p:nvCxnSpPr>
          <p:cNvPr id="35" name="Connector: Elbow 34"/>
          <p:cNvCxnSpPr>
            <a:stCxn id="6" idx="3"/>
            <a:endCxn id="3" idx="1"/>
          </p:cNvCxnSpPr>
          <p:nvPr/>
        </p:nvCxnSpPr>
        <p:spPr>
          <a:xfrm>
            <a:off x="2743200" y="2324100"/>
            <a:ext cx="1543050" cy="371475"/>
          </a:xfrm>
          <a:prstGeom prst="bentConnector3">
            <a:avLst>
              <a:gd name="adj1" fmla="val 50000"/>
            </a:avLst>
          </a:prstGeom>
          <a:ln w="19050">
            <a:solidFill>
              <a:srgbClr val="244338"/>
            </a:solidFill>
            <a:prstDash val="solid"/>
            <a:tailEnd type="none" w="med" len="med"/>
          </a:ln>
        </p:spPr>
      </p:cxnSp>
      <p:sp>
        <p:nvSpPr>
          <p:cNvPr id="8" name="Rectangle: Rounded Corners 7">
            <a:extLst>
              <a:ext uri="{FF2B5EF4-FFF2-40B4-BE49-F238E27FC236}">
                <a16:creationId xmlns:a16="http://schemas.microsoft.com/office/drawing/2014/main" id="{83B0764F-BD1E-48F8-B721-C2CFA8CC34A5}"/>
              </a:ext>
            </a:extLst>
          </p:cNvPr>
          <p:cNvSpPr>
            <a:spLocks noGrp="1"/>
          </p:cNvSpPr>
          <p:nvPr/>
        </p:nvSpPr>
        <p:spPr>
          <a:xfrm>
            <a:off x="933450" y="2867025"/>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DISQUE</a:t>
            </a:r>
          </a:p>
        </p:txBody>
      </p:sp>
      <p:cxnSp>
        <p:nvCxnSpPr>
          <p:cNvPr id="37" name="Connector: Elbow 36"/>
          <p:cNvCxnSpPr>
            <a:stCxn id="8" idx="3"/>
            <a:endCxn id="3" idx="1"/>
          </p:cNvCxnSpPr>
          <p:nvPr/>
        </p:nvCxnSpPr>
        <p:spPr>
          <a:xfrm flipV="1">
            <a:off x="2743200" y="2695575"/>
            <a:ext cx="1543050" cy="371475"/>
          </a:xfrm>
          <a:prstGeom prst="bentConnector3">
            <a:avLst>
              <a:gd name="adj1" fmla="val 50000"/>
            </a:avLst>
          </a:prstGeom>
          <a:ln w="19050">
            <a:solidFill>
              <a:srgbClr val="244338"/>
            </a:solidFill>
            <a:prstDash val="solid"/>
            <a:tailEnd type="none" w="med" len="med"/>
          </a:ln>
        </p:spPr>
      </p:cxnSp>
      <p:sp>
        <p:nvSpPr>
          <p:cNvPr id="10" name="Rectangle: Rounded Corners 9">
            <a:extLst>
              <a:ext uri="{FF2B5EF4-FFF2-40B4-BE49-F238E27FC236}">
                <a16:creationId xmlns:a16="http://schemas.microsoft.com/office/drawing/2014/main" id="{6E2CACF1-2110-4D31-AD0F-CF11A6F28451}"/>
              </a:ext>
            </a:extLst>
          </p:cNvPr>
          <p:cNvSpPr>
            <a:spLocks noGrp="1"/>
          </p:cNvSpPr>
          <p:nvPr/>
        </p:nvSpPr>
        <p:spPr>
          <a:xfrm>
            <a:off x="933450" y="3609975"/>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RÉSEAU</a:t>
            </a:r>
          </a:p>
        </p:txBody>
      </p:sp>
      <p:cxnSp>
        <p:nvCxnSpPr>
          <p:cNvPr id="39" name="Connector: Elbow 38"/>
          <p:cNvCxnSpPr>
            <a:stCxn id="10" idx="3"/>
            <a:endCxn id="3" idx="1"/>
          </p:cNvCxnSpPr>
          <p:nvPr/>
        </p:nvCxnSpPr>
        <p:spPr>
          <a:xfrm flipV="1">
            <a:off x="2743200" y="2695575"/>
            <a:ext cx="1543050" cy="1114425"/>
          </a:xfrm>
          <a:prstGeom prst="bentConnector3">
            <a:avLst>
              <a:gd name="adj1" fmla="val 50000"/>
            </a:avLst>
          </a:prstGeom>
          <a:ln w="19050">
            <a:solidFill>
              <a:srgbClr val="244338"/>
            </a:solidFill>
            <a:prstDash val="solid"/>
            <a:tailEnd type="none" w="med" len="med"/>
          </a:ln>
        </p:spPr>
      </p:cxnSp>
      <p:sp>
        <p:nvSpPr>
          <p:cNvPr id="12" name="Rectangle: Rounded Corners 11">
            <a:extLst>
              <a:ext uri="{FF2B5EF4-FFF2-40B4-BE49-F238E27FC236}">
                <a16:creationId xmlns:a16="http://schemas.microsoft.com/office/drawing/2014/main" id="{F2D1984C-751A-4B18-860A-6B34905F7CCF}"/>
              </a:ext>
            </a:extLst>
          </p:cNvPr>
          <p:cNvSpPr>
            <a:spLocks noGrp="1"/>
          </p:cNvSpPr>
          <p:nvPr/>
        </p:nvSpPr>
        <p:spPr>
          <a:xfrm>
            <a:off x="933450" y="4352925"/>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UPTIME</a:t>
            </a:r>
          </a:p>
        </p:txBody>
      </p:sp>
      <p:cxnSp>
        <p:nvCxnSpPr>
          <p:cNvPr id="41" name="Connector: Elbow 40"/>
          <p:cNvCxnSpPr>
            <a:stCxn id="12" idx="3"/>
            <a:endCxn id="3" idx="1"/>
          </p:cNvCxnSpPr>
          <p:nvPr/>
        </p:nvCxnSpPr>
        <p:spPr>
          <a:xfrm flipV="1">
            <a:off x="2743200" y="2695575"/>
            <a:ext cx="1543050" cy="1857375"/>
          </a:xfrm>
          <a:prstGeom prst="bentConnector3">
            <a:avLst>
              <a:gd name="adj1" fmla="val 50000"/>
            </a:avLst>
          </a:prstGeom>
          <a:ln w="19050">
            <a:solidFill>
              <a:srgbClr val="244338"/>
            </a:solidFill>
            <a:prstDash val="solid"/>
            <a:tailEnd type="none" w="med" len="med"/>
          </a:ln>
        </p:spPr>
      </p:cxnSp>
      <p:sp>
        <p:nvSpPr>
          <p:cNvPr id="14" name="Rectangle: Rounded Corners 13">
            <a:extLst>
              <a:ext uri="{FF2B5EF4-FFF2-40B4-BE49-F238E27FC236}">
                <a16:creationId xmlns:a16="http://schemas.microsoft.com/office/drawing/2014/main" id="{45968DC4-9B70-4CAC-B992-2216F89FADDC}"/>
              </a:ext>
            </a:extLst>
          </p:cNvPr>
          <p:cNvSpPr>
            <a:spLocks noGrp="1"/>
          </p:cNvSpPr>
          <p:nvPr/>
        </p:nvSpPr>
        <p:spPr>
          <a:xfrm>
            <a:off x="9448800" y="1695450"/>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PROCESSUS</a:t>
            </a:r>
          </a:p>
        </p:txBody>
      </p:sp>
      <p:cxnSp>
        <p:nvCxnSpPr>
          <p:cNvPr id="43" name="Connector: Elbow 42"/>
          <p:cNvCxnSpPr>
            <a:stCxn id="3" idx="3"/>
            <a:endCxn id="14" idx="1"/>
          </p:cNvCxnSpPr>
          <p:nvPr/>
        </p:nvCxnSpPr>
        <p:spPr>
          <a:xfrm flipV="1">
            <a:off x="7905750" y="1895475"/>
            <a:ext cx="1543050" cy="800100"/>
          </a:xfrm>
          <a:prstGeom prst="bentConnector3">
            <a:avLst>
              <a:gd name="adj1" fmla="val 50000"/>
            </a:avLst>
          </a:prstGeom>
          <a:ln w="19050">
            <a:solidFill>
              <a:srgbClr val="244338"/>
            </a:solidFill>
            <a:prstDash val="solid"/>
            <a:tailEnd type="none" w="med" len="med"/>
          </a:ln>
        </p:spPr>
      </p:cxnSp>
      <p:sp>
        <p:nvSpPr>
          <p:cNvPr id="16" name="Rectangle: Rounded Corners 15">
            <a:extLst>
              <a:ext uri="{FF2B5EF4-FFF2-40B4-BE49-F238E27FC236}">
                <a16:creationId xmlns:a16="http://schemas.microsoft.com/office/drawing/2014/main" id="{0796945F-F7C0-4EC3-9B7E-444D6843A157}"/>
              </a:ext>
            </a:extLst>
          </p:cNvPr>
          <p:cNvSpPr>
            <a:spLocks noGrp="1"/>
          </p:cNvSpPr>
          <p:nvPr/>
        </p:nvSpPr>
        <p:spPr>
          <a:xfrm>
            <a:off x="9448800" y="2533650"/>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HOSTNAME</a:t>
            </a:r>
          </a:p>
        </p:txBody>
      </p:sp>
      <p:cxnSp>
        <p:nvCxnSpPr>
          <p:cNvPr id="45" name="Connector: Elbow 44"/>
          <p:cNvCxnSpPr>
            <a:stCxn id="3" idx="3"/>
            <a:endCxn id="16" idx="1"/>
          </p:cNvCxnSpPr>
          <p:nvPr/>
        </p:nvCxnSpPr>
        <p:spPr>
          <a:xfrm>
            <a:off x="7905750" y="2695575"/>
            <a:ext cx="1543050" cy="38100"/>
          </a:xfrm>
          <a:prstGeom prst="bentConnector3">
            <a:avLst>
              <a:gd name="adj1" fmla="val 50000"/>
            </a:avLst>
          </a:prstGeom>
          <a:ln w="19050">
            <a:solidFill>
              <a:srgbClr val="244338"/>
            </a:solidFill>
            <a:prstDash val="solid"/>
            <a:tailEnd type="none" w="med" len="med"/>
          </a:ln>
        </p:spPr>
      </p:cxnSp>
      <p:sp>
        <p:nvSpPr>
          <p:cNvPr id="18" name="Rectangle: Rounded Corners 17">
            <a:extLst>
              <a:ext uri="{FF2B5EF4-FFF2-40B4-BE49-F238E27FC236}">
                <a16:creationId xmlns:a16="http://schemas.microsoft.com/office/drawing/2014/main" id="{29C56730-FA0D-4E3E-A34A-FC8E588F3DF6}"/>
              </a:ext>
            </a:extLst>
          </p:cNvPr>
          <p:cNvSpPr>
            <a:spLocks noGrp="1"/>
          </p:cNvSpPr>
          <p:nvPr/>
        </p:nvSpPr>
        <p:spPr>
          <a:xfrm>
            <a:off x="9448800" y="3371850"/>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IP</a:t>
            </a:r>
          </a:p>
        </p:txBody>
      </p:sp>
      <p:cxnSp>
        <p:nvCxnSpPr>
          <p:cNvPr id="47" name="Connector: Elbow 46"/>
          <p:cNvCxnSpPr>
            <a:stCxn id="3" idx="3"/>
            <a:endCxn id="18" idx="1"/>
          </p:cNvCxnSpPr>
          <p:nvPr/>
        </p:nvCxnSpPr>
        <p:spPr>
          <a:xfrm>
            <a:off x="7905750" y="2695575"/>
            <a:ext cx="1543050" cy="876300"/>
          </a:xfrm>
          <a:prstGeom prst="bentConnector3">
            <a:avLst>
              <a:gd name="adj1" fmla="val 50000"/>
            </a:avLst>
          </a:prstGeom>
          <a:ln w="19050">
            <a:solidFill>
              <a:srgbClr val="244338"/>
            </a:solidFill>
            <a:prstDash val="solid"/>
            <a:tailEnd type="none" w="med" len="med"/>
          </a:ln>
        </p:spPr>
      </p:cxnSp>
      <p:sp>
        <p:nvSpPr>
          <p:cNvPr id="20" name="Rectangle: Rounded Corners 19">
            <a:extLst>
              <a:ext uri="{FF2B5EF4-FFF2-40B4-BE49-F238E27FC236}">
                <a16:creationId xmlns:a16="http://schemas.microsoft.com/office/drawing/2014/main" id="{57D02CAC-37E6-445C-BF5C-CD172C35D0B7}"/>
              </a:ext>
            </a:extLst>
          </p:cNvPr>
          <p:cNvSpPr>
            <a:spLocks noGrp="1"/>
          </p:cNvSpPr>
          <p:nvPr/>
        </p:nvSpPr>
        <p:spPr>
          <a:xfrm>
            <a:off x="9448800" y="4210050"/>
            <a:ext cx="1809750" cy="400050"/>
          </a:xfrm>
          <a:prstGeom prst="roundRect">
            <a:avLst>
              <a:gd name="adj" fmla="val 40476"/>
            </a:avLst>
          </a:prstGeom>
          <a:solidFill>
            <a:srgbClr val="0F1A16"/>
          </a:solidFill>
          <a:ln w="9525">
            <a:solidFill>
              <a:srgbClr val="2A5747"/>
            </a:solidFill>
            <a:prstDash val="solid"/>
          </a:ln>
        </p:spPr>
        <p:txBody>
          <a:bodyPr lIns="76200" tIns="38100" rIns="76200" bIns="38100" anchor="ctr">
            <a:normAutofit/>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OS</a:t>
            </a:r>
          </a:p>
        </p:txBody>
      </p:sp>
      <p:cxnSp>
        <p:nvCxnSpPr>
          <p:cNvPr id="49" name="Connector: Elbow 48"/>
          <p:cNvCxnSpPr>
            <a:stCxn id="3" idx="3"/>
            <a:endCxn id="20" idx="1"/>
          </p:cNvCxnSpPr>
          <p:nvPr/>
        </p:nvCxnSpPr>
        <p:spPr>
          <a:xfrm>
            <a:off x="7905750" y="2695575"/>
            <a:ext cx="1543050" cy="1714500"/>
          </a:xfrm>
          <a:prstGeom prst="bentConnector3">
            <a:avLst>
              <a:gd name="adj1" fmla="val 50000"/>
            </a:avLst>
          </a:prstGeom>
          <a:ln w="19050">
            <a:solidFill>
              <a:srgbClr val="244338"/>
            </a:solidFill>
            <a:prstDash val="solid"/>
            <a:tailEnd type="none" w="med" len="med"/>
          </a:ln>
        </p:spPr>
      </p:cxnSp>
      <p:sp>
        <p:nvSpPr>
          <p:cNvPr id="22" name="!!DjangoAPI">
            <a:extLst>
              <a:ext uri="{FF2B5EF4-FFF2-40B4-BE49-F238E27FC236}">
                <a16:creationId xmlns:a16="http://schemas.microsoft.com/office/drawing/2014/main" id="{988D87E5-60FF-4CD3-A21F-8CD99726FDAE}"/>
              </a:ext>
            </a:extLst>
          </p:cNvPr>
          <p:cNvSpPr>
            <a:spLocks noGrp="1"/>
          </p:cNvSpPr>
          <p:nvPr/>
        </p:nvSpPr>
        <p:spPr>
          <a:xfrm>
            <a:off x="3714750" y="4667250"/>
            <a:ext cx="2095500" cy="609600"/>
          </a:xfrm>
          <a:prstGeom prst="roundRect">
            <a:avLst>
              <a:gd name="adj" fmla="val 21875"/>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REST API</a:t>
            </a:r>
          </a:p>
        </p:txBody>
      </p:sp>
      <p:sp>
        <p:nvSpPr>
          <p:cNvPr id="23" name="!!Backend">
            <a:extLst>
              <a:ext uri="{FF2B5EF4-FFF2-40B4-BE49-F238E27FC236}">
                <a16:creationId xmlns:a16="http://schemas.microsoft.com/office/drawing/2014/main" id="{1E458AEF-5D39-4B97-B0DE-7A61E19F4A8C}"/>
              </a:ext>
            </a:extLst>
          </p:cNvPr>
          <p:cNvSpPr>
            <a:spLocks noGrp="1"/>
          </p:cNvSpPr>
          <p:nvPr/>
        </p:nvSpPr>
        <p:spPr>
          <a:xfrm>
            <a:off x="6477000" y="4667250"/>
            <a:ext cx="2095500" cy="609600"/>
          </a:xfrm>
          <a:prstGeom prst="roundRect">
            <a:avLst>
              <a:gd name="adj" fmla="val 21875"/>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BACKEND</a:t>
            </a:r>
          </a:p>
        </p:txBody>
      </p:sp>
      <p:cxnSp>
        <p:nvCxnSpPr>
          <p:cNvPr id="52" name="Connector: Elbow 51"/>
          <p:cNvCxnSpPr>
            <a:stCxn id="3" idx="2"/>
            <a:endCxn id="22" idx="0"/>
          </p:cNvCxnSpPr>
          <p:nvPr/>
        </p:nvCxnSpPr>
        <p:spPr>
          <a:xfrm flipH="1">
            <a:off x="4762500" y="3600450"/>
            <a:ext cx="1333500" cy="1066800"/>
          </a:xfrm>
          <a:prstGeom prst="bentConnector4">
            <a:avLst>
              <a:gd name="adj1" fmla="val 0"/>
              <a:gd name="adj2" fmla="val 50000"/>
            </a:avLst>
          </a:prstGeom>
          <a:ln w="19050">
            <a:solidFill>
              <a:srgbClr val="1ED760"/>
            </a:solidFill>
            <a:prstDash val="solid"/>
            <a:tailEnd type="arrow" w="med" len="med"/>
          </a:ln>
        </p:spPr>
      </p:cxnSp>
      <p:cxnSp>
        <p:nvCxnSpPr>
          <p:cNvPr id="53" name="Straight Arrow Connector 52"/>
          <p:cNvCxnSpPr>
            <a:stCxn id="22" idx="3"/>
            <a:endCxn id="23" idx="1"/>
          </p:cNvCxnSpPr>
          <p:nvPr/>
        </p:nvCxnSpPr>
        <p:spPr>
          <a:xfrm>
            <a:off x="5810250" y="4972050"/>
            <a:ext cx="666750" cy="0"/>
          </a:xfrm>
          <a:prstGeom prst="straightConnector1">
            <a:avLst/>
          </a:prstGeom>
          <a:ln w="19050">
            <a:solidFill>
              <a:srgbClr val="1ED760"/>
            </a:solidFill>
            <a:prstDash val="solid"/>
            <a:tailEnd type="arrow" w="med" len="med"/>
          </a:ln>
        </p:spPr>
      </p:cxnSp>
      <p:sp>
        <p:nvSpPr>
          <p:cNvPr id="26" name="Straight Connector 25">
            <a:extLst>
              <a:ext uri="{FF2B5EF4-FFF2-40B4-BE49-F238E27FC236}">
                <a16:creationId xmlns:a16="http://schemas.microsoft.com/office/drawing/2014/main" id="{FC285E78-27CF-4CBF-88BE-2BEE1DA5B9E5}"/>
              </a:ext>
            </a:extLst>
          </p:cNvPr>
          <p:cNvSpPr>
            <a:spLocks noGrp="1"/>
          </p:cNvSpPr>
          <p:nvPr/>
        </p:nvSpPr>
        <p:spPr>
          <a:xfrm>
            <a:off x="609600" y="6429375"/>
            <a:ext cx="10972800" cy="0"/>
          </a:xfrm>
          <a:prstGeom prst="line">
            <a:avLst/>
          </a:prstGeom>
          <a:noFill/>
          <a:ln w="9525">
            <a:solidFill>
              <a:srgbClr val="1B3028"/>
            </a:solidFill>
            <a:prstDash val="solid"/>
          </a:ln>
        </p:spPr>
      </p:sp>
      <p:sp>
        <p:nvSpPr>
          <p:cNvPr id="27" name="Rectangle 26">
            <a:extLst>
              <a:ext uri="{FF2B5EF4-FFF2-40B4-BE49-F238E27FC236}">
                <a16:creationId xmlns:a16="http://schemas.microsoft.com/office/drawing/2014/main" id="{8858E72F-3553-4AB2-A208-F0FC55E2E403}"/>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8" name="Rectangle 27">
            <a:extLst>
              <a:ext uri="{FF2B5EF4-FFF2-40B4-BE49-F238E27FC236}">
                <a16:creationId xmlns:a16="http://schemas.microsoft.com/office/drawing/2014/main" id="{D7460A39-A563-4776-ACA6-26113DAD1C4C}"/>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08</a:t>
            </a:r>
          </a:p>
        </p:txBody>
      </p:sp>
    </p:spTree>
    <p:extLst>
      <p:ext uri="{BB962C8B-B14F-4D97-AF65-F5344CB8AC3E}">
        <p14:creationId xmlns:p14="http://schemas.microsoft.com/office/powerpoint/2010/main" val="1281716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sp>
        <p:nvSpPr>
          <p:cNvPr id="29" name="Straight Connector 28">
            <a:extLst>
              <a:ext uri="{FF2B5EF4-FFF2-40B4-BE49-F238E27FC236}">
                <a16:creationId xmlns:a16="http://schemas.microsoft.com/office/drawing/2014/main" id="{97D383C3-6F84-4A61-8F0D-7971161C4141}"/>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C9892097-F7FB-45A4-B8C7-605F28158794}"/>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Pipeline de données</a:t>
            </a:r>
          </a:p>
        </p:txBody>
      </p:sp>
      <p:sp>
        <p:nvSpPr>
          <p:cNvPr id="3" name="Rectangle 2">
            <a:extLst>
              <a:ext uri="{FF2B5EF4-FFF2-40B4-BE49-F238E27FC236}">
                <a16:creationId xmlns:a16="http://schemas.microsoft.com/office/drawing/2014/main" id="{C723DBFD-5F09-46B8-9412-9262594B15CF}"/>
              </a:ext>
            </a:extLst>
          </p:cNvPr>
          <p:cNvSpPr>
            <a:spLocks noGrp="1"/>
          </p:cNvSpPr>
          <p:nvPr/>
        </p:nvSpPr>
        <p:spPr>
          <a:xfrm>
            <a:off x="666750" y="1885950"/>
            <a:ext cx="114300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7D7E8"/>
                </a:solidFill>
                <a:latin typeface="Segoe UI"/>
                <a:ea typeface="Segoe UI"/>
                <a:cs typeface="Segoe UI"/>
              </a:defRPr>
            </a:pPr>
            <a:r>
              <a:rPr sz="1350" b="1" i="0">
                <a:solidFill>
                  <a:srgbClr val="37D7E8"/>
                </a:solidFill>
                <a:latin typeface="Segoe UI"/>
                <a:ea typeface="Segoe UI"/>
                <a:cs typeface="Segoe UI"/>
              </a:rPr>
              <a:t>01</a:t>
            </a:r>
          </a:p>
        </p:txBody>
      </p:sp>
      <p:sp>
        <p:nvSpPr>
          <p:cNvPr id="4" name="!!Pipeline1">
            <a:extLst>
              <a:ext uri="{FF2B5EF4-FFF2-40B4-BE49-F238E27FC236}">
                <a16:creationId xmlns:a16="http://schemas.microsoft.com/office/drawing/2014/main" id="{FEC90D1C-DDF2-4033-A069-9E01839E2162}"/>
              </a:ext>
            </a:extLst>
          </p:cNvPr>
          <p:cNvSpPr>
            <a:spLocks noGrp="1"/>
          </p:cNvSpPr>
          <p:nvPr/>
        </p:nvSpPr>
        <p:spPr>
          <a:xfrm>
            <a:off x="666750" y="2324100"/>
            <a:ext cx="1314450" cy="990600"/>
          </a:xfrm>
          <a:prstGeom prst="roundRect">
            <a:avLst>
              <a:gd name="adj" fmla="val 13462"/>
            </a:avLst>
          </a:prstGeom>
          <a:solidFill>
            <a:srgbClr val="0F1A16"/>
          </a:solidFill>
          <a:ln w="9525">
            <a:solidFill>
              <a:srgbClr val="37D7E8"/>
            </a:solidFill>
            <a:prstDash val="solid"/>
          </a:ln>
        </p:spPr>
        <p:txBody>
          <a:bodyPr lIns="95250" tIns="76200" rIns="95250" bIns="76200" anchor="ctr">
            <a:normAutofit/>
          </a:bodyPr>
          <a:lstStyle/>
          <a:p>
            <a:pPr algn="ctr">
              <a:lnSpc>
                <a:spcPct val="100000"/>
              </a:lnSpc>
              <a:buNone/>
              <a:defRPr sz="1275" b="1">
                <a:solidFill>
                  <a:srgbClr val="F5F7F6"/>
                </a:solidFill>
                <a:latin typeface="Segoe UI"/>
                <a:ea typeface="Segoe UI"/>
                <a:cs typeface="Segoe UI"/>
              </a:defRPr>
            </a:pPr>
            <a:r>
              <a:rPr sz="1275" b="1">
                <a:solidFill>
                  <a:srgbClr val="F5F7F6"/>
                </a:solidFill>
                <a:latin typeface="Segoe UI"/>
                <a:ea typeface="Segoe UI"/>
                <a:cs typeface="Segoe UI"/>
              </a:rPr>
              <a:t>COLLECTER</a:t>
            </a:r>
          </a:p>
        </p:txBody>
      </p:sp>
      <p:sp>
        <p:nvSpPr>
          <p:cNvPr id="5" name="Rectangle 4">
            <a:extLst>
              <a:ext uri="{FF2B5EF4-FFF2-40B4-BE49-F238E27FC236}">
                <a16:creationId xmlns:a16="http://schemas.microsoft.com/office/drawing/2014/main" id="{7FFBCC71-02BB-4CAC-94AF-370C137A7F95}"/>
              </a:ext>
            </a:extLst>
          </p:cNvPr>
          <p:cNvSpPr>
            <a:spLocks noGrp="1"/>
          </p:cNvSpPr>
          <p:nvPr/>
        </p:nvSpPr>
        <p:spPr>
          <a:xfrm>
            <a:off x="2228850" y="1885950"/>
            <a:ext cx="114300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7D7E8"/>
                </a:solidFill>
                <a:latin typeface="Segoe UI"/>
                <a:ea typeface="Segoe UI"/>
                <a:cs typeface="Segoe UI"/>
              </a:defRPr>
            </a:pPr>
            <a:r>
              <a:rPr sz="1350" b="1" i="0">
                <a:solidFill>
                  <a:srgbClr val="37D7E8"/>
                </a:solidFill>
                <a:latin typeface="Segoe UI"/>
                <a:ea typeface="Segoe UI"/>
                <a:cs typeface="Segoe UI"/>
              </a:rPr>
              <a:t>02</a:t>
            </a:r>
          </a:p>
        </p:txBody>
      </p:sp>
      <p:sp>
        <p:nvSpPr>
          <p:cNvPr id="6" name="!!Pipeline2">
            <a:extLst>
              <a:ext uri="{FF2B5EF4-FFF2-40B4-BE49-F238E27FC236}">
                <a16:creationId xmlns:a16="http://schemas.microsoft.com/office/drawing/2014/main" id="{AE502711-8C26-46B3-A1BC-537E0264FFB0}"/>
              </a:ext>
            </a:extLst>
          </p:cNvPr>
          <p:cNvSpPr>
            <a:spLocks noGrp="1"/>
          </p:cNvSpPr>
          <p:nvPr/>
        </p:nvSpPr>
        <p:spPr>
          <a:xfrm>
            <a:off x="2228850" y="2324100"/>
            <a:ext cx="1314450" cy="990600"/>
          </a:xfrm>
          <a:prstGeom prst="roundRect">
            <a:avLst>
              <a:gd name="adj" fmla="val 13462"/>
            </a:avLst>
          </a:prstGeom>
          <a:solidFill>
            <a:srgbClr val="0F1A16"/>
          </a:solidFill>
          <a:ln w="9525">
            <a:solidFill>
              <a:srgbClr val="37D7E8"/>
            </a:solidFill>
            <a:prstDash val="solid"/>
          </a:ln>
        </p:spPr>
        <p:txBody>
          <a:bodyPr lIns="95250" tIns="76200" rIns="95250" bIns="76200" anchor="ctr">
            <a:normAutofit/>
          </a:bodyPr>
          <a:lstStyle/>
          <a:p>
            <a:pPr algn="ctr">
              <a:lnSpc>
                <a:spcPct val="100000"/>
              </a:lnSpc>
              <a:buNone/>
              <a:defRPr sz="1125" b="1">
                <a:solidFill>
                  <a:srgbClr val="F5F7F6"/>
                </a:solidFill>
                <a:latin typeface="Segoe UI"/>
                <a:ea typeface="Segoe UI"/>
                <a:cs typeface="Segoe UI"/>
              </a:defRPr>
            </a:pPr>
            <a:r>
              <a:rPr sz="1125" b="1">
                <a:solidFill>
                  <a:srgbClr val="F5F7F6"/>
                </a:solidFill>
                <a:latin typeface="Segoe UI"/>
                <a:ea typeface="Segoe UI"/>
                <a:cs typeface="Segoe UI"/>
              </a:rPr>
              <a:t>NORMALISER</a:t>
            </a:r>
          </a:p>
        </p:txBody>
      </p:sp>
      <p:sp>
        <p:nvSpPr>
          <p:cNvPr id="7" name="Rectangle 6">
            <a:extLst>
              <a:ext uri="{FF2B5EF4-FFF2-40B4-BE49-F238E27FC236}">
                <a16:creationId xmlns:a16="http://schemas.microsoft.com/office/drawing/2014/main" id="{8B2E224A-5EDB-4A2B-83CE-BC47C26C8355}"/>
              </a:ext>
            </a:extLst>
          </p:cNvPr>
          <p:cNvSpPr>
            <a:spLocks noGrp="1"/>
          </p:cNvSpPr>
          <p:nvPr/>
        </p:nvSpPr>
        <p:spPr>
          <a:xfrm>
            <a:off x="3790950" y="1885950"/>
            <a:ext cx="114300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7D7E8"/>
                </a:solidFill>
                <a:latin typeface="Segoe UI"/>
                <a:ea typeface="Segoe UI"/>
                <a:cs typeface="Segoe UI"/>
              </a:defRPr>
            </a:pPr>
            <a:r>
              <a:rPr sz="1350" b="1" i="0">
                <a:solidFill>
                  <a:srgbClr val="37D7E8"/>
                </a:solidFill>
                <a:latin typeface="Segoe UI"/>
                <a:ea typeface="Segoe UI"/>
                <a:cs typeface="Segoe UI"/>
              </a:rPr>
              <a:t>03</a:t>
            </a:r>
          </a:p>
        </p:txBody>
      </p:sp>
      <p:sp>
        <p:nvSpPr>
          <p:cNvPr id="8" name="!!Pipeline3">
            <a:extLst>
              <a:ext uri="{FF2B5EF4-FFF2-40B4-BE49-F238E27FC236}">
                <a16:creationId xmlns:a16="http://schemas.microsoft.com/office/drawing/2014/main" id="{5275A7CA-FE0E-46A9-9EF2-B7F752EE32C3}"/>
              </a:ext>
            </a:extLst>
          </p:cNvPr>
          <p:cNvSpPr>
            <a:spLocks noGrp="1"/>
          </p:cNvSpPr>
          <p:nvPr/>
        </p:nvSpPr>
        <p:spPr>
          <a:xfrm>
            <a:off x="3790950" y="2324100"/>
            <a:ext cx="1314450" cy="990600"/>
          </a:xfrm>
          <a:prstGeom prst="roundRect">
            <a:avLst>
              <a:gd name="adj" fmla="val 13462"/>
            </a:avLst>
          </a:prstGeom>
          <a:solidFill>
            <a:srgbClr val="0F1A16"/>
          </a:solidFill>
          <a:ln w="9525">
            <a:solidFill>
              <a:srgbClr val="37D7E8"/>
            </a:solidFill>
            <a:prstDash val="solid"/>
          </a:ln>
        </p:spPr>
        <p:txBody>
          <a:bodyPr lIns="95250" tIns="76200" rIns="95250" bIns="76200" anchor="ctr">
            <a:normAutofit/>
          </a:bodyPr>
          <a:lstStyle/>
          <a:p>
            <a:pPr algn="ctr">
              <a:lnSpc>
                <a:spcPct val="100000"/>
              </a:lnSpc>
              <a:buNone/>
              <a:defRPr sz="1275" b="1">
                <a:solidFill>
                  <a:srgbClr val="F5F7F6"/>
                </a:solidFill>
                <a:latin typeface="Segoe UI"/>
                <a:ea typeface="Segoe UI"/>
                <a:cs typeface="Segoe UI"/>
              </a:defRPr>
            </a:pPr>
            <a:r>
              <a:rPr sz="1275" b="1">
                <a:solidFill>
                  <a:srgbClr val="F5F7F6"/>
                </a:solidFill>
                <a:latin typeface="Segoe UI"/>
                <a:ea typeface="Segoe UI"/>
                <a:cs typeface="Segoe UI"/>
              </a:rPr>
              <a:t>STOCKER</a:t>
            </a:r>
          </a:p>
        </p:txBody>
      </p:sp>
      <p:sp>
        <p:nvSpPr>
          <p:cNvPr id="9" name="Rectangle 8">
            <a:extLst>
              <a:ext uri="{FF2B5EF4-FFF2-40B4-BE49-F238E27FC236}">
                <a16:creationId xmlns:a16="http://schemas.microsoft.com/office/drawing/2014/main" id="{2DB6AA8D-2D24-4A00-95A8-F89828ACA00C}"/>
              </a:ext>
            </a:extLst>
          </p:cNvPr>
          <p:cNvSpPr>
            <a:spLocks noGrp="1"/>
          </p:cNvSpPr>
          <p:nvPr/>
        </p:nvSpPr>
        <p:spPr>
          <a:xfrm>
            <a:off x="5353050" y="1885950"/>
            <a:ext cx="114300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9FF88"/>
                </a:solidFill>
                <a:latin typeface="Segoe UI"/>
                <a:ea typeface="Segoe UI"/>
                <a:cs typeface="Segoe UI"/>
              </a:defRPr>
            </a:pPr>
            <a:r>
              <a:rPr sz="1350" b="1" i="0">
                <a:solidFill>
                  <a:srgbClr val="39FF88"/>
                </a:solidFill>
                <a:latin typeface="Segoe UI"/>
                <a:ea typeface="Segoe UI"/>
                <a:cs typeface="Segoe UI"/>
              </a:rPr>
              <a:t>04</a:t>
            </a:r>
          </a:p>
        </p:txBody>
      </p:sp>
      <p:sp>
        <p:nvSpPr>
          <p:cNvPr id="10" name="!!Pipeline4">
            <a:extLst>
              <a:ext uri="{FF2B5EF4-FFF2-40B4-BE49-F238E27FC236}">
                <a16:creationId xmlns:a16="http://schemas.microsoft.com/office/drawing/2014/main" id="{C08CBC02-5FC2-477A-9024-7D674818C8D6}"/>
              </a:ext>
            </a:extLst>
          </p:cNvPr>
          <p:cNvSpPr>
            <a:spLocks noGrp="1"/>
          </p:cNvSpPr>
          <p:nvPr/>
        </p:nvSpPr>
        <p:spPr>
          <a:xfrm>
            <a:off x="5353050" y="2324100"/>
            <a:ext cx="1314450" cy="990600"/>
          </a:xfrm>
          <a:prstGeom prst="roundRect">
            <a:avLst>
              <a:gd name="adj" fmla="val 13462"/>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275" b="1">
                <a:solidFill>
                  <a:srgbClr val="F5F7F6"/>
                </a:solidFill>
                <a:latin typeface="Segoe UI"/>
                <a:ea typeface="Segoe UI"/>
                <a:cs typeface="Segoe UI"/>
              </a:defRPr>
            </a:pPr>
            <a:r>
              <a:rPr sz="1275" b="1">
                <a:solidFill>
                  <a:srgbClr val="F5F7F6"/>
                </a:solidFill>
                <a:latin typeface="Segoe UI"/>
                <a:ea typeface="Segoe UI"/>
                <a:cs typeface="Segoe UI"/>
              </a:rPr>
              <a:t>ANALYSER</a:t>
            </a:r>
          </a:p>
        </p:txBody>
      </p:sp>
      <p:sp>
        <p:nvSpPr>
          <p:cNvPr id="11" name="Rectangle 10">
            <a:extLst>
              <a:ext uri="{FF2B5EF4-FFF2-40B4-BE49-F238E27FC236}">
                <a16:creationId xmlns:a16="http://schemas.microsoft.com/office/drawing/2014/main" id="{3E799F41-52F4-4A09-BB6D-B16C49E5B602}"/>
              </a:ext>
            </a:extLst>
          </p:cNvPr>
          <p:cNvSpPr>
            <a:spLocks noGrp="1"/>
          </p:cNvSpPr>
          <p:nvPr/>
        </p:nvSpPr>
        <p:spPr>
          <a:xfrm>
            <a:off x="6915150" y="1885950"/>
            <a:ext cx="114300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9FF88"/>
                </a:solidFill>
                <a:latin typeface="Segoe UI"/>
                <a:ea typeface="Segoe UI"/>
                <a:cs typeface="Segoe UI"/>
              </a:defRPr>
            </a:pPr>
            <a:r>
              <a:rPr sz="1350" b="1" i="0">
                <a:solidFill>
                  <a:srgbClr val="39FF88"/>
                </a:solidFill>
                <a:latin typeface="Segoe UI"/>
                <a:ea typeface="Segoe UI"/>
                <a:cs typeface="Segoe UI"/>
              </a:rPr>
              <a:t>05</a:t>
            </a:r>
          </a:p>
        </p:txBody>
      </p:sp>
      <p:sp>
        <p:nvSpPr>
          <p:cNvPr id="12" name="!!Pipeline5">
            <a:extLst>
              <a:ext uri="{FF2B5EF4-FFF2-40B4-BE49-F238E27FC236}">
                <a16:creationId xmlns:a16="http://schemas.microsoft.com/office/drawing/2014/main" id="{10F893FA-3785-4958-9586-580275D5B40F}"/>
              </a:ext>
            </a:extLst>
          </p:cNvPr>
          <p:cNvSpPr>
            <a:spLocks noGrp="1"/>
          </p:cNvSpPr>
          <p:nvPr/>
        </p:nvSpPr>
        <p:spPr>
          <a:xfrm>
            <a:off x="6915150" y="2324100"/>
            <a:ext cx="1314450" cy="990600"/>
          </a:xfrm>
          <a:prstGeom prst="roundRect">
            <a:avLst>
              <a:gd name="adj" fmla="val 13462"/>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275" b="1">
                <a:solidFill>
                  <a:srgbClr val="F5F7F6"/>
                </a:solidFill>
                <a:latin typeface="Segoe UI"/>
                <a:ea typeface="Segoe UI"/>
                <a:cs typeface="Segoe UI"/>
              </a:defRPr>
            </a:pPr>
            <a:r>
              <a:rPr sz="1275" b="1">
                <a:solidFill>
                  <a:srgbClr val="F5F7F6"/>
                </a:solidFill>
                <a:latin typeface="Segoe UI"/>
                <a:ea typeface="Segoe UI"/>
                <a:cs typeface="Segoe UI"/>
              </a:rPr>
              <a:t>DÉTECTER</a:t>
            </a:r>
          </a:p>
        </p:txBody>
      </p:sp>
      <p:sp>
        <p:nvSpPr>
          <p:cNvPr id="13" name="Rectangle 12">
            <a:extLst>
              <a:ext uri="{FF2B5EF4-FFF2-40B4-BE49-F238E27FC236}">
                <a16:creationId xmlns:a16="http://schemas.microsoft.com/office/drawing/2014/main" id="{6EA6CA94-1B33-4B85-B529-30DB955BEB2A}"/>
              </a:ext>
            </a:extLst>
          </p:cNvPr>
          <p:cNvSpPr>
            <a:spLocks noGrp="1"/>
          </p:cNvSpPr>
          <p:nvPr/>
        </p:nvSpPr>
        <p:spPr>
          <a:xfrm>
            <a:off x="8477250" y="1885950"/>
            <a:ext cx="114300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9FF88"/>
                </a:solidFill>
                <a:latin typeface="Segoe UI"/>
                <a:ea typeface="Segoe UI"/>
                <a:cs typeface="Segoe UI"/>
              </a:defRPr>
            </a:pPr>
            <a:r>
              <a:rPr sz="1350" b="1" i="0">
                <a:solidFill>
                  <a:srgbClr val="39FF88"/>
                </a:solidFill>
                <a:latin typeface="Segoe UI"/>
                <a:ea typeface="Segoe UI"/>
                <a:cs typeface="Segoe UI"/>
              </a:rPr>
              <a:t>06</a:t>
            </a:r>
          </a:p>
        </p:txBody>
      </p:sp>
      <p:sp>
        <p:nvSpPr>
          <p:cNvPr id="14" name="!!Pipeline6">
            <a:extLst>
              <a:ext uri="{FF2B5EF4-FFF2-40B4-BE49-F238E27FC236}">
                <a16:creationId xmlns:a16="http://schemas.microsoft.com/office/drawing/2014/main" id="{0B66F4BA-3EDB-4072-AD67-5B1885C7E8D4}"/>
              </a:ext>
            </a:extLst>
          </p:cNvPr>
          <p:cNvSpPr>
            <a:spLocks noGrp="1"/>
          </p:cNvSpPr>
          <p:nvPr/>
        </p:nvSpPr>
        <p:spPr>
          <a:xfrm>
            <a:off x="8477250" y="2324100"/>
            <a:ext cx="1314450" cy="990600"/>
          </a:xfrm>
          <a:prstGeom prst="roundRect">
            <a:avLst>
              <a:gd name="adj" fmla="val 13462"/>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275" b="1">
                <a:solidFill>
                  <a:srgbClr val="F5F7F6"/>
                </a:solidFill>
                <a:latin typeface="Segoe UI"/>
                <a:ea typeface="Segoe UI"/>
                <a:cs typeface="Segoe UI"/>
              </a:defRPr>
            </a:pPr>
            <a:r>
              <a:rPr sz="1275" b="1">
                <a:solidFill>
                  <a:srgbClr val="F5F7F6"/>
                </a:solidFill>
                <a:latin typeface="Segoe UI"/>
                <a:ea typeface="Segoe UI"/>
                <a:cs typeface="Segoe UI"/>
              </a:rPr>
              <a:t>PRÉDIRE</a:t>
            </a:r>
          </a:p>
        </p:txBody>
      </p:sp>
      <p:sp>
        <p:nvSpPr>
          <p:cNvPr id="15" name="Rectangle 14">
            <a:extLst>
              <a:ext uri="{FF2B5EF4-FFF2-40B4-BE49-F238E27FC236}">
                <a16:creationId xmlns:a16="http://schemas.microsoft.com/office/drawing/2014/main" id="{B5696ADC-92C6-4075-A845-C2EEE48F6CF9}"/>
              </a:ext>
            </a:extLst>
          </p:cNvPr>
          <p:cNvSpPr>
            <a:spLocks noGrp="1"/>
          </p:cNvSpPr>
          <p:nvPr/>
        </p:nvSpPr>
        <p:spPr>
          <a:xfrm>
            <a:off x="10039350" y="1885950"/>
            <a:ext cx="1143000" cy="285750"/>
          </a:xfrm>
          <a:prstGeom prst="rect">
            <a:avLst/>
          </a:prstGeom>
          <a:noFill/>
          <a:ln w="0">
            <a:noFill/>
          </a:ln>
        </p:spPr>
        <p:txBody>
          <a:bodyPr lIns="38100" tIns="19050" rIns="38100" bIns="19050" anchor="ctr">
            <a:normAutofit/>
          </a:bodyPr>
          <a:lstStyle/>
          <a:p>
            <a:pPr algn="ctr">
              <a:lnSpc>
                <a:spcPct val="100000"/>
              </a:lnSpc>
              <a:buNone/>
              <a:defRPr sz="1350" b="1" i="0">
                <a:solidFill>
                  <a:srgbClr val="39FF88"/>
                </a:solidFill>
                <a:latin typeface="Segoe UI"/>
                <a:ea typeface="Segoe UI"/>
                <a:cs typeface="Segoe UI"/>
              </a:defRPr>
            </a:pPr>
            <a:r>
              <a:rPr sz="1350" b="1" i="0">
                <a:solidFill>
                  <a:srgbClr val="39FF88"/>
                </a:solidFill>
                <a:latin typeface="Segoe UI"/>
                <a:ea typeface="Segoe UI"/>
                <a:cs typeface="Segoe UI"/>
              </a:rPr>
              <a:t>07</a:t>
            </a:r>
          </a:p>
        </p:txBody>
      </p:sp>
      <p:sp>
        <p:nvSpPr>
          <p:cNvPr id="16" name="!!Pipeline7">
            <a:extLst>
              <a:ext uri="{FF2B5EF4-FFF2-40B4-BE49-F238E27FC236}">
                <a16:creationId xmlns:a16="http://schemas.microsoft.com/office/drawing/2014/main" id="{88F65F74-428C-4D47-8AF3-98C3E8B7CFB3}"/>
              </a:ext>
            </a:extLst>
          </p:cNvPr>
          <p:cNvSpPr>
            <a:spLocks noGrp="1"/>
          </p:cNvSpPr>
          <p:nvPr/>
        </p:nvSpPr>
        <p:spPr>
          <a:xfrm>
            <a:off x="10039350" y="2324100"/>
            <a:ext cx="1314450" cy="990600"/>
          </a:xfrm>
          <a:prstGeom prst="roundRect">
            <a:avLst>
              <a:gd name="adj" fmla="val 13462"/>
            </a:avLst>
          </a:prstGeom>
          <a:solidFill>
            <a:srgbClr val="0E2B1D"/>
          </a:solidFill>
          <a:ln w="9525">
            <a:solidFill>
              <a:srgbClr val="1ED760"/>
            </a:solidFill>
            <a:prstDash val="solid"/>
          </a:ln>
        </p:spPr>
        <p:txBody>
          <a:bodyPr lIns="95250" tIns="76200" rIns="95250" bIns="76200" anchor="ctr">
            <a:normAutofit/>
          </a:bodyPr>
          <a:lstStyle/>
          <a:p>
            <a:pPr algn="ctr">
              <a:lnSpc>
                <a:spcPct val="100000"/>
              </a:lnSpc>
              <a:buNone/>
              <a:defRPr sz="1275" b="1">
                <a:solidFill>
                  <a:srgbClr val="39FF88"/>
                </a:solidFill>
                <a:latin typeface="Segoe UI"/>
                <a:ea typeface="Segoe UI"/>
                <a:cs typeface="Segoe UI"/>
              </a:defRPr>
            </a:pPr>
            <a:r>
              <a:rPr sz="1275" b="1">
                <a:solidFill>
                  <a:srgbClr val="39FF88"/>
                </a:solidFill>
                <a:latin typeface="Segoe UI"/>
                <a:ea typeface="Segoe UI"/>
                <a:cs typeface="Segoe UI"/>
              </a:rPr>
              <a:t>ALERTER</a:t>
            </a:r>
          </a:p>
        </p:txBody>
      </p:sp>
      <p:cxnSp>
        <p:nvCxnSpPr>
          <p:cNvPr id="45" name="Straight Arrow Connector 44"/>
          <p:cNvCxnSpPr>
            <a:stCxn id="4" idx="3"/>
            <a:endCxn id="6" idx="1"/>
          </p:cNvCxnSpPr>
          <p:nvPr/>
        </p:nvCxnSpPr>
        <p:spPr>
          <a:xfrm>
            <a:off x="1981200" y="2819400"/>
            <a:ext cx="247650" cy="0"/>
          </a:xfrm>
          <a:prstGeom prst="straightConnector1">
            <a:avLst/>
          </a:prstGeom>
          <a:ln w="19050">
            <a:solidFill>
              <a:srgbClr val="37D7E8"/>
            </a:solidFill>
            <a:prstDash val="solid"/>
            <a:tailEnd type="arrow" w="med" len="med"/>
          </a:ln>
        </p:spPr>
      </p:cxnSp>
      <p:cxnSp>
        <p:nvCxnSpPr>
          <p:cNvPr id="46" name="Straight Arrow Connector 45"/>
          <p:cNvCxnSpPr>
            <a:stCxn id="6" idx="3"/>
            <a:endCxn id="8" idx="1"/>
          </p:cNvCxnSpPr>
          <p:nvPr/>
        </p:nvCxnSpPr>
        <p:spPr>
          <a:xfrm>
            <a:off x="3543300" y="2819400"/>
            <a:ext cx="247650" cy="0"/>
          </a:xfrm>
          <a:prstGeom prst="straightConnector1">
            <a:avLst/>
          </a:prstGeom>
          <a:ln w="19050">
            <a:solidFill>
              <a:srgbClr val="37D7E8"/>
            </a:solidFill>
            <a:prstDash val="solid"/>
            <a:tailEnd type="arrow" w="med" len="med"/>
          </a:ln>
        </p:spPr>
      </p:cxnSp>
      <p:cxnSp>
        <p:nvCxnSpPr>
          <p:cNvPr id="47" name="Straight Arrow Connector 46"/>
          <p:cNvCxnSpPr>
            <a:stCxn id="8" idx="3"/>
            <a:endCxn id="10" idx="1"/>
          </p:cNvCxnSpPr>
          <p:nvPr/>
        </p:nvCxnSpPr>
        <p:spPr>
          <a:xfrm>
            <a:off x="5105400" y="2819400"/>
            <a:ext cx="247650" cy="0"/>
          </a:xfrm>
          <a:prstGeom prst="straightConnector1">
            <a:avLst/>
          </a:prstGeom>
          <a:ln w="19050">
            <a:solidFill>
              <a:srgbClr val="1ED760"/>
            </a:solidFill>
            <a:prstDash val="solid"/>
            <a:tailEnd type="arrow" w="med" len="med"/>
          </a:ln>
        </p:spPr>
      </p:cxnSp>
      <p:cxnSp>
        <p:nvCxnSpPr>
          <p:cNvPr id="48" name="Straight Arrow Connector 47"/>
          <p:cNvCxnSpPr>
            <a:stCxn id="10" idx="3"/>
            <a:endCxn id="12" idx="1"/>
          </p:cNvCxnSpPr>
          <p:nvPr/>
        </p:nvCxnSpPr>
        <p:spPr>
          <a:xfrm>
            <a:off x="6667500" y="2819400"/>
            <a:ext cx="247650" cy="0"/>
          </a:xfrm>
          <a:prstGeom prst="straightConnector1">
            <a:avLst/>
          </a:prstGeom>
          <a:ln w="19050">
            <a:solidFill>
              <a:srgbClr val="1ED760"/>
            </a:solidFill>
            <a:prstDash val="solid"/>
            <a:tailEnd type="arrow" w="med" len="med"/>
          </a:ln>
        </p:spPr>
      </p:cxnSp>
      <p:cxnSp>
        <p:nvCxnSpPr>
          <p:cNvPr id="49" name="Straight Arrow Connector 48"/>
          <p:cNvCxnSpPr>
            <a:stCxn id="12" idx="3"/>
            <a:endCxn id="14" idx="1"/>
          </p:cNvCxnSpPr>
          <p:nvPr/>
        </p:nvCxnSpPr>
        <p:spPr>
          <a:xfrm>
            <a:off x="8229600" y="2819400"/>
            <a:ext cx="247650" cy="0"/>
          </a:xfrm>
          <a:prstGeom prst="straightConnector1">
            <a:avLst/>
          </a:prstGeom>
          <a:ln w="19050">
            <a:solidFill>
              <a:srgbClr val="1ED760"/>
            </a:solidFill>
            <a:prstDash val="solid"/>
            <a:tailEnd type="arrow" w="med" len="med"/>
          </a:ln>
        </p:spPr>
      </p:cxnSp>
      <p:cxnSp>
        <p:nvCxnSpPr>
          <p:cNvPr id="50" name="Straight Arrow Connector 49"/>
          <p:cNvCxnSpPr>
            <a:stCxn id="14" idx="3"/>
            <a:endCxn id="16" idx="1"/>
          </p:cNvCxnSpPr>
          <p:nvPr/>
        </p:nvCxnSpPr>
        <p:spPr>
          <a:xfrm>
            <a:off x="9791700" y="2819400"/>
            <a:ext cx="247650" cy="0"/>
          </a:xfrm>
          <a:prstGeom prst="straightConnector1">
            <a:avLst/>
          </a:prstGeom>
          <a:ln w="19050">
            <a:solidFill>
              <a:srgbClr val="1ED760"/>
            </a:solidFill>
            <a:prstDash val="solid"/>
            <a:tailEnd type="arrow" w="med" len="med"/>
          </a:ln>
        </p:spPr>
      </p:cxnSp>
      <p:sp>
        <p:nvSpPr>
          <p:cNvPr id="23" name="Straight Connector 22">
            <a:extLst>
              <a:ext uri="{FF2B5EF4-FFF2-40B4-BE49-F238E27FC236}">
                <a16:creationId xmlns:a16="http://schemas.microsoft.com/office/drawing/2014/main" id="{9C7DF329-DFCD-4E94-B430-89EC9696314A}"/>
              </a:ext>
            </a:extLst>
          </p:cNvPr>
          <p:cNvSpPr>
            <a:spLocks noGrp="1"/>
          </p:cNvSpPr>
          <p:nvPr/>
        </p:nvSpPr>
        <p:spPr>
          <a:xfrm>
            <a:off x="1333500" y="4095750"/>
            <a:ext cx="9372600" cy="0"/>
          </a:xfrm>
          <a:prstGeom prst="line">
            <a:avLst/>
          </a:prstGeom>
          <a:noFill/>
          <a:ln w="19050">
            <a:solidFill>
              <a:srgbClr val="244338"/>
            </a:solidFill>
            <a:prstDash val="solid"/>
          </a:ln>
        </p:spPr>
      </p:sp>
      <p:sp>
        <p:nvSpPr>
          <p:cNvPr id="24" name="Rectangle 23">
            <a:extLst>
              <a:ext uri="{FF2B5EF4-FFF2-40B4-BE49-F238E27FC236}">
                <a16:creationId xmlns:a16="http://schemas.microsoft.com/office/drawing/2014/main" id="{45DEB495-6CF3-449C-9A2E-F2F967CCB1C5}"/>
              </a:ext>
            </a:extLst>
          </p:cNvPr>
          <p:cNvSpPr>
            <a:spLocks noGrp="1"/>
          </p:cNvSpPr>
          <p:nvPr/>
        </p:nvSpPr>
        <p:spPr>
          <a:xfrm>
            <a:off x="1771650" y="4381500"/>
            <a:ext cx="8572500" cy="514350"/>
          </a:xfrm>
          <a:prstGeom prst="rect">
            <a:avLst/>
          </a:prstGeom>
          <a:noFill/>
          <a:ln w="0">
            <a:noFill/>
          </a:ln>
        </p:spPr>
        <p:txBody>
          <a:bodyPr lIns="38100" tIns="19050" rIns="38100" bIns="19050" anchor="ctr">
            <a:normAutofit fontScale="75445"/>
          </a:bodyPr>
          <a:lstStyle/>
          <a:p>
            <a:pPr algn="ctr">
              <a:lnSpc>
                <a:spcPct val="100000"/>
              </a:lnSpc>
              <a:buNone/>
              <a:defRPr sz="2250" b="1" i="0">
                <a:solidFill>
                  <a:srgbClr val="F5F7F6"/>
                </a:solidFill>
                <a:latin typeface="Segoe UI"/>
                <a:ea typeface="Segoe UI"/>
                <a:cs typeface="Segoe UI"/>
              </a:defRPr>
            </a:pPr>
            <a:r>
              <a:rPr sz="2250" b="1" i="0">
                <a:solidFill>
                  <a:srgbClr val="F5F7F6"/>
                </a:solidFill>
                <a:latin typeface="Segoe UI"/>
                <a:ea typeface="Segoe UI"/>
                <a:cs typeface="Segoe UI"/>
              </a:rPr>
              <a:t>La même métrique devient une décision exploitable grâce à un historique normalisé</a:t>
            </a:r>
          </a:p>
        </p:txBody>
      </p:sp>
      <p:sp>
        <p:nvSpPr>
          <p:cNvPr id="25" name="Rectangle 24">
            <a:extLst>
              <a:ext uri="{FF2B5EF4-FFF2-40B4-BE49-F238E27FC236}">
                <a16:creationId xmlns:a16="http://schemas.microsoft.com/office/drawing/2014/main" id="{1CD1EDB6-6133-4789-A7ED-447B6B970F45}"/>
              </a:ext>
            </a:extLst>
          </p:cNvPr>
          <p:cNvSpPr>
            <a:spLocks noGrp="1"/>
          </p:cNvSpPr>
          <p:nvPr/>
        </p:nvSpPr>
        <p:spPr>
          <a:xfrm>
            <a:off x="2143125" y="5143500"/>
            <a:ext cx="7905750" cy="476250"/>
          </a:xfrm>
          <a:prstGeom prst="rect">
            <a:avLst/>
          </a:prstGeom>
          <a:noFill/>
          <a:ln w="0">
            <a:noFill/>
          </a:ln>
        </p:spPr>
        <p:txBody>
          <a:bodyPr lIns="38100" tIns="19050" rIns="38100" bIns="19050" anchor="ctr">
            <a:normAutofit fontScale="91270"/>
          </a:bodyPr>
          <a:lstStyle/>
          <a:p>
            <a:pPr algn="ctr">
              <a:lnSpc>
                <a:spcPct val="100000"/>
              </a:lnSpc>
              <a:buNone/>
              <a:defRPr sz="1575" b="0" i="0">
                <a:solidFill>
                  <a:srgbClr val="9BA6A0"/>
                </a:solidFill>
                <a:latin typeface="Segoe UI"/>
                <a:ea typeface="Segoe UI"/>
                <a:cs typeface="Segoe UI"/>
              </a:defRPr>
            </a:pPr>
            <a:r>
              <a:rPr sz="1575" b="0" i="0">
                <a:solidFill>
                  <a:srgbClr val="9BA6A0"/>
                </a:solidFill>
                <a:latin typeface="Segoe UI"/>
                <a:ea typeface="Segoe UI"/>
                <a:cs typeface="Segoe UI"/>
              </a:rPr>
              <a:t>Les alertes et anomalies passent en temps réel. Les risques prédictifs restent consultés séparément.</a:t>
            </a:r>
          </a:p>
        </p:txBody>
      </p:sp>
      <p:sp>
        <p:nvSpPr>
          <p:cNvPr id="26" name="Straight Connector 25">
            <a:extLst>
              <a:ext uri="{FF2B5EF4-FFF2-40B4-BE49-F238E27FC236}">
                <a16:creationId xmlns:a16="http://schemas.microsoft.com/office/drawing/2014/main" id="{A3DB865F-9BC8-4CC6-9BCE-3D68DC9CF157}"/>
              </a:ext>
            </a:extLst>
          </p:cNvPr>
          <p:cNvSpPr>
            <a:spLocks noGrp="1"/>
          </p:cNvSpPr>
          <p:nvPr/>
        </p:nvSpPr>
        <p:spPr>
          <a:xfrm>
            <a:off x="609600" y="6429375"/>
            <a:ext cx="10972800" cy="0"/>
          </a:xfrm>
          <a:prstGeom prst="line">
            <a:avLst/>
          </a:prstGeom>
          <a:noFill/>
          <a:ln w="9525">
            <a:solidFill>
              <a:srgbClr val="1B3028"/>
            </a:solidFill>
            <a:prstDash val="solid"/>
          </a:ln>
        </p:spPr>
      </p:sp>
      <p:sp>
        <p:nvSpPr>
          <p:cNvPr id="27" name="Rectangle 26">
            <a:extLst>
              <a:ext uri="{FF2B5EF4-FFF2-40B4-BE49-F238E27FC236}">
                <a16:creationId xmlns:a16="http://schemas.microsoft.com/office/drawing/2014/main" id="{B1D37243-072D-4C78-A8AE-6DE01EF6FE38}"/>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8" name="Rectangle 27">
            <a:extLst>
              <a:ext uri="{FF2B5EF4-FFF2-40B4-BE49-F238E27FC236}">
                <a16:creationId xmlns:a16="http://schemas.microsoft.com/office/drawing/2014/main" id="{D1B59F71-1137-46C6-BA51-7054F94B73A4}"/>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09</a:t>
            </a:r>
          </a:p>
        </p:txBody>
      </p:sp>
    </p:spTree>
    <p:extLst>
      <p:ext uri="{BB962C8B-B14F-4D97-AF65-F5344CB8AC3E}">
        <p14:creationId xmlns:p14="http://schemas.microsoft.com/office/powerpoint/2010/main" val="1018937672"/>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92503FF0-CC4D-4199-A485-76F7F16A624B}"/>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32DC7AE3-C043-497F-B39D-5E5804D23C0D}"/>
              </a:ext>
            </a:extLst>
          </p:cNvPr>
          <p:cNvSpPr>
            <a:spLocks noGrp="1"/>
          </p:cNvSpPr>
          <p:nvPr/>
        </p:nvSpPr>
        <p:spPr>
          <a:xfrm>
            <a:off x="609600" y="400050"/>
            <a:ext cx="9048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Des métriques à l’intelligence</a:t>
            </a:r>
          </a:p>
        </p:txBody>
      </p:sp>
      <p:sp>
        <p:nvSpPr>
          <p:cNvPr id="3" name="!!AIHistory">
            <a:extLst>
              <a:ext uri="{FF2B5EF4-FFF2-40B4-BE49-F238E27FC236}">
                <a16:creationId xmlns:a16="http://schemas.microsoft.com/office/drawing/2014/main" id="{F06765EE-661E-4473-BBC7-6763C83E2D99}"/>
              </a:ext>
            </a:extLst>
          </p:cNvPr>
          <p:cNvSpPr>
            <a:spLocks noGrp="1"/>
          </p:cNvSpPr>
          <p:nvPr/>
        </p:nvSpPr>
        <p:spPr>
          <a:xfrm>
            <a:off x="4286250" y="1238250"/>
            <a:ext cx="3619500" cy="590550"/>
          </a:xfrm>
          <a:prstGeom prst="roundRect">
            <a:avLst>
              <a:gd name="adj" fmla="val 22581"/>
            </a:avLst>
          </a:prstGeom>
          <a:solidFill>
            <a:srgbClr val="0F1A16"/>
          </a:solidFill>
          <a:ln w="9525">
            <a:solidFill>
              <a:srgbClr val="1ED760"/>
            </a:solidFill>
            <a:prstDash val="solid"/>
          </a:ln>
        </p:spPr>
        <p:txBody>
          <a:bodyPr lIns="95250" tIns="76200" rIns="95250" bIns="76200" anchor="ctr">
            <a:normAutofit fontScale="85507"/>
          </a:bodyPr>
          <a:lstStyle/>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HISTORIQUE DE MÉTRIQUES NORMALISÉES</a:t>
            </a:r>
          </a:p>
        </p:txBody>
      </p:sp>
      <p:sp>
        <p:nvSpPr>
          <p:cNvPr id="4" name="!!AIFeatures">
            <a:extLst>
              <a:ext uri="{FF2B5EF4-FFF2-40B4-BE49-F238E27FC236}">
                <a16:creationId xmlns:a16="http://schemas.microsoft.com/office/drawing/2014/main" id="{257A06A9-FB93-45E8-8DC7-5DB628796AD8}"/>
              </a:ext>
            </a:extLst>
          </p:cNvPr>
          <p:cNvSpPr>
            <a:spLocks noGrp="1"/>
          </p:cNvSpPr>
          <p:nvPr/>
        </p:nvSpPr>
        <p:spPr>
          <a:xfrm>
            <a:off x="4286250" y="2209800"/>
            <a:ext cx="3619500" cy="590550"/>
          </a:xfrm>
          <a:prstGeom prst="roundRect">
            <a:avLst>
              <a:gd name="adj" fmla="val 22581"/>
            </a:avLst>
          </a:prstGeom>
          <a:solidFill>
            <a:srgbClr val="0F1A16"/>
          </a:solidFill>
          <a:ln w="9525">
            <a:solidFill>
              <a:srgbClr val="244338"/>
            </a:solidFill>
            <a:prstDash val="solid"/>
          </a:ln>
        </p:spPr>
        <p:txBody>
          <a:bodyPr lIns="95250" tIns="76200" rIns="95250" bIns="76200" anchor="ctr">
            <a:normAutofit/>
          </a:bodyPr>
          <a:lstStyle/>
          <a:p>
            <a:pPr algn="ctr">
              <a:lnSpc>
                <a:spcPct val="100000"/>
              </a:lnSpc>
              <a:buNone/>
              <a:defRPr sz="1500" b="1">
                <a:solidFill>
                  <a:srgbClr val="F5F7F6"/>
                </a:solidFill>
                <a:latin typeface="Segoe UI"/>
                <a:ea typeface="Segoe UI"/>
                <a:cs typeface="Segoe UI"/>
              </a:defRPr>
            </a:pPr>
            <a:r>
              <a:rPr sz="1500" b="1">
                <a:solidFill>
                  <a:srgbClr val="F5F7F6"/>
                </a:solidFill>
                <a:latin typeface="Segoe UI"/>
                <a:ea typeface="Segoe UI"/>
                <a:cs typeface="Segoe UI"/>
              </a:rPr>
              <a:t>FENÊTRES 1 MIN ET FEATURES</a:t>
            </a:r>
          </a:p>
        </p:txBody>
      </p:sp>
      <p:sp>
        <p:nvSpPr>
          <p:cNvPr id="5" name="!!IsolationForest">
            <a:extLst>
              <a:ext uri="{FF2B5EF4-FFF2-40B4-BE49-F238E27FC236}">
                <a16:creationId xmlns:a16="http://schemas.microsoft.com/office/drawing/2014/main" id="{162AC5E1-22BF-474F-B842-1A15F63202C0}"/>
              </a:ext>
            </a:extLst>
          </p:cNvPr>
          <p:cNvSpPr>
            <a:spLocks noGrp="1"/>
          </p:cNvSpPr>
          <p:nvPr/>
        </p:nvSpPr>
        <p:spPr>
          <a:xfrm>
            <a:off x="1476375" y="3390900"/>
            <a:ext cx="3238500" cy="742950"/>
          </a:xfrm>
          <a:prstGeom prst="roundRect">
            <a:avLst>
              <a:gd name="adj" fmla="val 17949"/>
            </a:avLst>
          </a:prstGeom>
          <a:solidFill>
            <a:srgbClr val="0F1A16"/>
          </a:solidFill>
          <a:ln w="9525">
            <a:solidFill>
              <a:srgbClr val="37D7E8"/>
            </a:solidFill>
            <a:prstDash val="solid"/>
          </a:ln>
        </p:spPr>
        <p:txBody>
          <a:bodyPr lIns="95250" tIns="76200" rIns="95250" bIns="76200" anchor="ctr">
            <a:normAutofit/>
          </a:bodyPr>
          <a:lstStyle/>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ISOLATION FOREST</a:t>
            </a:r>
          </a:p>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Score d’anomalie</a:t>
            </a:r>
          </a:p>
        </p:txBody>
      </p:sp>
      <p:sp>
        <p:nvSpPr>
          <p:cNvPr id="6" name="!!TrendAnalysis">
            <a:extLst>
              <a:ext uri="{FF2B5EF4-FFF2-40B4-BE49-F238E27FC236}">
                <a16:creationId xmlns:a16="http://schemas.microsoft.com/office/drawing/2014/main" id="{66ECD09A-89F1-4FF3-8261-FF552C21D5F0}"/>
              </a:ext>
            </a:extLst>
          </p:cNvPr>
          <p:cNvSpPr>
            <a:spLocks noGrp="1"/>
          </p:cNvSpPr>
          <p:nvPr/>
        </p:nvSpPr>
        <p:spPr>
          <a:xfrm>
            <a:off x="7477125" y="3390900"/>
            <a:ext cx="3238500" cy="742950"/>
          </a:xfrm>
          <a:prstGeom prst="roundRect">
            <a:avLst>
              <a:gd name="adj" fmla="val 17949"/>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ANALYSE DE TENDANCE</a:t>
            </a:r>
          </a:p>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Pente, risque et ETA</a:t>
            </a:r>
          </a:p>
        </p:txBody>
      </p:sp>
      <p:sp>
        <p:nvSpPr>
          <p:cNvPr id="7" name="!!AIAnomalyResult">
            <a:extLst>
              <a:ext uri="{FF2B5EF4-FFF2-40B4-BE49-F238E27FC236}">
                <a16:creationId xmlns:a16="http://schemas.microsoft.com/office/drawing/2014/main" id="{FA43B26C-3447-4FED-910E-67B149E4C12B}"/>
              </a:ext>
            </a:extLst>
          </p:cNvPr>
          <p:cNvSpPr>
            <a:spLocks noGrp="1"/>
          </p:cNvSpPr>
          <p:nvPr/>
        </p:nvSpPr>
        <p:spPr>
          <a:xfrm>
            <a:off x="1143000" y="4857750"/>
            <a:ext cx="4095750" cy="590550"/>
          </a:xfrm>
          <a:prstGeom prst="roundRect">
            <a:avLst>
              <a:gd name="adj" fmla="val 22581"/>
            </a:avLst>
          </a:prstGeom>
          <a:solidFill>
            <a:srgbClr val="102127"/>
          </a:solidFill>
          <a:ln w="9525">
            <a:solidFill>
              <a:srgbClr val="37D7E8"/>
            </a:solidFill>
            <a:prstDash val="solid"/>
          </a:ln>
        </p:spPr>
        <p:txBody>
          <a:bodyPr lIns="95250" tIns="76200" rIns="95250" bIns="76200" anchor="ctr">
            <a:normAutofit/>
          </a:bodyPr>
          <a:lstStyle/>
          <a:p>
            <a:pPr algn="ctr">
              <a:lnSpc>
                <a:spcPct val="100000"/>
              </a:lnSpc>
              <a:buNone/>
              <a:defRPr sz="1425" b="1">
                <a:solidFill>
                  <a:srgbClr val="37D7E8"/>
                </a:solidFill>
                <a:latin typeface="Segoe UI"/>
                <a:ea typeface="Segoe UI"/>
                <a:cs typeface="Segoe UI"/>
              </a:defRPr>
            </a:pPr>
            <a:r>
              <a:rPr sz="1425" b="1">
                <a:solidFill>
                  <a:srgbClr val="37D7E8"/>
                </a:solidFill>
                <a:latin typeface="Segoe UI"/>
                <a:ea typeface="Segoe UI"/>
                <a:cs typeface="Segoe UI"/>
              </a:rPr>
              <a:t>ANOMALIE  •  SCORE  •  EXPLICATION</a:t>
            </a:r>
          </a:p>
        </p:txBody>
      </p:sp>
      <p:sp>
        <p:nvSpPr>
          <p:cNvPr id="8" name="!!AITrendResult">
            <a:extLst>
              <a:ext uri="{FF2B5EF4-FFF2-40B4-BE49-F238E27FC236}">
                <a16:creationId xmlns:a16="http://schemas.microsoft.com/office/drawing/2014/main" id="{94139B03-0366-4363-963B-EF082B2E1B2B}"/>
              </a:ext>
            </a:extLst>
          </p:cNvPr>
          <p:cNvSpPr>
            <a:spLocks noGrp="1"/>
          </p:cNvSpPr>
          <p:nvPr/>
        </p:nvSpPr>
        <p:spPr>
          <a:xfrm>
            <a:off x="6953250" y="4857750"/>
            <a:ext cx="4095750" cy="590550"/>
          </a:xfrm>
          <a:prstGeom prst="roundRect">
            <a:avLst>
              <a:gd name="adj" fmla="val 22581"/>
            </a:avLst>
          </a:prstGeom>
          <a:solidFill>
            <a:srgbClr val="0E2B1D"/>
          </a:solidFill>
          <a:ln w="9525">
            <a:solidFill>
              <a:srgbClr val="39FF88"/>
            </a:solidFill>
            <a:prstDash val="solid"/>
          </a:ln>
        </p:spPr>
        <p:txBody>
          <a:bodyPr lIns="95250" tIns="76200" rIns="95250" bIns="76200" anchor="ctr">
            <a:normAutofit/>
          </a:bodyPr>
          <a:lstStyle/>
          <a:p>
            <a:pPr algn="ctr">
              <a:lnSpc>
                <a:spcPct val="100000"/>
              </a:lnSpc>
              <a:buNone/>
              <a:defRPr sz="1425" b="1">
                <a:solidFill>
                  <a:srgbClr val="39FF88"/>
                </a:solidFill>
                <a:latin typeface="Segoe UI"/>
                <a:ea typeface="Segoe UI"/>
                <a:cs typeface="Segoe UI"/>
              </a:defRPr>
            </a:pPr>
            <a:r>
              <a:rPr sz="1425" b="1">
                <a:solidFill>
                  <a:srgbClr val="39FF88"/>
                </a:solidFill>
                <a:latin typeface="Segoe UI"/>
                <a:ea typeface="Segoe UI"/>
                <a:cs typeface="Segoe UI"/>
              </a:rPr>
              <a:t>RISQUE  •  ETA  •  AVERTISSEMENT</a:t>
            </a:r>
          </a:p>
        </p:txBody>
      </p:sp>
      <p:sp>
        <p:nvSpPr>
          <p:cNvPr id="9" name="!!AIDecision">
            <a:extLst>
              <a:ext uri="{FF2B5EF4-FFF2-40B4-BE49-F238E27FC236}">
                <a16:creationId xmlns:a16="http://schemas.microsoft.com/office/drawing/2014/main" id="{9E3EF759-D9B0-4207-AD61-4787298F08B7}"/>
              </a:ext>
            </a:extLst>
          </p:cNvPr>
          <p:cNvSpPr>
            <a:spLocks noGrp="1"/>
          </p:cNvSpPr>
          <p:nvPr/>
        </p:nvSpPr>
        <p:spPr>
          <a:xfrm>
            <a:off x="4238625" y="5810250"/>
            <a:ext cx="3714750" cy="457200"/>
          </a:xfrm>
          <a:prstGeom prst="roundRect">
            <a:avLst>
              <a:gd name="adj" fmla="val 29167"/>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350" b="1">
                <a:solidFill>
                  <a:srgbClr val="F5F7F6"/>
                </a:solidFill>
                <a:latin typeface="Segoe UI"/>
                <a:ea typeface="Segoe UI"/>
                <a:cs typeface="Segoe UI"/>
              </a:defRPr>
            </a:pPr>
            <a:r>
              <a:rPr sz="1350" b="1">
                <a:solidFill>
                  <a:srgbClr val="F5F7F6"/>
                </a:solidFill>
                <a:latin typeface="Segoe UI"/>
                <a:ea typeface="Segoe UI"/>
                <a:cs typeface="Segoe UI"/>
              </a:rPr>
              <a:t>DÉCISION OPÉRATIONNELLE</a:t>
            </a:r>
          </a:p>
        </p:txBody>
      </p:sp>
      <p:cxnSp>
        <p:nvCxnSpPr>
          <p:cNvPr id="29" name="Straight Arrow Connector 28"/>
          <p:cNvCxnSpPr>
            <a:stCxn id="3" idx="2"/>
            <a:endCxn id="4" idx="0"/>
          </p:cNvCxnSpPr>
          <p:nvPr/>
        </p:nvCxnSpPr>
        <p:spPr>
          <a:xfrm>
            <a:off x="6096000" y="1828800"/>
            <a:ext cx="0" cy="381000"/>
          </a:xfrm>
          <a:prstGeom prst="straightConnector1">
            <a:avLst/>
          </a:prstGeom>
          <a:ln w="19050">
            <a:solidFill>
              <a:srgbClr val="1ED760"/>
            </a:solidFill>
            <a:prstDash val="solid"/>
            <a:tailEnd type="arrow" w="med" len="med"/>
          </a:ln>
        </p:spPr>
      </p:cxnSp>
      <p:cxnSp>
        <p:nvCxnSpPr>
          <p:cNvPr id="30" name="Connector: Elbow 29"/>
          <p:cNvCxnSpPr>
            <a:stCxn id="4" idx="2"/>
            <a:endCxn id="5" idx="0"/>
          </p:cNvCxnSpPr>
          <p:nvPr/>
        </p:nvCxnSpPr>
        <p:spPr>
          <a:xfrm flipH="1">
            <a:off x="3095625" y="2800350"/>
            <a:ext cx="3000375" cy="590550"/>
          </a:xfrm>
          <a:prstGeom prst="bentConnector4">
            <a:avLst>
              <a:gd name="adj1" fmla="val 0"/>
              <a:gd name="adj2" fmla="val 50000"/>
            </a:avLst>
          </a:prstGeom>
          <a:ln w="19050">
            <a:solidFill>
              <a:srgbClr val="37D7E8"/>
            </a:solidFill>
            <a:prstDash val="solid"/>
            <a:tailEnd type="arrow" w="med" len="med"/>
          </a:ln>
        </p:spPr>
      </p:cxnSp>
      <p:cxnSp>
        <p:nvCxnSpPr>
          <p:cNvPr id="31" name="Connector: Elbow 30"/>
          <p:cNvCxnSpPr>
            <a:stCxn id="4" idx="2"/>
            <a:endCxn id="6" idx="0"/>
          </p:cNvCxnSpPr>
          <p:nvPr/>
        </p:nvCxnSpPr>
        <p:spPr>
          <a:xfrm>
            <a:off x="6096000" y="2800350"/>
            <a:ext cx="3000375" cy="590550"/>
          </a:xfrm>
          <a:prstGeom prst="bentConnector4">
            <a:avLst>
              <a:gd name="adj1" fmla="val 0"/>
              <a:gd name="adj2" fmla="val 50000"/>
            </a:avLst>
          </a:prstGeom>
          <a:ln w="19050">
            <a:solidFill>
              <a:srgbClr val="1ED760"/>
            </a:solidFill>
            <a:prstDash val="solid"/>
            <a:tailEnd type="arrow" w="med" len="med"/>
          </a:ln>
        </p:spPr>
      </p:cxnSp>
      <p:cxnSp>
        <p:nvCxnSpPr>
          <p:cNvPr id="32" name="Connector: Elbow 31"/>
          <p:cNvCxnSpPr>
            <a:stCxn id="5" idx="2"/>
            <a:endCxn id="7" idx="0"/>
          </p:cNvCxnSpPr>
          <p:nvPr/>
        </p:nvCxnSpPr>
        <p:spPr>
          <a:xfrm>
            <a:off x="3095625" y="4133850"/>
            <a:ext cx="95250" cy="723900"/>
          </a:xfrm>
          <a:prstGeom prst="bentConnector4">
            <a:avLst>
              <a:gd name="adj1" fmla="val 0"/>
              <a:gd name="adj2" fmla="val 50000"/>
            </a:avLst>
          </a:prstGeom>
          <a:ln w="19050">
            <a:solidFill>
              <a:srgbClr val="37D7E8"/>
            </a:solidFill>
            <a:prstDash val="solid"/>
            <a:tailEnd type="arrow" w="med" len="med"/>
          </a:ln>
        </p:spPr>
      </p:cxnSp>
      <p:cxnSp>
        <p:nvCxnSpPr>
          <p:cNvPr id="33" name="Connector: Elbow 32"/>
          <p:cNvCxnSpPr>
            <a:stCxn id="6" idx="2"/>
            <a:endCxn id="8" idx="0"/>
          </p:cNvCxnSpPr>
          <p:nvPr/>
        </p:nvCxnSpPr>
        <p:spPr>
          <a:xfrm flipH="1">
            <a:off x="9001125" y="4133850"/>
            <a:ext cx="95250" cy="723900"/>
          </a:xfrm>
          <a:prstGeom prst="bentConnector4">
            <a:avLst>
              <a:gd name="adj1" fmla="val 0"/>
              <a:gd name="adj2" fmla="val 50000"/>
            </a:avLst>
          </a:prstGeom>
          <a:ln w="19050">
            <a:solidFill>
              <a:srgbClr val="1ED760"/>
            </a:solidFill>
            <a:prstDash val="solid"/>
            <a:tailEnd type="arrow" w="med" len="med"/>
          </a:ln>
        </p:spPr>
      </p:cxnSp>
      <p:cxnSp>
        <p:nvCxnSpPr>
          <p:cNvPr id="34" name="Connector: Elbow 33"/>
          <p:cNvCxnSpPr>
            <a:stCxn id="7" idx="2"/>
            <a:endCxn id="9" idx="0"/>
          </p:cNvCxnSpPr>
          <p:nvPr/>
        </p:nvCxnSpPr>
        <p:spPr>
          <a:xfrm>
            <a:off x="3190875" y="5448300"/>
            <a:ext cx="2905125" cy="361950"/>
          </a:xfrm>
          <a:prstGeom prst="bentConnector4">
            <a:avLst>
              <a:gd name="adj1" fmla="val 0"/>
              <a:gd name="adj2" fmla="val 50000"/>
            </a:avLst>
          </a:prstGeom>
          <a:ln w="19050">
            <a:solidFill>
              <a:srgbClr val="37D7E8"/>
            </a:solidFill>
            <a:prstDash val="solid"/>
            <a:tailEnd type="arrow" w="med" len="med"/>
          </a:ln>
        </p:spPr>
      </p:cxnSp>
      <p:cxnSp>
        <p:nvCxnSpPr>
          <p:cNvPr id="35" name="Connector: Elbow 34"/>
          <p:cNvCxnSpPr>
            <a:stCxn id="8" idx="2"/>
            <a:endCxn id="9" idx="0"/>
          </p:cNvCxnSpPr>
          <p:nvPr/>
        </p:nvCxnSpPr>
        <p:spPr>
          <a:xfrm flipH="1">
            <a:off x="6096000" y="5448300"/>
            <a:ext cx="2905125" cy="361950"/>
          </a:xfrm>
          <a:prstGeom prst="bentConnector4">
            <a:avLst>
              <a:gd name="adj1" fmla="val 0"/>
              <a:gd name="adj2" fmla="val 50000"/>
            </a:avLst>
          </a:prstGeom>
          <a:ln w="19050">
            <a:solidFill>
              <a:srgbClr val="1ED760"/>
            </a:solidFill>
            <a:prstDash val="solid"/>
            <a:tailEnd type="arrow" w="med" len="med"/>
          </a:ln>
        </p:spPr>
      </p:cxnSp>
      <p:sp>
        <p:nvSpPr>
          <p:cNvPr id="17" name="Straight Connector 16">
            <a:extLst>
              <a:ext uri="{FF2B5EF4-FFF2-40B4-BE49-F238E27FC236}">
                <a16:creationId xmlns:a16="http://schemas.microsoft.com/office/drawing/2014/main" id="{604BABD7-390B-4914-AFA7-C4FB515E7E3E}"/>
              </a:ext>
            </a:extLst>
          </p:cNvPr>
          <p:cNvSpPr>
            <a:spLocks noGrp="1"/>
          </p:cNvSpPr>
          <p:nvPr/>
        </p:nvSpPr>
        <p:spPr>
          <a:xfrm>
            <a:off x="609600" y="6429375"/>
            <a:ext cx="10972800" cy="0"/>
          </a:xfrm>
          <a:prstGeom prst="line">
            <a:avLst/>
          </a:prstGeom>
          <a:noFill/>
          <a:ln w="9525">
            <a:solidFill>
              <a:srgbClr val="1B3028"/>
            </a:solidFill>
            <a:prstDash val="solid"/>
          </a:ln>
        </p:spPr>
      </p:sp>
      <p:sp>
        <p:nvSpPr>
          <p:cNvPr id="18" name="Rectangle 17">
            <a:extLst>
              <a:ext uri="{FF2B5EF4-FFF2-40B4-BE49-F238E27FC236}">
                <a16:creationId xmlns:a16="http://schemas.microsoft.com/office/drawing/2014/main" id="{716D7B5A-F91A-4F61-B6BA-323E4DC72379}"/>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9" name="Rectangle 18">
            <a:extLst>
              <a:ext uri="{FF2B5EF4-FFF2-40B4-BE49-F238E27FC236}">
                <a16:creationId xmlns:a16="http://schemas.microsoft.com/office/drawing/2014/main" id="{D4424799-889A-4382-86EA-473F105892C9}"/>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10</a:t>
            </a:r>
          </a:p>
        </p:txBody>
      </p:sp>
    </p:spTree>
    <p:extLst>
      <p:ext uri="{BB962C8B-B14F-4D97-AF65-F5344CB8AC3E}">
        <p14:creationId xmlns:p14="http://schemas.microsoft.com/office/powerpoint/2010/main" val="496058842"/>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sp>
        <p:nvSpPr>
          <p:cNvPr id="12" name="Straight Connector 11">
            <a:extLst>
              <a:ext uri="{FF2B5EF4-FFF2-40B4-BE49-F238E27FC236}">
                <a16:creationId xmlns:a16="http://schemas.microsoft.com/office/drawing/2014/main" id="{CC0DEB10-C148-492F-802C-2285D28A417F}"/>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9E8DDDC8-48D6-452C-B128-D98E1C129C68}"/>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Isolation Forest</a:t>
            </a:r>
          </a:p>
        </p:txBody>
      </p:sp>
      <p:graphicFrame>
        <p:nvGraphicFramePr>
          <p:cNvPr id="14" name="Chart"/>
          <p:cNvGraphicFramePr/>
          <p:nvPr/>
        </p:nvGraphicFramePr>
        <p:xfrm>
          <a:off x="666750" y="1333500"/>
          <a:ext cx="6858000" cy="4333875"/>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E4D69CA3-322D-4BA0-9A32-F78EADB149F8}"/>
              </a:ext>
            </a:extLst>
          </p:cNvPr>
          <p:cNvSpPr>
            <a:spLocks noGrp="1"/>
          </p:cNvSpPr>
          <p:nvPr/>
        </p:nvSpPr>
        <p:spPr>
          <a:xfrm>
            <a:off x="8096250" y="1524000"/>
            <a:ext cx="2952750" cy="323850"/>
          </a:xfrm>
          <a:prstGeom prst="rect">
            <a:avLst/>
          </a:prstGeom>
          <a:noFill/>
          <a:ln w="0">
            <a:noFill/>
          </a:ln>
        </p:spPr>
        <p:txBody>
          <a:bodyPr lIns="38100" tIns="19050" rIns="38100" bIns="19050" anchor="ctr">
            <a:normAutofit/>
          </a:bodyPr>
          <a:lstStyle/>
          <a:p>
            <a:pPr algn="l">
              <a:lnSpc>
                <a:spcPct val="100000"/>
              </a:lnSpc>
              <a:buNone/>
              <a:defRPr sz="1500" b="1" i="0">
                <a:solidFill>
                  <a:srgbClr val="39FF88"/>
                </a:solidFill>
                <a:latin typeface="Segoe UI"/>
                <a:ea typeface="Segoe UI"/>
                <a:cs typeface="Segoe UI"/>
              </a:defRPr>
            </a:pPr>
            <a:r>
              <a:rPr sz="1500" b="1" i="0">
                <a:solidFill>
                  <a:srgbClr val="39FF88"/>
                </a:solidFill>
                <a:latin typeface="Segoe UI"/>
                <a:ea typeface="Segoe UI"/>
                <a:cs typeface="Segoe UI"/>
              </a:rPr>
              <a:t>Principe</a:t>
            </a:r>
          </a:p>
        </p:txBody>
      </p:sp>
      <p:sp>
        <p:nvSpPr>
          <p:cNvPr id="5" name="Rectangle 4">
            <a:extLst>
              <a:ext uri="{FF2B5EF4-FFF2-40B4-BE49-F238E27FC236}">
                <a16:creationId xmlns:a16="http://schemas.microsoft.com/office/drawing/2014/main" id="{083CEA94-97ED-4C57-9B0B-55F171E1024B}"/>
              </a:ext>
            </a:extLst>
          </p:cNvPr>
          <p:cNvSpPr>
            <a:spLocks noGrp="1"/>
          </p:cNvSpPr>
          <p:nvPr/>
        </p:nvSpPr>
        <p:spPr>
          <a:xfrm>
            <a:off x="8058150" y="1924050"/>
            <a:ext cx="3238500" cy="1123950"/>
          </a:xfrm>
          <a:prstGeom prst="rect">
            <a:avLst/>
          </a:prstGeom>
          <a:noFill/>
          <a:ln w="0">
            <a:noFill/>
          </a:ln>
        </p:spPr>
        <p:txBody>
          <a:bodyPr lIns="38100" tIns="19050" rIns="38100" bIns="19050" anchor="ctr">
            <a:normAutofit fontScale="83774"/>
          </a:bodyPr>
          <a:lstStyle/>
          <a:p>
            <a:pPr algn="l">
              <a:lnSpc>
                <a:spcPct val="105000"/>
              </a:lnSpc>
              <a:buNone/>
              <a:defRPr sz="2025" b="1" i="0">
                <a:solidFill>
                  <a:srgbClr val="F5F7F6"/>
                </a:solidFill>
                <a:latin typeface="Segoe UI"/>
                <a:ea typeface="Segoe UI"/>
                <a:cs typeface="Segoe UI"/>
              </a:defRPr>
            </a:pPr>
            <a:r>
              <a:rPr sz="2025" b="1" i="0">
                <a:solidFill>
                  <a:srgbClr val="F5F7F6"/>
                </a:solidFill>
                <a:latin typeface="Segoe UI"/>
                <a:ea typeface="Segoe UI"/>
                <a:cs typeface="Segoe UI"/>
              </a:rPr>
              <a:t>Les observations isolées rapidement du comportement général reçoivent un score plus atypique.</a:t>
            </a:r>
          </a:p>
        </p:txBody>
      </p:sp>
      <p:sp>
        <p:nvSpPr>
          <p:cNvPr id="6" name="Straight Connector 5">
            <a:extLst>
              <a:ext uri="{FF2B5EF4-FFF2-40B4-BE49-F238E27FC236}">
                <a16:creationId xmlns:a16="http://schemas.microsoft.com/office/drawing/2014/main" id="{C7E9F249-DD4A-40D8-B66E-1256C1C69C43}"/>
              </a:ext>
            </a:extLst>
          </p:cNvPr>
          <p:cNvSpPr>
            <a:spLocks noGrp="1"/>
          </p:cNvSpPr>
          <p:nvPr/>
        </p:nvSpPr>
        <p:spPr>
          <a:xfrm>
            <a:off x="8096250" y="3295650"/>
            <a:ext cx="1143000" cy="0"/>
          </a:xfrm>
          <a:prstGeom prst="line">
            <a:avLst/>
          </a:prstGeom>
          <a:noFill/>
          <a:ln w="38100">
            <a:solidFill>
              <a:srgbClr val="1ED760"/>
            </a:solidFill>
            <a:prstDash val="solid"/>
          </a:ln>
        </p:spPr>
      </p:sp>
      <p:sp>
        <p:nvSpPr>
          <p:cNvPr id="7" name="Rectangle 6">
            <a:extLst>
              <a:ext uri="{FF2B5EF4-FFF2-40B4-BE49-F238E27FC236}">
                <a16:creationId xmlns:a16="http://schemas.microsoft.com/office/drawing/2014/main" id="{6F478C85-75E5-4BA1-8199-10C7FCB54E32}"/>
              </a:ext>
            </a:extLst>
          </p:cNvPr>
          <p:cNvSpPr>
            <a:spLocks noGrp="1"/>
          </p:cNvSpPr>
          <p:nvPr/>
        </p:nvSpPr>
        <p:spPr>
          <a:xfrm>
            <a:off x="8096250" y="3562350"/>
            <a:ext cx="2952750" cy="323850"/>
          </a:xfrm>
          <a:prstGeom prst="rect">
            <a:avLst/>
          </a:prstGeom>
          <a:noFill/>
          <a:ln w="0">
            <a:noFill/>
          </a:ln>
        </p:spPr>
        <p:txBody>
          <a:bodyPr lIns="38100" tIns="19050" rIns="38100" bIns="19050" anchor="ctr">
            <a:normAutofit/>
          </a:bodyPr>
          <a:lstStyle/>
          <a:p>
            <a:pPr algn="l">
              <a:lnSpc>
                <a:spcPct val="100000"/>
              </a:lnSpc>
              <a:buNone/>
              <a:defRPr sz="1500" b="1" i="0">
                <a:solidFill>
                  <a:srgbClr val="39FF88"/>
                </a:solidFill>
                <a:latin typeface="Segoe UI"/>
                <a:ea typeface="Segoe UI"/>
                <a:cs typeface="Segoe UI"/>
              </a:defRPr>
            </a:pPr>
            <a:r>
              <a:rPr sz="1500" b="1" i="0">
                <a:solidFill>
                  <a:srgbClr val="39FF88"/>
                </a:solidFill>
                <a:latin typeface="Segoe UI"/>
                <a:ea typeface="Segoe UI"/>
                <a:cs typeface="Segoe UI"/>
              </a:rPr>
              <a:t>Dans le projet</a:t>
            </a:r>
          </a:p>
        </p:txBody>
      </p:sp>
      <p:sp>
        <p:nvSpPr>
          <p:cNvPr id="8" name="Rectangle 7">
            <a:extLst>
              <a:ext uri="{FF2B5EF4-FFF2-40B4-BE49-F238E27FC236}">
                <a16:creationId xmlns:a16="http://schemas.microsoft.com/office/drawing/2014/main" id="{01996775-62F5-4B38-9F47-A37DF490B1FF}"/>
              </a:ext>
            </a:extLst>
          </p:cNvPr>
          <p:cNvSpPr>
            <a:spLocks noGrp="1"/>
          </p:cNvSpPr>
          <p:nvPr/>
        </p:nvSpPr>
        <p:spPr>
          <a:xfrm>
            <a:off x="8058150" y="3943350"/>
            <a:ext cx="3238500" cy="1428750"/>
          </a:xfrm>
          <a:prstGeom prst="rect">
            <a:avLst/>
          </a:prstGeom>
          <a:noFill/>
          <a:ln w="0">
            <a:noFill/>
          </a:ln>
        </p:spPr>
        <p:txBody>
          <a:bodyPr lIns="38100" tIns="19050" rIns="38100" bIns="19050" anchor="ctr">
            <a:normAutofit fontScale="96707"/>
          </a:bodyPr>
          <a:lstStyle/>
          <a:p>
            <a:pPr algn="l">
              <a:lnSpc>
                <a:spcPct val="115000"/>
              </a:lnSpc>
              <a:buNone/>
              <a:defRPr sz="1725" b="0" i="0">
                <a:solidFill>
                  <a:srgbClr val="F5F7F6"/>
                </a:solidFill>
                <a:latin typeface="Segoe UI"/>
                <a:ea typeface="Segoe UI"/>
                <a:cs typeface="Segoe UI"/>
              </a:defRPr>
            </a:pPr>
            <a:r>
              <a:rPr sz="1725" b="0" i="0">
                <a:solidFill>
                  <a:srgbClr val="F5F7F6"/>
                </a:solidFill>
                <a:latin typeface="Segoe UI"/>
                <a:ea typeface="Segoe UI"/>
                <a:cs typeface="Segoe UI"/>
              </a:rPr>
              <a:t>6 features</a:t>
            </a:r>
          </a:p>
          <a:p>
            <a:pPr algn="l">
              <a:lnSpc>
                <a:spcPct val="115000"/>
              </a:lnSpc>
              <a:buNone/>
              <a:defRPr sz="1725" b="0" i="0">
                <a:solidFill>
                  <a:srgbClr val="F5F7F6"/>
                </a:solidFill>
                <a:latin typeface="Segoe UI"/>
                <a:ea typeface="Segoe UI"/>
                <a:cs typeface="Segoe UI"/>
              </a:defRPr>
            </a:pPr>
            <a:r>
              <a:rPr sz="1725" b="0" i="0">
                <a:solidFill>
                  <a:srgbClr val="F5F7F6"/>
                </a:solidFill>
                <a:latin typeface="Segoe UI"/>
                <a:ea typeface="Segoe UI"/>
                <a:cs typeface="Segoe UI"/>
              </a:rPr>
              <a:t>200 estimateurs</a:t>
            </a:r>
          </a:p>
          <a:p>
            <a:pPr algn="l">
              <a:lnSpc>
                <a:spcPct val="115000"/>
              </a:lnSpc>
              <a:buNone/>
              <a:defRPr sz="1725" b="0" i="0">
                <a:solidFill>
                  <a:srgbClr val="F5F7F6"/>
                </a:solidFill>
                <a:latin typeface="Segoe UI"/>
                <a:ea typeface="Segoe UI"/>
                <a:cs typeface="Segoe UI"/>
              </a:defRPr>
            </a:pPr>
            <a:r>
              <a:rPr sz="1725" b="0" i="0">
                <a:solidFill>
                  <a:srgbClr val="F5F7F6"/>
                </a:solidFill>
                <a:latin typeface="Segoe UI"/>
                <a:ea typeface="Segoe UI"/>
                <a:cs typeface="Segoe UI"/>
              </a:rPr>
              <a:t>Contamination 2 %</a:t>
            </a:r>
          </a:p>
          <a:p>
            <a:pPr algn="l">
              <a:lnSpc>
                <a:spcPct val="115000"/>
              </a:lnSpc>
              <a:buNone/>
              <a:defRPr sz="1725" b="0" i="0">
                <a:solidFill>
                  <a:srgbClr val="F5F7F6"/>
                </a:solidFill>
                <a:latin typeface="Segoe UI"/>
                <a:ea typeface="Segoe UI"/>
                <a:cs typeface="Segoe UI"/>
              </a:defRPr>
            </a:pPr>
            <a:r>
              <a:rPr sz="1725" b="0" i="0">
                <a:solidFill>
                  <a:srgbClr val="F5F7F6"/>
                </a:solidFill>
                <a:latin typeface="Segoe UI"/>
                <a:ea typeface="Segoe UI"/>
                <a:cs typeface="Segoe UI"/>
              </a:rPr>
              <a:t>Validation sur données contrôlées</a:t>
            </a:r>
          </a:p>
        </p:txBody>
      </p:sp>
      <p:sp>
        <p:nvSpPr>
          <p:cNvPr id="9" name="Straight Connector 8">
            <a:extLst>
              <a:ext uri="{FF2B5EF4-FFF2-40B4-BE49-F238E27FC236}">
                <a16:creationId xmlns:a16="http://schemas.microsoft.com/office/drawing/2014/main" id="{B4FC761C-1574-49D3-99FA-C5588EF23EBF}"/>
              </a:ext>
            </a:extLst>
          </p:cNvPr>
          <p:cNvSpPr>
            <a:spLocks noGrp="1"/>
          </p:cNvSpPr>
          <p:nvPr/>
        </p:nvSpPr>
        <p:spPr>
          <a:xfrm>
            <a:off x="609600" y="6429375"/>
            <a:ext cx="10972800" cy="0"/>
          </a:xfrm>
          <a:prstGeom prst="line">
            <a:avLst/>
          </a:prstGeom>
          <a:noFill/>
          <a:ln w="9525">
            <a:solidFill>
              <a:srgbClr val="1B3028"/>
            </a:solidFill>
            <a:prstDash val="solid"/>
          </a:ln>
        </p:spPr>
      </p:sp>
      <p:sp>
        <p:nvSpPr>
          <p:cNvPr id="10" name="Rectangle 9">
            <a:extLst>
              <a:ext uri="{FF2B5EF4-FFF2-40B4-BE49-F238E27FC236}">
                <a16:creationId xmlns:a16="http://schemas.microsoft.com/office/drawing/2014/main" id="{4FF9DC9D-9E3C-4AE4-A656-AD10FD1ABA0C}"/>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1" name="Rectangle 10">
            <a:extLst>
              <a:ext uri="{FF2B5EF4-FFF2-40B4-BE49-F238E27FC236}">
                <a16:creationId xmlns:a16="http://schemas.microsoft.com/office/drawing/2014/main" id="{6C216696-191E-4AF8-92D1-9CD3AAEA539F}"/>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11</a:t>
            </a:r>
          </a:p>
        </p:txBody>
      </p:sp>
    </p:spTree>
    <p:extLst>
      <p:ext uri="{BB962C8B-B14F-4D97-AF65-F5344CB8AC3E}">
        <p14:creationId xmlns:p14="http://schemas.microsoft.com/office/powerpoint/2010/main" val="446330999"/>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15" name="Straight Connector 14">
            <a:extLst>
              <a:ext uri="{FF2B5EF4-FFF2-40B4-BE49-F238E27FC236}">
                <a16:creationId xmlns:a16="http://schemas.microsoft.com/office/drawing/2014/main" id="{2E8D07A0-7741-40CC-A0B6-317F12430D99}"/>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C3E89EAC-9E83-4F59-A1CE-9B233EBABE2F}"/>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Analyse prédictive</a:t>
            </a:r>
          </a:p>
        </p:txBody>
      </p:sp>
      <p:graphicFrame>
        <p:nvGraphicFramePr>
          <p:cNvPr id="17" name="Chart"/>
          <p:cNvGraphicFramePr/>
          <p:nvPr/>
        </p:nvGraphicFramePr>
        <p:xfrm>
          <a:off x="666750" y="1381125"/>
          <a:ext cx="78105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D299B14F-9931-40C2-91D1-B85FA70F2803}"/>
              </a:ext>
            </a:extLst>
          </p:cNvPr>
          <p:cNvSpPr>
            <a:spLocks noGrp="1"/>
          </p:cNvSpPr>
          <p:nvPr/>
        </p:nvSpPr>
        <p:spPr>
          <a:xfrm>
            <a:off x="9048750" y="1638300"/>
            <a:ext cx="1905000" cy="762000"/>
          </a:xfrm>
          <a:prstGeom prst="rect">
            <a:avLst/>
          </a:prstGeom>
          <a:noFill/>
          <a:ln w="0">
            <a:noFill/>
          </a:ln>
        </p:spPr>
        <p:txBody>
          <a:bodyPr lIns="38100" tIns="19050" rIns="38100" bIns="19050" anchor="ctr">
            <a:noAutofit/>
          </a:bodyPr>
          <a:lstStyle/>
          <a:p>
            <a:pPr algn="ctr">
              <a:lnSpc>
                <a:spcPct val="100000"/>
              </a:lnSpc>
              <a:buNone/>
              <a:defRPr sz="4950" b="1" i="0">
                <a:solidFill>
                  <a:srgbClr val="FF5C7A"/>
                </a:solidFill>
                <a:latin typeface="Segoe UI"/>
                <a:ea typeface="Segoe UI"/>
                <a:cs typeface="Segoe UI"/>
              </a:defRPr>
            </a:pPr>
            <a:r>
              <a:rPr sz="4950" b="1" i="0">
                <a:solidFill>
                  <a:srgbClr val="FF5C7A"/>
                </a:solidFill>
                <a:latin typeface="Segoe UI"/>
                <a:ea typeface="Segoe UI"/>
                <a:cs typeface="Segoe UI"/>
              </a:rPr>
              <a:t>70</a:t>
            </a:r>
          </a:p>
        </p:txBody>
      </p:sp>
      <p:sp>
        <p:nvSpPr>
          <p:cNvPr id="5" name="Rectangle 4">
            <a:extLst>
              <a:ext uri="{FF2B5EF4-FFF2-40B4-BE49-F238E27FC236}">
                <a16:creationId xmlns:a16="http://schemas.microsoft.com/office/drawing/2014/main" id="{4864AD5A-A1A7-44EB-8BED-DE26B4E97736}"/>
              </a:ext>
            </a:extLst>
          </p:cNvPr>
          <p:cNvSpPr>
            <a:spLocks noGrp="1"/>
          </p:cNvSpPr>
          <p:nvPr/>
        </p:nvSpPr>
        <p:spPr>
          <a:xfrm>
            <a:off x="9048750" y="2419350"/>
            <a:ext cx="1905000" cy="266700"/>
          </a:xfrm>
          <a:prstGeom prst="rect">
            <a:avLst/>
          </a:prstGeom>
          <a:noFill/>
          <a:ln w="0">
            <a:noFill/>
          </a:ln>
        </p:spPr>
        <p:txBody>
          <a:bodyPr lIns="38100" tIns="19050" rIns="38100" bIns="19050" anchor="ctr">
            <a:normAutofit/>
          </a:bodyPr>
          <a:lstStyle/>
          <a:p>
            <a:pPr algn="ctr">
              <a:lnSpc>
                <a:spcPct val="100000"/>
              </a:lnSpc>
              <a:buNone/>
              <a:defRPr sz="1200" b="1" i="0">
                <a:solidFill>
                  <a:srgbClr val="9BA6A0"/>
                </a:solidFill>
                <a:latin typeface="Segoe UI"/>
                <a:ea typeface="Segoe UI"/>
                <a:cs typeface="Segoe UI"/>
              </a:defRPr>
            </a:pPr>
            <a:r>
              <a:rPr sz="1200" b="1" i="0">
                <a:solidFill>
                  <a:srgbClr val="9BA6A0"/>
                </a:solidFill>
                <a:latin typeface="Segoe UI"/>
                <a:ea typeface="Segoe UI"/>
                <a:cs typeface="Segoe UI"/>
              </a:rPr>
              <a:t>RISQUE SUR 100</a:t>
            </a:r>
          </a:p>
        </p:txBody>
      </p:sp>
      <p:sp>
        <p:nvSpPr>
          <p:cNvPr id="6" name="Straight Connector 5">
            <a:extLst>
              <a:ext uri="{FF2B5EF4-FFF2-40B4-BE49-F238E27FC236}">
                <a16:creationId xmlns:a16="http://schemas.microsoft.com/office/drawing/2014/main" id="{10CD7992-9AC2-40FA-A57C-0B85073DA4E6}"/>
              </a:ext>
            </a:extLst>
          </p:cNvPr>
          <p:cNvSpPr>
            <a:spLocks noGrp="1"/>
          </p:cNvSpPr>
          <p:nvPr/>
        </p:nvSpPr>
        <p:spPr>
          <a:xfrm>
            <a:off x="9296400" y="2990850"/>
            <a:ext cx="1428750" cy="0"/>
          </a:xfrm>
          <a:prstGeom prst="line">
            <a:avLst/>
          </a:prstGeom>
          <a:noFill/>
          <a:ln w="38100">
            <a:solidFill>
              <a:srgbClr val="1ED760"/>
            </a:solidFill>
            <a:prstDash val="solid"/>
          </a:ln>
        </p:spPr>
      </p:sp>
      <p:sp>
        <p:nvSpPr>
          <p:cNvPr id="7" name="Rectangle 6">
            <a:extLst>
              <a:ext uri="{FF2B5EF4-FFF2-40B4-BE49-F238E27FC236}">
                <a16:creationId xmlns:a16="http://schemas.microsoft.com/office/drawing/2014/main" id="{2BB380D4-A32D-4281-883D-F42CFBA3FC67}"/>
              </a:ext>
            </a:extLst>
          </p:cNvPr>
          <p:cNvSpPr>
            <a:spLocks noGrp="1"/>
          </p:cNvSpPr>
          <p:nvPr/>
        </p:nvSpPr>
        <p:spPr>
          <a:xfrm>
            <a:off x="8763000" y="3257550"/>
            <a:ext cx="2476500" cy="323850"/>
          </a:xfrm>
          <a:prstGeom prst="rect">
            <a:avLst/>
          </a:prstGeom>
          <a:noFill/>
          <a:ln w="0">
            <a:noFill/>
          </a:ln>
        </p:spPr>
        <p:txBody>
          <a:bodyPr lIns="38100" tIns="19050" rIns="38100" bIns="19050" anchor="ctr">
            <a:normAutofit/>
          </a:bodyPr>
          <a:lstStyle/>
          <a:p>
            <a:pPr algn="ctr">
              <a:lnSpc>
                <a:spcPct val="100000"/>
              </a:lnSpc>
              <a:buNone/>
              <a:defRPr sz="1800" b="1" i="0">
                <a:solidFill>
                  <a:srgbClr val="F5F7F6"/>
                </a:solidFill>
                <a:latin typeface="Segoe UI"/>
                <a:ea typeface="Segoe UI"/>
                <a:cs typeface="Segoe UI"/>
              </a:defRPr>
            </a:pPr>
            <a:r>
              <a:rPr sz="1800" b="1" i="0">
                <a:solidFill>
                  <a:srgbClr val="F5F7F6"/>
                </a:solidFill>
                <a:latin typeface="Segoe UI"/>
                <a:ea typeface="Segoe UI"/>
                <a:cs typeface="Segoe UI"/>
              </a:rPr>
              <a:t>Tendance croissante</a:t>
            </a:r>
          </a:p>
        </p:txBody>
      </p:sp>
      <p:sp>
        <p:nvSpPr>
          <p:cNvPr id="8" name="Rectangle 7">
            <a:extLst>
              <a:ext uri="{FF2B5EF4-FFF2-40B4-BE49-F238E27FC236}">
                <a16:creationId xmlns:a16="http://schemas.microsoft.com/office/drawing/2014/main" id="{CA157F2F-53E9-4D07-8E06-CAC12C594A90}"/>
              </a:ext>
            </a:extLst>
          </p:cNvPr>
          <p:cNvSpPr>
            <a:spLocks noGrp="1"/>
          </p:cNvSpPr>
          <p:nvPr/>
        </p:nvSpPr>
        <p:spPr>
          <a:xfrm>
            <a:off x="8763000" y="3638550"/>
            <a:ext cx="2476500" cy="285750"/>
          </a:xfrm>
          <a:prstGeom prst="rect">
            <a:avLst/>
          </a:prstGeom>
          <a:noFill/>
          <a:ln w="0">
            <a:noFill/>
          </a:ln>
        </p:spPr>
        <p:txBody>
          <a:bodyPr lIns="38100" tIns="19050" rIns="38100" bIns="19050" anchor="ctr">
            <a:normAutofit/>
          </a:bodyPr>
          <a:lstStyle/>
          <a:p>
            <a:pPr algn="ctr">
              <a:lnSpc>
                <a:spcPct val="100000"/>
              </a:lnSpc>
              <a:buNone/>
              <a:defRPr sz="1500" b="0" i="0">
                <a:solidFill>
                  <a:srgbClr val="39FF88"/>
                </a:solidFill>
                <a:latin typeface="Segoe UI"/>
                <a:ea typeface="Segoe UI"/>
                <a:cs typeface="Segoe UI"/>
              </a:defRPr>
            </a:pPr>
            <a:r>
              <a:rPr sz="1500" b="0" i="0">
                <a:solidFill>
                  <a:srgbClr val="39FF88"/>
                </a:solidFill>
                <a:latin typeface="Segoe UI"/>
                <a:ea typeface="Segoe UI"/>
                <a:cs typeface="Segoe UI"/>
              </a:rPr>
              <a:t>+4 points par heure</a:t>
            </a:r>
          </a:p>
        </p:txBody>
      </p:sp>
      <p:sp>
        <p:nvSpPr>
          <p:cNvPr id="9" name="Rectangle 8">
            <a:extLst>
              <a:ext uri="{FF2B5EF4-FFF2-40B4-BE49-F238E27FC236}">
                <a16:creationId xmlns:a16="http://schemas.microsoft.com/office/drawing/2014/main" id="{08D16308-B5C6-47D2-B841-B0E9A80D6BBC}"/>
              </a:ext>
            </a:extLst>
          </p:cNvPr>
          <p:cNvSpPr>
            <a:spLocks noGrp="1"/>
          </p:cNvSpPr>
          <p:nvPr/>
        </p:nvSpPr>
        <p:spPr>
          <a:xfrm>
            <a:off x="8763000" y="4171950"/>
            <a:ext cx="2476500" cy="742950"/>
          </a:xfrm>
          <a:prstGeom prst="rect">
            <a:avLst/>
          </a:prstGeom>
          <a:noFill/>
          <a:ln w="0">
            <a:noFill/>
          </a:ln>
        </p:spPr>
        <p:txBody>
          <a:bodyPr lIns="38100" tIns="19050" rIns="38100" bIns="19050" anchor="ctr">
            <a:normAutofit fontScale="94234"/>
          </a:bodyPr>
          <a:lstStyle/>
          <a:p>
            <a:pPr algn="ctr">
              <a:lnSpc>
                <a:spcPct val="100000"/>
              </a:lnSpc>
              <a:buNone/>
              <a:defRPr sz="1875" b="1" i="0">
                <a:solidFill>
                  <a:srgbClr val="F5F7F6"/>
                </a:solidFill>
                <a:latin typeface="Segoe UI"/>
                <a:ea typeface="Segoe UI"/>
                <a:cs typeface="Segoe UI"/>
              </a:defRPr>
            </a:pPr>
            <a:r>
              <a:rPr sz="1875" b="1" i="0">
                <a:solidFill>
                  <a:srgbClr val="F5F7F6"/>
                </a:solidFill>
                <a:latin typeface="Segoe UI"/>
                <a:ea typeface="Segoe UI"/>
                <a:cs typeface="Segoe UI"/>
              </a:rPr>
              <a:t>Franchissement estimé</a:t>
            </a:r>
          </a:p>
          <a:p>
            <a:pPr algn="ctr">
              <a:lnSpc>
                <a:spcPct val="100000"/>
              </a:lnSpc>
              <a:buNone/>
              <a:defRPr sz="1875" b="1" i="0">
                <a:solidFill>
                  <a:srgbClr val="F5F7F6"/>
                </a:solidFill>
                <a:latin typeface="Segoe UI"/>
                <a:ea typeface="Segoe UI"/>
                <a:cs typeface="Segoe UI"/>
              </a:defRPr>
            </a:pPr>
            <a:r>
              <a:rPr sz="1875" b="1" i="0">
                <a:solidFill>
                  <a:srgbClr val="F5F7F6"/>
                </a:solidFill>
                <a:latin typeface="Segoe UI"/>
                <a:ea typeface="Segoe UI"/>
                <a:cs typeface="Segoe UI"/>
              </a:rPr>
              <a:t>environ 3 h 45</a:t>
            </a:r>
          </a:p>
        </p:txBody>
      </p:sp>
      <p:sp>
        <p:nvSpPr>
          <p:cNvPr id="10" name="Rectangle 9">
            <a:extLst>
              <a:ext uri="{FF2B5EF4-FFF2-40B4-BE49-F238E27FC236}">
                <a16:creationId xmlns:a16="http://schemas.microsoft.com/office/drawing/2014/main" id="{2133E3C3-7CAD-4FFE-91CE-B06F14A26C36}"/>
              </a:ext>
            </a:extLst>
          </p:cNvPr>
          <p:cNvSpPr>
            <a:spLocks noGrp="1"/>
          </p:cNvSpPr>
          <p:nvPr/>
        </p:nvSpPr>
        <p:spPr>
          <a:xfrm>
            <a:off x="8743950" y="5143500"/>
            <a:ext cx="2524125" cy="552450"/>
          </a:xfrm>
          <a:prstGeom prst="rect">
            <a:avLst/>
          </a:prstGeom>
          <a:noFill/>
          <a:ln w="0">
            <a:noFill/>
          </a:ln>
        </p:spPr>
        <p:txBody>
          <a:bodyPr lIns="38100" tIns="19050" rIns="38100" bIns="19050" anchor="ctr">
            <a:normAutofit fontScale="88235"/>
          </a:bodyPr>
          <a:lstStyle/>
          <a:p>
            <a:pPr algn="ctr">
              <a:lnSpc>
                <a:spcPct val="100000"/>
              </a:lnSpc>
              <a:buNone/>
              <a:defRPr sz="1275" b="0" i="1">
                <a:solidFill>
                  <a:srgbClr val="9BA6A0"/>
                </a:solidFill>
                <a:latin typeface="Segoe UI"/>
                <a:ea typeface="Segoe UI"/>
                <a:cs typeface="Segoe UI"/>
              </a:defRPr>
            </a:pPr>
            <a:r>
              <a:rPr sz="1275" b="0" i="1">
                <a:solidFill>
                  <a:srgbClr val="9BA6A0"/>
                </a:solidFill>
                <a:latin typeface="Segoe UI"/>
                <a:ea typeface="Segoe UI"/>
                <a:cs typeface="Segoe UI"/>
              </a:rPr>
              <a:t>Estimation linéaire sur données contrôlées, jamais une certitude de panne</a:t>
            </a:r>
          </a:p>
        </p:txBody>
      </p:sp>
      <p:sp>
        <p:nvSpPr>
          <p:cNvPr id="11" name="Rectangle 10">
            <a:extLst>
              <a:ext uri="{FF2B5EF4-FFF2-40B4-BE49-F238E27FC236}">
                <a16:creationId xmlns:a16="http://schemas.microsoft.com/office/drawing/2014/main" id="{45230B56-2AAC-49A4-A66F-F09D1D3BD15F}"/>
              </a:ext>
            </a:extLst>
          </p:cNvPr>
          <p:cNvSpPr>
            <a:spLocks noGrp="1"/>
          </p:cNvSpPr>
          <p:nvPr/>
        </p:nvSpPr>
        <p:spPr>
          <a:xfrm>
            <a:off x="857250" y="5638800"/>
            <a:ext cx="7524750" cy="266700"/>
          </a:xfrm>
          <a:prstGeom prst="rect">
            <a:avLst/>
          </a:prstGeom>
          <a:noFill/>
          <a:ln w="0">
            <a:noFill/>
          </a:ln>
        </p:spPr>
        <p:txBody>
          <a:bodyPr lIns="38100" tIns="19050" rIns="38100" bIns="19050" anchor="ctr">
            <a:normAutofit/>
          </a:bodyPr>
          <a:lstStyle/>
          <a:p>
            <a:pPr algn="ctr">
              <a:lnSpc>
                <a:spcPct val="100000"/>
              </a:lnSpc>
              <a:buNone/>
              <a:defRPr sz="1200" b="0" i="0">
                <a:solidFill>
                  <a:srgbClr val="9BA6A0"/>
                </a:solidFill>
                <a:latin typeface="Segoe UI"/>
                <a:ea typeface="Segoe UI"/>
                <a:cs typeface="Segoe UI"/>
              </a:defRPr>
            </a:pPr>
            <a:r>
              <a:rPr sz="1200" b="0" i="0">
                <a:solidFill>
                  <a:srgbClr val="9BA6A0"/>
                </a:solidFill>
                <a:latin typeface="Segoe UI"/>
                <a:ea typeface="Segoe UI"/>
                <a:cs typeface="Segoe UI"/>
              </a:rPr>
              <a:t>Base : moyenne glissante 70 % • dernière valeur 74 % • seuil de règle 85 %</a:t>
            </a:r>
          </a:p>
        </p:txBody>
      </p:sp>
      <p:sp>
        <p:nvSpPr>
          <p:cNvPr id="12" name="Straight Connector 11">
            <a:extLst>
              <a:ext uri="{FF2B5EF4-FFF2-40B4-BE49-F238E27FC236}">
                <a16:creationId xmlns:a16="http://schemas.microsoft.com/office/drawing/2014/main" id="{F156D5E6-A3A7-4946-B4A0-28C9578C5706}"/>
              </a:ext>
            </a:extLst>
          </p:cNvPr>
          <p:cNvSpPr>
            <a:spLocks noGrp="1"/>
          </p:cNvSpPr>
          <p:nvPr/>
        </p:nvSpPr>
        <p:spPr>
          <a:xfrm>
            <a:off x="609600" y="6429375"/>
            <a:ext cx="10972800" cy="0"/>
          </a:xfrm>
          <a:prstGeom prst="line">
            <a:avLst/>
          </a:prstGeom>
          <a:noFill/>
          <a:ln w="9525">
            <a:solidFill>
              <a:srgbClr val="1B3028"/>
            </a:solidFill>
            <a:prstDash val="solid"/>
          </a:ln>
        </p:spPr>
      </p:sp>
      <p:sp>
        <p:nvSpPr>
          <p:cNvPr id="13" name="Rectangle 12">
            <a:extLst>
              <a:ext uri="{FF2B5EF4-FFF2-40B4-BE49-F238E27FC236}">
                <a16:creationId xmlns:a16="http://schemas.microsoft.com/office/drawing/2014/main" id="{67305167-CB03-4076-A8EB-470BC252ED6C}"/>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4" name="Rectangle 13">
            <a:extLst>
              <a:ext uri="{FF2B5EF4-FFF2-40B4-BE49-F238E27FC236}">
                <a16:creationId xmlns:a16="http://schemas.microsoft.com/office/drawing/2014/main" id="{AE570A12-D1E3-493B-833C-CC5D8D239AD1}"/>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12</a:t>
            </a:r>
          </a:p>
        </p:txBody>
      </p:sp>
    </p:spTree>
    <p:extLst>
      <p:ext uri="{BB962C8B-B14F-4D97-AF65-F5344CB8AC3E}">
        <p14:creationId xmlns:p14="http://schemas.microsoft.com/office/powerpoint/2010/main" val="1045823858"/>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sp>
        <p:nvSpPr>
          <p:cNvPr id="10" name="Straight Connector 9">
            <a:extLst>
              <a:ext uri="{FF2B5EF4-FFF2-40B4-BE49-F238E27FC236}">
                <a16:creationId xmlns:a16="http://schemas.microsoft.com/office/drawing/2014/main" id="{DCF85EB5-F270-4859-B99F-3085CAB3AF85}"/>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30D8E8A5-FF22-4377-B2C4-BDDB59C926C6}"/>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Tableau de bord opérationnel</a:t>
            </a:r>
          </a:p>
        </p:txBody>
      </p:sp>
      <p:pic>
        <p:nvPicPr>
          <p:cNvPr id="12" name="!!DashboardView"/>
          <p:cNvPicPr>
            <a:picLocks noChangeAspect="1"/>
          </p:cNvPicPr>
          <p:nvPr/>
        </p:nvPicPr>
        <p:blipFill>
          <a:blip r:embed="rId3"/>
          <a:stretch/>
        </p:blipFill>
        <p:spPr>
          <a:xfrm>
            <a:off x="1796027" y="1143000"/>
            <a:ext cx="8599947" cy="4762500"/>
          </a:xfrm>
          <a:prstGeom prst="roundRect">
            <a:avLst>
              <a:gd name="adj" fmla="val 3600"/>
            </a:avLst>
          </a:prstGeom>
        </p:spPr>
      </p:pic>
      <p:sp>
        <p:nvSpPr>
          <p:cNvPr id="4" name="Rectangle: Rounded Corners 3">
            <a:extLst>
              <a:ext uri="{FF2B5EF4-FFF2-40B4-BE49-F238E27FC236}">
                <a16:creationId xmlns:a16="http://schemas.microsoft.com/office/drawing/2014/main" id="{DD40242C-8686-48A8-896B-AFCECC80D2B7}"/>
              </a:ext>
            </a:extLst>
          </p:cNvPr>
          <p:cNvSpPr>
            <a:spLocks noGrp="1"/>
          </p:cNvSpPr>
          <p:nvPr/>
        </p:nvSpPr>
        <p:spPr>
          <a:xfrm>
            <a:off x="609600" y="1143000"/>
            <a:ext cx="10972800" cy="4762500"/>
          </a:xfrm>
          <a:prstGeom prst="roundRect">
            <a:avLst>
              <a:gd name="adj" fmla="val 3600"/>
            </a:avLst>
          </a:prstGeom>
          <a:solidFill>
            <a:srgbClr val="000000">
              <a:alpha val="0"/>
            </a:srgbClr>
          </a:solidFill>
          <a:ln w="19050">
            <a:solidFill>
              <a:srgbClr val="244338"/>
            </a:solidFill>
            <a:prstDash val="solid"/>
          </a:ln>
        </p:spPr>
      </p:sp>
      <p:sp>
        <p:nvSpPr>
          <p:cNvPr id="5" name="Rectangle: Rounded Corners 4">
            <a:extLst>
              <a:ext uri="{FF2B5EF4-FFF2-40B4-BE49-F238E27FC236}">
                <a16:creationId xmlns:a16="http://schemas.microsoft.com/office/drawing/2014/main" id="{E70CC49A-94A7-44E4-805C-AF6C34E21040}"/>
              </a:ext>
            </a:extLst>
          </p:cNvPr>
          <p:cNvSpPr>
            <a:spLocks noGrp="1"/>
          </p:cNvSpPr>
          <p:nvPr/>
        </p:nvSpPr>
        <p:spPr>
          <a:xfrm>
            <a:off x="8648700" y="819150"/>
            <a:ext cx="2933700" cy="285750"/>
          </a:xfrm>
          <a:prstGeom prst="roundRect">
            <a:avLst>
              <a:gd name="adj" fmla="val 50000"/>
            </a:avLst>
          </a:prstGeom>
          <a:solidFill>
            <a:srgbClr val="0E2B1D"/>
          </a:solidFill>
          <a:ln w="9525">
            <a:solidFill>
              <a:srgbClr val="2A5747"/>
            </a:solidFill>
            <a:prstDash val="solid"/>
          </a:ln>
        </p:spPr>
        <p:txBody>
          <a:bodyPr lIns="76200" tIns="38100" rIns="76200" bIns="38100" anchor="ctr">
            <a:normAutofit fontScale="78651"/>
          </a:bodyPr>
          <a:lstStyle/>
          <a:p>
            <a:pPr algn="ctr">
              <a:lnSpc>
                <a:spcPct val="100000"/>
              </a:lnSpc>
              <a:buNone/>
              <a:defRPr sz="1050" b="1">
                <a:solidFill>
                  <a:srgbClr val="39FF88"/>
                </a:solidFill>
                <a:latin typeface="Segoe UI"/>
                <a:ea typeface="Segoe UI"/>
                <a:cs typeface="Segoe UI"/>
              </a:defRPr>
            </a:pPr>
            <a:r>
              <a:rPr sz="1050" b="1">
                <a:solidFill>
                  <a:srgbClr val="39FF88"/>
                </a:solidFill>
                <a:latin typeface="Segoe UI"/>
                <a:ea typeface="Segoe UI"/>
                <a:cs typeface="Segoe UI"/>
              </a:rPr>
              <a:t>CAPTURE RÉELLE DU PROJET</a:t>
            </a:r>
          </a:p>
        </p:txBody>
      </p:sp>
      <p:sp>
        <p:nvSpPr>
          <p:cNvPr id="6" name="Rectangle 5">
            <a:extLst>
              <a:ext uri="{FF2B5EF4-FFF2-40B4-BE49-F238E27FC236}">
                <a16:creationId xmlns:a16="http://schemas.microsoft.com/office/drawing/2014/main" id="{AE44FF4B-3E0F-445D-8EB6-866C339C601F}"/>
              </a:ext>
            </a:extLst>
          </p:cNvPr>
          <p:cNvSpPr>
            <a:spLocks noGrp="1"/>
          </p:cNvSpPr>
          <p:nvPr/>
        </p:nvSpPr>
        <p:spPr>
          <a:xfrm>
            <a:off x="666750" y="5981700"/>
            <a:ext cx="5715000" cy="285750"/>
          </a:xfrm>
          <a:prstGeom prst="rect">
            <a:avLst/>
          </a:prstGeom>
          <a:noFill/>
          <a:ln w="0">
            <a:noFill/>
          </a:ln>
        </p:spPr>
        <p:txBody>
          <a:bodyPr lIns="38100" tIns="19050" rIns="38100" bIns="19050" anchor="ctr">
            <a:normAutofit/>
          </a:bodyPr>
          <a:lstStyle/>
          <a:p>
            <a:pPr algn="l">
              <a:lnSpc>
                <a:spcPct val="100000"/>
              </a:lnSpc>
              <a:buNone/>
              <a:defRPr sz="1200" b="0" i="0">
                <a:solidFill>
                  <a:srgbClr val="9BA6A0"/>
                </a:solidFill>
                <a:latin typeface="Segoe UI"/>
                <a:ea typeface="Segoe UI"/>
                <a:cs typeface="Segoe UI"/>
              </a:defRPr>
            </a:pPr>
            <a:r>
              <a:rPr sz="1200" b="0" i="0">
                <a:solidFill>
                  <a:srgbClr val="9BA6A0"/>
                </a:solidFill>
                <a:latin typeface="Segoe UI"/>
                <a:ea typeface="Segoe UI"/>
                <a:cs typeface="Segoe UI"/>
              </a:rPr>
              <a:t>Données de démonstration marquées synthétiques PFE25</a:t>
            </a:r>
          </a:p>
        </p:txBody>
      </p:sp>
      <p:sp>
        <p:nvSpPr>
          <p:cNvPr id="7" name="Straight Connector 6">
            <a:extLst>
              <a:ext uri="{FF2B5EF4-FFF2-40B4-BE49-F238E27FC236}">
                <a16:creationId xmlns:a16="http://schemas.microsoft.com/office/drawing/2014/main" id="{B7C9106C-EFD4-47CD-91AF-80AC2C3C8E6D}"/>
              </a:ext>
            </a:extLst>
          </p:cNvPr>
          <p:cNvSpPr>
            <a:spLocks noGrp="1"/>
          </p:cNvSpPr>
          <p:nvPr/>
        </p:nvSpPr>
        <p:spPr>
          <a:xfrm>
            <a:off x="609600" y="6429375"/>
            <a:ext cx="10972800" cy="0"/>
          </a:xfrm>
          <a:prstGeom prst="line">
            <a:avLst/>
          </a:prstGeom>
          <a:noFill/>
          <a:ln w="9525">
            <a:solidFill>
              <a:srgbClr val="1B3028"/>
            </a:solidFill>
            <a:prstDash val="solid"/>
          </a:ln>
        </p:spPr>
      </p:sp>
      <p:sp>
        <p:nvSpPr>
          <p:cNvPr id="8" name="Rectangle 7">
            <a:extLst>
              <a:ext uri="{FF2B5EF4-FFF2-40B4-BE49-F238E27FC236}">
                <a16:creationId xmlns:a16="http://schemas.microsoft.com/office/drawing/2014/main" id="{9C10B002-0D0C-450B-8FFA-78F4B81A8575}"/>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9" name="Rectangle 8">
            <a:extLst>
              <a:ext uri="{FF2B5EF4-FFF2-40B4-BE49-F238E27FC236}">
                <a16:creationId xmlns:a16="http://schemas.microsoft.com/office/drawing/2014/main" id="{B2346B1F-2FEF-4EB9-B55A-319D53389E0A}"/>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13</a:t>
            </a:r>
          </a:p>
        </p:txBody>
      </p:sp>
    </p:spTree>
    <p:extLst>
      <p:ext uri="{BB962C8B-B14F-4D97-AF65-F5344CB8AC3E}">
        <p14:creationId xmlns:p14="http://schemas.microsoft.com/office/powerpoint/2010/main" val="533603189"/>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sp>
        <p:nvSpPr>
          <p:cNvPr id="11" name="Straight Connector 10">
            <a:extLst>
              <a:ext uri="{FF2B5EF4-FFF2-40B4-BE49-F238E27FC236}">
                <a16:creationId xmlns:a16="http://schemas.microsoft.com/office/drawing/2014/main" id="{CEB9691C-1347-4D44-A89B-70AB3B846D7E}"/>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01ADB8B2-BC0C-41AF-8BF3-D97F7E3FBFBC}"/>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Détail d’une machine supervisée</a:t>
            </a:r>
          </a:p>
        </p:txBody>
      </p:sp>
      <p:pic>
        <p:nvPicPr>
          <p:cNvPr id="13" name="!!DashboardView"/>
          <p:cNvPicPr>
            <a:picLocks noChangeAspect="1"/>
          </p:cNvPicPr>
          <p:nvPr/>
        </p:nvPicPr>
        <p:blipFill>
          <a:blip r:embed="rId3"/>
          <a:stretch/>
        </p:blipFill>
        <p:spPr>
          <a:xfrm>
            <a:off x="1862153" y="1066800"/>
            <a:ext cx="8943945" cy="4953000"/>
          </a:xfrm>
          <a:prstGeom prst="roundRect">
            <a:avLst>
              <a:gd name="adj" fmla="val 3462"/>
            </a:avLst>
          </a:prstGeom>
        </p:spPr>
      </p:pic>
      <p:sp>
        <p:nvSpPr>
          <p:cNvPr id="4" name="Rectangle: Rounded Corners 3">
            <a:extLst>
              <a:ext uri="{FF2B5EF4-FFF2-40B4-BE49-F238E27FC236}">
                <a16:creationId xmlns:a16="http://schemas.microsoft.com/office/drawing/2014/main" id="{0E7C127B-6C31-4640-B08D-E8C4A368D747}"/>
              </a:ext>
            </a:extLst>
          </p:cNvPr>
          <p:cNvSpPr>
            <a:spLocks noGrp="1"/>
          </p:cNvSpPr>
          <p:nvPr/>
        </p:nvSpPr>
        <p:spPr>
          <a:xfrm>
            <a:off x="5562600" y="2762250"/>
            <a:ext cx="5619750" cy="1600200"/>
          </a:xfrm>
          <a:prstGeom prst="roundRect">
            <a:avLst>
              <a:gd name="adj" fmla="val 7143"/>
            </a:avLst>
          </a:prstGeom>
          <a:solidFill>
            <a:srgbClr val="000000">
              <a:alpha val="0"/>
            </a:srgbClr>
          </a:solidFill>
          <a:ln w="28575">
            <a:solidFill>
              <a:srgbClr val="39FF88"/>
            </a:solidFill>
            <a:prstDash val="solid"/>
          </a:ln>
        </p:spPr>
      </p:sp>
      <p:sp>
        <p:nvSpPr>
          <p:cNvPr id="5" name="Rectangle 4">
            <a:extLst>
              <a:ext uri="{FF2B5EF4-FFF2-40B4-BE49-F238E27FC236}">
                <a16:creationId xmlns:a16="http://schemas.microsoft.com/office/drawing/2014/main" id="{EDB3B2C2-4889-4FC4-88A3-02D75F216950}"/>
              </a:ext>
            </a:extLst>
          </p:cNvPr>
          <p:cNvSpPr>
            <a:spLocks noGrp="1"/>
          </p:cNvSpPr>
          <p:nvPr/>
        </p:nvSpPr>
        <p:spPr>
          <a:xfrm>
            <a:off x="8096250" y="2362200"/>
            <a:ext cx="2857500" cy="285750"/>
          </a:xfrm>
          <a:prstGeom prst="rect">
            <a:avLst/>
          </a:prstGeom>
          <a:noFill/>
          <a:ln w="0">
            <a:noFill/>
          </a:ln>
        </p:spPr>
        <p:txBody>
          <a:bodyPr lIns="38100" tIns="19050" rIns="38100" bIns="19050" anchor="ctr">
            <a:normAutofit/>
          </a:bodyPr>
          <a:lstStyle/>
          <a:p>
            <a:pPr algn="r">
              <a:lnSpc>
                <a:spcPct val="100000"/>
              </a:lnSpc>
              <a:buNone/>
              <a:defRPr sz="1350" b="1" i="0">
                <a:solidFill>
                  <a:srgbClr val="39FF88"/>
                </a:solidFill>
                <a:latin typeface="Segoe UI"/>
                <a:ea typeface="Segoe UI"/>
                <a:cs typeface="Segoe UI"/>
              </a:defRPr>
            </a:pPr>
            <a:r>
              <a:rPr sz="1350" b="1" i="0">
                <a:solidFill>
                  <a:srgbClr val="39FF88"/>
                </a:solidFill>
                <a:latin typeface="Segoe UI"/>
                <a:ea typeface="Segoe UI"/>
                <a:cs typeface="Segoe UI"/>
              </a:rPr>
              <a:t>Mesures en direct</a:t>
            </a:r>
          </a:p>
        </p:txBody>
      </p:sp>
      <p:sp>
        <p:nvSpPr>
          <p:cNvPr id="6" name="Rectangle: Rounded Corners 5">
            <a:extLst>
              <a:ext uri="{FF2B5EF4-FFF2-40B4-BE49-F238E27FC236}">
                <a16:creationId xmlns:a16="http://schemas.microsoft.com/office/drawing/2014/main" id="{3352F9C3-A82F-4887-B8E1-51E3DDC2D753}"/>
              </a:ext>
            </a:extLst>
          </p:cNvPr>
          <p:cNvSpPr>
            <a:spLocks noGrp="1"/>
          </p:cNvSpPr>
          <p:nvPr/>
        </p:nvSpPr>
        <p:spPr>
          <a:xfrm>
            <a:off x="609600" y="6076950"/>
            <a:ext cx="4095750" cy="266700"/>
          </a:xfrm>
          <a:prstGeom prst="roundRect">
            <a:avLst>
              <a:gd name="adj" fmla="val 50000"/>
            </a:avLst>
          </a:prstGeom>
          <a:solidFill>
            <a:srgbClr val="10231C"/>
          </a:solidFill>
          <a:ln w="9525">
            <a:solidFill>
              <a:srgbClr val="2A5747"/>
            </a:solidFill>
            <a:prstDash val="solid"/>
          </a:ln>
        </p:spPr>
        <p:txBody>
          <a:bodyPr lIns="76200" tIns="38100" rIns="76200" bIns="38100" anchor="ctr">
            <a:normAutofit fontScale="75635"/>
          </a:bodyPr>
          <a:lstStyle/>
          <a:p>
            <a:pPr algn="ctr">
              <a:lnSpc>
                <a:spcPct val="100000"/>
              </a:lnSpc>
              <a:buNone/>
              <a:defRPr sz="975" b="1">
                <a:solidFill>
                  <a:srgbClr val="39FF88"/>
                </a:solidFill>
                <a:latin typeface="Segoe UI"/>
                <a:ea typeface="Segoe UI"/>
                <a:cs typeface="Segoe UI"/>
              </a:defRPr>
            </a:pPr>
            <a:r>
              <a:rPr sz="975" b="1">
                <a:solidFill>
                  <a:srgbClr val="39FF88"/>
                </a:solidFill>
                <a:latin typeface="Segoe UI"/>
                <a:ea typeface="Segoe UI"/>
                <a:cs typeface="Segoe UI"/>
              </a:rPr>
              <a:t>CAPTURE DU PROJET · DONNÉES SYNTHÉTIQUES PFE25</a:t>
            </a:r>
          </a:p>
        </p:txBody>
      </p:sp>
      <p:sp>
        <p:nvSpPr>
          <p:cNvPr id="7" name="Rectangle 6">
            <a:extLst>
              <a:ext uri="{FF2B5EF4-FFF2-40B4-BE49-F238E27FC236}">
                <a16:creationId xmlns:a16="http://schemas.microsoft.com/office/drawing/2014/main" id="{0C7BB580-4F60-4B7F-8D29-0D256BEF1D42}"/>
              </a:ext>
            </a:extLst>
          </p:cNvPr>
          <p:cNvSpPr>
            <a:spLocks noGrp="1"/>
          </p:cNvSpPr>
          <p:nvPr/>
        </p:nvSpPr>
        <p:spPr>
          <a:xfrm>
            <a:off x="4876800" y="6067425"/>
            <a:ext cx="6496050" cy="285750"/>
          </a:xfrm>
          <a:prstGeom prst="rect">
            <a:avLst/>
          </a:prstGeom>
          <a:noFill/>
          <a:ln w="0">
            <a:noFill/>
          </a:ln>
        </p:spPr>
        <p:txBody>
          <a:bodyPr lIns="38100" tIns="19050" rIns="38100" bIns="19050" anchor="ctr">
            <a:normAutofit/>
          </a:bodyPr>
          <a:lstStyle/>
          <a:p>
            <a:pPr algn="r">
              <a:lnSpc>
                <a:spcPct val="100000"/>
              </a:lnSpc>
              <a:buNone/>
              <a:defRPr sz="1200" b="0" i="0">
                <a:solidFill>
                  <a:srgbClr val="9BA6A0"/>
                </a:solidFill>
                <a:latin typeface="Segoe UI"/>
                <a:ea typeface="Segoe UI"/>
                <a:cs typeface="Segoe UI"/>
              </a:defRPr>
            </a:pPr>
            <a:r>
              <a:rPr sz="1200" b="0" i="0">
                <a:solidFill>
                  <a:srgbClr val="9BA6A0"/>
                </a:solidFill>
                <a:latin typeface="Segoe UI"/>
                <a:ea typeface="Segoe UI"/>
                <a:cs typeface="Segoe UI"/>
              </a:rPr>
              <a:t>CPU, mémoire, disque, réseau, état et contexte de risque réunis dans la même fiche</a:t>
            </a:r>
          </a:p>
        </p:txBody>
      </p:sp>
      <p:sp>
        <p:nvSpPr>
          <p:cNvPr id="8" name="Straight Connector 7">
            <a:extLst>
              <a:ext uri="{FF2B5EF4-FFF2-40B4-BE49-F238E27FC236}">
                <a16:creationId xmlns:a16="http://schemas.microsoft.com/office/drawing/2014/main" id="{A4DAC13A-1410-4374-A7F6-1FE8C1F198E5}"/>
              </a:ext>
            </a:extLst>
          </p:cNvPr>
          <p:cNvSpPr>
            <a:spLocks noGrp="1"/>
          </p:cNvSpPr>
          <p:nvPr/>
        </p:nvSpPr>
        <p:spPr>
          <a:xfrm>
            <a:off x="609600" y="6429375"/>
            <a:ext cx="10972800" cy="0"/>
          </a:xfrm>
          <a:prstGeom prst="line">
            <a:avLst/>
          </a:prstGeom>
          <a:noFill/>
          <a:ln w="9525">
            <a:solidFill>
              <a:srgbClr val="1B3028"/>
            </a:solidFill>
            <a:prstDash val="solid"/>
          </a:ln>
        </p:spPr>
      </p:sp>
      <p:sp>
        <p:nvSpPr>
          <p:cNvPr id="9" name="Rectangle 8">
            <a:extLst>
              <a:ext uri="{FF2B5EF4-FFF2-40B4-BE49-F238E27FC236}">
                <a16:creationId xmlns:a16="http://schemas.microsoft.com/office/drawing/2014/main" id="{B62E6CE2-BA8F-476F-8495-E931325A1B8E}"/>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0" name="Rectangle 9">
            <a:extLst>
              <a:ext uri="{FF2B5EF4-FFF2-40B4-BE49-F238E27FC236}">
                <a16:creationId xmlns:a16="http://schemas.microsoft.com/office/drawing/2014/main" id="{C432BA5F-6884-4268-827A-391CF1620F31}"/>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14</a:t>
            </a:r>
          </a:p>
        </p:txBody>
      </p:sp>
    </p:spTree>
    <p:extLst>
      <p:ext uri="{BB962C8B-B14F-4D97-AF65-F5344CB8AC3E}">
        <p14:creationId xmlns:p14="http://schemas.microsoft.com/office/powerpoint/2010/main" val="953357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FAB5B22B-12E0-4C54-9942-7050806F8DC0}"/>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7D12A6DB-7491-40ED-8700-725B67B1B4BE}"/>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Alertes intelligentes</a:t>
            </a:r>
          </a:p>
        </p:txBody>
      </p:sp>
      <p:sp>
        <p:nvSpPr>
          <p:cNvPr id="3" name="!!AlertStage1">
            <a:extLst>
              <a:ext uri="{FF2B5EF4-FFF2-40B4-BE49-F238E27FC236}">
                <a16:creationId xmlns:a16="http://schemas.microsoft.com/office/drawing/2014/main" id="{9ED80F21-BD70-4ACC-AAF3-593E649BF775}"/>
              </a:ext>
            </a:extLst>
          </p:cNvPr>
          <p:cNvSpPr>
            <a:spLocks noGrp="1"/>
          </p:cNvSpPr>
          <p:nvPr/>
        </p:nvSpPr>
        <p:spPr>
          <a:xfrm>
            <a:off x="666750" y="1295400"/>
            <a:ext cx="2857500" cy="552450"/>
          </a:xfrm>
          <a:prstGeom prst="roundRect">
            <a:avLst>
              <a:gd name="adj" fmla="val 24138"/>
            </a:avLst>
          </a:prstGeom>
          <a:solidFill>
            <a:srgbClr val="0F1A16"/>
          </a:solidFill>
          <a:ln w="9525">
            <a:solidFill>
              <a:srgbClr val="244338"/>
            </a:solidFill>
            <a:prstDash val="solid"/>
          </a:ln>
        </p:spPr>
        <p:txBody>
          <a:bodyPr lIns="95250" tIns="76200" rIns="95250" bIns="76200" anchor="ctr">
            <a:normAutofit fontScale="78238"/>
          </a:bodyPr>
          <a:lstStyle/>
          <a:p>
            <a:pPr algn="ctr">
              <a:lnSpc>
                <a:spcPct val="100000"/>
              </a:lnSpc>
              <a:buNone/>
              <a:defRPr sz="1350" b="1">
                <a:solidFill>
                  <a:srgbClr val="F5F7F6"/>
                </a:solidFill>
                <a:latin typeface="Segoe UI"/>
                <a:ea typeface="Segoe UI"/>
                <a:cs typeface="Segoe UI"/>
              </a:defRPr>
            </a:pPr>
            <a:r>
              <a:rPr sz="1350" b="1">
                <a:solidFill>
                  <a:srgbClr val="F5F7F6"/>
                </a:solidFill>
                <a:latin typeface="Segoe UI"/>
                <a:ea typeface="Segoe UI"/>
                <a:cs typeface="Segoe UI"/>
              </a:rPr>
              <a:t>PROBLÈME</a:t>
            </a:r>
          </a:p>
          <a:p>
            <a:pPr algn="ctr">
              <a:lnSpc>
                <a:spcPct val="100000"/>
              </a:lnSpc>
              <a:buNone/>
              <a:defRPr sz="1350" b="1">
                <a:solidFill>
                  <a:srgbClr val="F5F7F6"/>
                </a:solidFill>
                <a:latin typeface="Segoe UI"/>
                <a:ea typeface="Segoe UI"/>
                <a:cs typeface="Segoe UI"/>
              </a:defRPr>
            </a:pPr>
            <a:r>
              <a:rPr sz="1350" b="1">
                <a:solidFill>
                  <a:srgbClr val="F5F7F6"/>
                </a:solidFill>
                <a:latin typeface="Segoe UI"/>
                <a:ea typeface="Segoe UI"/>
                <a:cs typeface="Segoe UI"/>
              </a:rPr>
              <a:t>MÉTRIQUE</a:t>
            </a:r>
          </a:p>
        </p:txBody>
      </p:sp>
      <p:sp>
        <p:nvSpPr>
          <p:cNvPr id="4" name="!!AlertStage2">
            <a:extLst>
              <a:ext uri="{FF2B5EF4-FFF2-40B4-BE49-F238E27FC236}">
                <a16:creationId xmlns:a16="http://schemas.microsoft.com/office/drawing/2014/main" id="{7EA7CFEE-D442-4236-B6FB-52D458886846}"/>
              </a:ext>
            </a:extLst>
          </p:cNvPr>
          <p:cNvSpPr>
            <a:spLocks noGrp="1"/>
          </p:cNvSpPr>
          <p:nvPr/>
        </p:nvSpPr>
        <p:spPr>
          <a:xfrm>
            <a:off x="666750" y="2190750"/>
            <a:ext cx="2857500" cy="552450"/>
          </a:xfrm>
          <a:prstGeom prst="roundRect">
            <a:avLst>
              <a:gd name="adj" fmla="val 24138"/>
            </a:avLst>
          </a:prstGeom>
          <a:solidFill>
            <a:srgbClr val="0F1A16"/>
          </a:solidFill>
          <a:ln w="9525">
            <a:solidFill>
              <a:srgbClr val="244338"/>
            </a:solidFill>
            <a:prstDash val="solid"/>
          </a:ln>
        </p:spPr>
        <p:txBody>
          <a:bodyPr lIns="95250" tIns="76200" rIns="95250" bIns="76200" anchor="ctr">
            <a:normAutofit fontScale="78238"/>
          </a:bodyPr>
          <a:lstStyle/>
          <a:p>
            <a:pPr algn="ctr">
              <a:lnSpc>
                <a:spcPct val="100000"/>
              </a:lnSpc>
              <a:buNone/>
              <a:defRPr sz="1350" b="1">
                <a:solidFill>
                  <a:srgbClr val="F5F7F6"/>
                </a:solidFill>
                <a:latin typeface="Segoe UI"/>
                <a:ea typeface="Segoe UI"/>
                <a:cs typeface="Segoe UI"/>
              </a:defRPr>
            </a:pPr>
            <a:r>
              <a:rPr sz="1350" b="1">
                <a:solidFill>
                  <a:srgbClr val="F5F7F6"/>
                </a:solidFill>
                <a:latin typeface="Segoe UI"/>
                <a:ea typeface="Segoe UI"/>
                <a:cs typeface="Segoe UI"/>
              </a:rPr>
              <a:t>RÈGLE OU</a:t>
            </a:r>
          </a:p>
          <a:p>
            <a:pPr algn="ctr">
              <a:lnSpc>
                <a:spcPct val="100000"/>
              </a:lnSpc>
              <a:buNone/>
              <a:defRPr sz="1350" b="1">
                <a:solidFill>
                  <a:srgbClr val="F5F7F6"/>
                </a:solidFill>
                <a:latin typeface="Segoe UI"/>
                <a:ea typeface="Segoe UI"/>
                <a:cs typeface="Segoe UI"/>
              </a:defRPr>
            </a:pPr>
            <a:r>
              <a:rPr sz="1350" b="1">
                <a:solidFill>
                  <a:srgbClr val="F5F7F6"/>
                </a:solidFill>
                <a:latin typeface="Segoe UI"/>
                <a:ea typeface="Segoe UI"/>
                <a:cs typeface="Segoe UI"/>
              </a:rPr>
              <a:t>ANALYSE ML</a:t>
            </a:r>
          </a:p>
        </p:txBody>
      </p:sp>
      <p:sp>
        <p:nvSpPr>
          <p:cNvPr id="5" name="!!AlertStage3">
            <a:extLst>
              <a:ext uri="{FF2B5EF4-FFF2-40B4-BE49-F238E27FC236}">
                <a16:creationId xmlns:a16="http://schemas.microsoft.com/office/drawing/2014/main" id="{23DCFA42-4AE9-4B69-B606-A33C28617610}"/>
              </a:ext>
            </a:extLst>
          </p:cNvPr>
          <p:cNvSpPr>
            <a:spLocks noGrp="1"/>
          </p:cNvSpPr>
          <p:nvPr/>
        </p:nvSpPr>
        <p:spPr>
          <a:xfrm>
            <a:off x="666750" y="3086100"/>
            <a:ext cx="2857500" cy="552450"/>
          </a:xfrm>
          <a:prstGeom prst="roundRect">
            <a:avLst>
              <a:gd name="adj" fmla="val 24138"/>
            </a:avLst>
          </a:prstGeom>
          <a:solidFill>
            <a:srgbClr val="0F1A16"/>
          </a:solidFill>
          <a:ln w="9525">
            <a:solidFill>
              <a:srgbClr val="244338"/>
            </a:solidFill>
            <a:prstDash val="solid"/>
          </a:ln>
        </p:spPr>
        <p:txBody>
          <a:bodyPr lIns="95250" tIns="76200" rIns="95250" bIns="76200" anchor="ctr">
            <a:normAutofit/>
          </a:bodyPr>
          <a:lstStyle/>
          <a:p>
            <a:pPr algn="ctr">
              <a:lnSpc>
                <a:spcPct val="100000"/>
              </a:lnSpc>
              <a:buNone/>
              <a:defRPr sz="1350" b="1">
                <a:solidFill>
                  <a:srgbClr val="F5F7F6"/>
                </a:solidFill>
                <a:latin typeface="Segoe UI"/>
                <a:ea typeface="Segoe UI"/>
                <a:cs typeface="Segoe UI"/>
              </a:defRPr>
            </a:pPr>
            <a:r>
              <a:rPr sz="1350" b="1">
                <a:solidFill>
                  <a:srgbClr val="F5F7F6"/>
                </a:solidFill>
                <a:latin typeface="Segoe UI"/>
                <a:ea typeface="Segoe UI"/>
                <a:cs typeface="Segoe UI"/>
              </a:rPr>
              <a:t>SÉVÉRITÉ</a:t>
            </a:r>
          </a:p>
        </p:txBody>
      </p:sp>
      <p:sp>
        <p:nvSpPr>
          <p:cNvPr id="6" name="!!AlertStage4">
            <a:extLst>
              <a:ext uri="{FF2B5EF4-FFF2-40B4-BE49-F238E27FC236}">
                <a16:creationId xmlns:a16="http://schemas.microsoft.com/office/drawing/2014/main" id="{A6A5D4FB-28E6-45F9-ADE5-7A099556E925}"/>
              </a:ext>
            </a:extLst>
          </p:cNvPr>
          <p:cNvSpPr>
            <a:spLocks noGrp="1"/>
          </p:cNvSpPr>
          <p:nvPr/>
        </p:nvSpPr>
        <p:spPr>
          <a:xfrm>
            <a:off x="666750" y="3981450"/>
            <a:ext cx="2857500" cy="552450"/>
          </a:xfrm>
          <a:prstGeom prst="roundRect">
            <a:avLst>
              <a:gd name="adj" fmla="val 24138"/>
            </a:avLst>
          </a:prstGeom>
          <a:solidFill>
            <a:srgbClr val="0F1A16"/>
          </a:solidFill>
          <a:ln w="9525">
            <a:solidFill>
              <a:srgbClr val="244338"/>
            </a:solidFill>
            <a:prstDash val="solid"/>
          </a:ln>
        </p:spPr>
        <p:txBody>
          <a:bodyPr lIns="95250" tIns="76200" rIns="95250" bIns="76200" anchor="ctr">
            <a:normAutofit fontScale="78238"/>
          </a:bodyPr>
          <a:lstStyle/>
          <a:p>
            <a:pPr algn="ctr">
              <a:lnSpc>
                <a:spcPct val="100000"/>
              </a:lnSpc>
              <a:buNone/>
              <a:defRPr sz="1350" b="1">
                <a:solidFill>
                  <a:srgbClr val="F5F7F6"/>
                </a:solidFill>
                <a:latin typeface="Segoe UI"/>
                <a:ea typeface="Segoe UI"/>
                <a:cs typeface="Segoe UI"/>
              </a:defRPr>
            </a:pPr>
            <a:r>
              <a:rPr sz="1350" b="1">
                <a:solidFill>
                  <a:srgbClr val="F5F7F6"/>
                </a:solidFill>
                <a:latin typeface="Segoe UI"/>
                <a:ea typeface="Segoe UI"/>
                <a:cs typeface="Segoe UI"/>
              </a:rPr>
              <a:t>DÉDUPLICATION</a:t>
            </a:r>
          </a:p>
          <a:p>
            <a:pPr algn="ctr">
              <a:lnSpc>
                <a:spcPct val="100000"/>
              </a:lnSpc>
              <a:buNone/>
              <a:defRPr sz="1350" b="1">
                <a:solidFill>
                  <a:srgbClr val="F5F7F6"/>
                </a:solidFill>
                <a:latin typeface="Segoe UI"/>
                <a:ea typeface="Segoe UI"/>
                <a:cs typeface="Segoe UI"/>
              </a:defRPr>
            </a:pPr>
            <a:r>
              <a:rPr sz="1350" b="1">
                <a:solidFill>
                  <a:srgbClr val="F5F7F6"/>
                </a:solidFill>
                <a:latin typeface="Segoe UI"/>
                <a:ea typeface="Segoe UI"/>
                <a:cs typeface="Segoe UI"/>
              </a:rPr>
              <a:t>ET COOLDOWN</a:t>
            </a:r>
          </a:p>
        </p:txBody>
      </p:sp>
      <p:sp>
        <p:nvSpPr>
          <p:cNvPr id="7" name="!!AlertStage5">
            <a:extLst>
              <a:ext uri="{FF2B5EF4-FFF2-40B4-BE49-F238E27FC236}">
                <a16:creationId xmlns:a16="http://schemas.microsoft.com/office/drawing/2014/main" id="{113C9C7C-0EB2-4697-8982-1E99A4A9F728}"/>
              </a:ext>
            </a:extLst>
          </p:cNvPr>
          <p:cNvSpPr>
            <a:spLocks noGrp="1"/>
          </p:cNvSpPr>
          <p:nvPr/>
        </p:nvSpPr>
        <p:spPr>
          <a:xfrm>
            <a:off x="666750" y="4876800"/>
            <a:ext cx="2857500" cy="552450"/>
          </a:xfrm>
          <a:prstGeom prst="roundRect">
            <a:avLst>
              <a:gd name="adj" fmla="val 24138"/>
            </a:avLst>
          </a:prstGeom>
          <a:solidFill>
            <a:srgbClr val="0E2B1D"/>
          </a:solidFill>
          <a:ln w="9525">
            <a:solidFill>
              <a:srgbClr val="1ED760"/>
            </a:solidFill>
            <a:prstDash val="solid"/>
          </a:ln>
        </p:spPr>
        <p:txBody>
          <a:bodyPr lIns="95250" tIns="76200" rIns="95250" bIns="76200" anchor="ctr">
            <a:normAutofit fontScale="78238"/>
          </a:bodyPr>
          <a:lstStyle/>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NOTIFICATION</a:t>
            </a:r>
          </a:p>
          <a:p>
            <a:pPr algn="ctr">
              <a:lnSpc>
                <a:spcPct val="100000"/>
              </a:lnSpc>
              <a:buNone/>
              <a:defRPr sz="1350" b="1">
                <a:solidFill>
                  <a:srgbClr val="39FF88"/>
                </a:solidFill>
                <a:latin typeface="Segoe UI"/>
                <a:ea typeface="Segoe UI"/>
                <a:cs typeface="Segoe UI"/>
              </a:defRPr>
            </a:pPr>
            <a:r>
              <a:rPr sz="1350" b="1">
                <a:solidFill>
                  <a:srgbClr val="39FF88"/>
                </a:solidFill>
                <a:latin typeface="Segoe UI"/>
                <a:ea typeface="Segoe UI"/>
                <a:cs typeface="Segoe UI"/>
              </a:rPr>
              <a:t>ET ACTION</a:t>
            </a:r>
          </a:p>
        </p:txBody>
      </p:sp>
      <p:cxnSp>
        <p:nvCxnSpPr>
          <p:cNvPr id="27" name="Straight Arrow Connector 26"/>
          <p:cNvCxnSpPr>
            <a:stCxn id="3" idx="2"/>
            <a:endCxn id="4" idx="0"/>
          </p:cNvCxnSpPr>
          <p:nvPr/>
        </p:nvCxnSpPr>
        <p:spPr>
          <a:xfrm>
            <a:off x="2095500" y="1847850"/>
            <a:ext cx="0" cy="342900"/>
          </a:xfrm>
          <a:prstGeom prst="straightConnector1">
            <a:avLst/>
          </a:prstGeom>
          <a:ln w="19050">
            <a:solidFill>
              <a:srgbClr val="1ED760"/>
            </a:solidFill>
            <a:prstDash val="solid"/>
            <a:tailEnd type="arrow" w="med" len="med"/>
          </a:ln>
        </p:spPr>
      </p:cxnSp>
      <p:cxnSp>
        <p:nvCxnSpPr>
          <p:cNvPr id="28" name="Straight Arrow Connector 27"/>
          <p:cNvCxnSpPr>
            <a:stCxn id="4" idx="2"/>
            <a:endCxn id="5" idx="0"/>
          </p:cNvCxnSpPr>
          <p:nvPr/>
        </p:nvCxnSpPr>
        <p:spPr>
          <a:xfrm>
            <a:off x="2095500" y="2743200"/>
            <a:ext cx="0" cy="342900"/>
          </a:xfrm>
          <a:prstGeom prst="straightConnector1">
            <a:avLst/>
          </a:prstGeom>
          <a:ln w="19050">
            <a:solidFill>
              <a:srgbClr val="1ED760"/>
            </a:solidFill>
            <a:prstDash val="solid"/>
            <a:tailEnd type="arrow" w="med" len="med"/>
          </a:ln>
        </p:spPr>
      </p:cxnSp>
      <p:cxnSp>
        <p:nvCxnSpPr>
          <p:cNvPr id="29" name="Straight Arrow Connector 28"/>
          <p:cNvCxnSpPr>
            <a:stCxn id="5" idx="2"/>
            <a:endCxn id="6" idx="0"/>
          </p:cNvCxnSpPr>
          <p:nvPr/>
        </p:nvCxnSpPr>
        <p:spPr>
          <a:xfrm>
            <a:off x="2095500" y="3638550"/>
            <a:ext cx="0" cy="342900"/>
          </a:xfrm>
          <a:prstGeom prst="straightConnector1">
            <a:avLst/>
          </a:prstGeom>
          <a:ln w="19050">
            <a:solidFill>
              <a:srgbClr val="1ED760"/>
            </a:solidFill>
            <a:prstDash val="solid"/>
            <a:tailEnd type="arrow" w="med" len="med"/>
          </a:ln>
        </p:spPr>
      </p:cxnSp>
      <p:cxnSp>
        <p:nvCxnSpPr>
          <p:cNvPr id="30" name="Straight Arrow Connector 29"/>
          <p:cNvCxnSpPr>
            <a:stCxn id="6" idx="2"/>
            <a:endCxn id="7" idx="0"/>
          </p:cNvCxnSpPr>
          <p:nvPr/>
        </p:nvCxnSpPr>
        <p:spPr>
          <a:xfrm>
            <a:off x="2095500" y="4533900"/>
            <a:ext cx="0" cy="342900"/>
          </a:xfrm>
          <a:prstGeom prst="straightConnector1">
            <a:avLst/>
          </a:prstGeom>
          <a:ln w="19050">
            <a:solidFill>
              <a:srgbClr val="1ED760"/>
            </a:solidFill>
            <a:prstDash val="solid"/>
            <a:tailEnd type="arrow" w="med" len="med"/>
          </a:ln>
        </p:spPr>
      </p:cxnSp>
      <p:pic>
        <p:nvPicPr>
          <p:cNvPr id="31" name="Picture 30"/>
          <p:cNvPicPr>
            <a:picLocks noChangeAspect="1"/>
          </p:cNvPicPr>
          <p:nvPr/>
        </p:nvPicPr>
        <p:blipFill>
          <a:blip r:embed="rId3"/>
          <a:stretch/>
        </p:blipFill>
        <p:spPr>
          <a:xfrm>
            <a:off x="4114800" y="1390886"/>
            <a:ext cx="7429500" cy="4114327"/>
          </a:xfrm>
          <a:prstGeom prst="roundRect">
            <a:avLst>
              <a:gd name="adj" fmla="val 3636"/>
            </a:avLst>
          </a:prstGeom>
        </p:spPr>
      </p:pic>
      <p:sp>
        <p:nvSpPr>
          <p:cNvPr id="13" name="Rectangle: Rounded Corners 12">
            <a:extLst>
              <a:ext uri="{FF2B5EF4-FFF2-40B4-BE49-F238E27FC236}">
                <a16:creationId xmlns:a16="http://schemas.microsoft.com/office/drawing/2014/main" id="{FCEA6B0D-7944-4589-87F0-25590EF6E485}"/>
              </a:ext>
            </a:extLst>
          </p:cNvPr>
          <p:cNvSpPr>
            <a:spLocks noGrp="1"/>
          </p:cNvSpPr>
          <p:nvPr/>
        </p:nvSpPr>
        <p:spPr>
          <a:xfrm>
            <a:off x="4533900" y="5715000"/>
            <a:ext cx="1257300" cy="323850"/>
          </a:xfrm>
          <a:prstGeom prst="roundRect">
            <a:avLst>
              <a:gd name="adj" fmla="val 50000"/>
            </a:avLst>
          </a:prstGeom>
          <a:solidFill>
            <a:srgbClr val="102127"/>
          </a:solidFill>
          <a:ln w="9525">
            <a:solidFill>
              <a:srgbClr val="37D7E8"/>
            </a:solidFill>
            <a:prstDash val="solid"/>
          </a:ln>
        </p:spPr>
        <p:txBody>
          <a:bodyPr lIns="76200" tIns="38100" rIns="76200" bIns="38100" anchor="ctr">
            <a:normAutofit fontScale="83551"/>
          </a:bodyPr>
          <a:lstStyle/>
          <a:p>
            <a:pPr algn="ctr">
              <a:lnSpc>
                <a:spcPct val="100000"/>
              </a:lnSpc>
              <a:buNone/>
              <a:defRPr sz="1200" b="1">
                <a:solidFill>
                  <a:srgbClr val="37D7E8"/>
                </a:solidFill>
                <a:latin typeface="Segoe UI"/>
                <a:ea typeface="Segoe UI"/>
                <a:cs typeface="Segoe UI"/>
              </a:defRPr>
            </a:pPr>
            <a:r>
              <a:rPr sz="1200" b="1">
                <a:solidFill>
                  <a:srgbClr val="37D7E8"/>
                </a:solidFill>
                <a:latin typeface="Segoe UI"/>
                <a:ea typeface="Segoe UI"/>
                <a:cs typeface="Segoe UI"/>
              </a:rPr>
              <a:t>INFO</a:t>
            </a:r>
          </a:p>
        </p:txBody>
      </p:sp>
      <p:sp>
        <p:nvSpPr>
          <p:cNvPr id="14" name="Rectangle: Rounded Corners 13">
            <a:extLst>
              <a:ext uri="{FF2B5EF4-FFF2-40B4-BE49-F238E27FC236}">
                <a16:creationId xmlns:a16="http://schemas.microsoft.com/office/drawing/2014/main" id="{5F18DEA0-7B16-4BD9-AB5A-F6840207F767}"/>
              </a:ext>
            </a:extLst>
          </p:cNvPr>
          <p:cNvSpPr>
            <a:spLocks noGrp="1"/>
          </p:cNvSpPr>
          <p:nvPr/>
        </p:nvSpPr>
        <p:spPr>
          <a:xfrm>
            <a:off x="6076950" y="5715000"/>
            <a:ext cx="1524000" cy="323850"/>
          </a:xfrm>
          <a:prstGeom prst="roundRect">
            <a:avLst>
              <a:gd name="adj" fmla="val 50000"/>
            </a:avLst>
          </a:prstGeom>
          <a:solidFill>
            <a:srgbClr val="2A2110"/>
          </a:solidFill>
          <a:ln w="9525">
            <a:solidFill>
              <a:srgbClr val="FFB547"/>
            </a:solidFill>
            <a:prstDash val="solid"/>
          </a:ln>
        </p:spPr>
        <p:txBody>
          <a:bodyPr lIns="76200" tIns="38100" rIns="76200" bIns="38100" anchor="ctr">
            <a:normAutofit fontScale="83551"/>
          </a:bodyPr>
          <a:lstStyle/>
          <a:p>
            <a:pPr algn="ctr">
              <a:lnSpc>
                <a:spcPct val="100000"/>
              </a:lnSpc>
              <a:buNone/>
              <a:defRPr sz="1200" b="1">
                <a:solidFill>
                  <a:srgbClr val="FFB547"/>
                </a:solidFill>
                <a:latin typeface="Segoe UI"/>
                <a:ea typeface="Segoe UI"/>
                <a:cs typeface="Segoe UI"/>
              </a:defRPr>
            </a:pPr>
            <a:r>
              <a:rPr sz="1200" b="1">
                <a:solidFill>
                  <a:srgbClr val="FFB547"/>
                </a:solidFill>
                <a:latin typeface="Segoe UI"/>
                <a:ea typeface="Segoe UI"/>
                <a:cs typeface="Segoe UI"/>
              </a:rPr>
              <a:t>WARNING</a:t>
            </a:r>
          </a:p>
        </p:txBody>
      </p:sp>
      <p:sp>
        <p:nvSpPr>
          <p:cNvPr id="15" name="Rectangle: Rounded Corners 14">
            <a:extLst>
              <a:ext uri="{FF2B5EF4-FFF2-40B4-BE49-F238E27FC236}">
                <a16:creationId xmlns:a16="http://schemas.microsoft.com/office/drawing/2014/main" id="{50F0BDCE-AD57-4EC1-8829-58CD1E9F8381}"/>
              </a:ext>
            </a:extLst>
          </p:cNvPr>
          <p:cNvSpPr>
            <a:spLocks noGrp="1"/>
          </p:cNvSpPr>
          <p:nvPr/>
        </p:nvSpPr>
        <p:spPr>
          <a:xfrm>
            <a:off x="7886700" y="5715000"/>
            <a:ext cx="1524000" cy="323850"/>
          </a:xfrm>
          <a:prstGeom prst="roundRect">
            <a:avLst>
              <a:gd name="adj" fmla="val 50000"/>
            </a:avLst>
          </a:prstGeom>
          <a:solidFill>
            <a:srgbClr val="29151A"/>
          </a:solidFill>
          <a:ln w="9525">
            <a:solidFill>
              <a:srgbClr val="FF5C7A"/>
            </a:solidFill>
            <a:prstDash val="solid"/>
          </a:ln>
        </p:spPr>
        <p:txBody>
          <a:bodyPr lIns="76200" tIns="38100" rIns="76200" bIns="38100" anchor="ctr">
            <a:normAutofit fontScale="83551"/>
          </a:bodyPr>
          <a:lstStyle/>
          <a:p>
            <a:pPr algn="ctr">
              <a:lnSpc>
                <a:spcPct val="100000"/>
              </a:lnSpc>
              <a:buNone/>
              <a:defRPr sz="1200" b="1">
                <a:solidFill>
                  <a:srgbClr val="FF5C7A"/>
                </a:solidFill>
                <a:latin typeface="Segoe UI"/>
                <a:ea typeface="Segoe UI"/>
                <a:cs typeface="Segoe UI"/>
              </a:defRPr>
            </a:pPr>
            <a:r>
              <a:rPr sz="1200" b="1">
                <a:solidFill>
                  <a:srgbClr val="FF5C7A"/>
                </a:solidFill>
                <a:latin typeface="Segoe UI"/>
                <a:ea typeface="Segoe UI"/>
                <a:cs typeface="Segoe UI"/>
              </a:rPr>
              <a:t>CRITICAL</a:t>
            </a:r>
          </a:p>
        </p:txBody>
      </p:sp>
      <p:sp>
        <p:nvSpPr>
          <p:cNvPr id="16" name="Rectangle 15">
            <a:extLst>
              <a:ext uri="{FF2B5EF4-FFF2-40B4-BE49-F238E27FC236}">
                <a16:creationId xmlns:a16="http://schemas.microsoft.com/office/drawing/2014/main" id="{CA2617C4-A633-4EDF-A158-ACDCE56E9A44}"/>
              </a:ext>
            </a:extLst>
          </p:cNvPr>
          <p:cNvSpPr>
            <a:spLocks noGrp="1"/>
          </p:cNvSpPr>
          <p:nvPr/>
        </p:nvSpPr>
        <p:spPr>
          <a:xfrm>
            <a:off x="9639300" y="5695950"/>
            <a:ext cx="1905000" cy="361950"/>
          </a:xfrm>
          <a:prstGeom prst="rect">
            <a:avLst/>
          </a:prstGeom>
          <a:noFill/>
          <a:ln w="0">
            <a:noFill/>
          </a:ln>
        </p:spPr>
        <p:txBody>
          <a:bodyPr lIns="38100" tIns="19050" rIns="38100" bIns="19050" anchor="ctr">
            <a:normAutofit fontScale="88542"/>
          </a:bodyPr>
          <a:lstStyle/>
          <a:p>
            <a:pPr algn="r">
              <a:lnSpc>
                <a:spcPct val="100000"/>
              </a:lnSpc>
              <a:buNone/>
              <a:defRPr sz="1200" b="0" i="0">
                <a:solidFill>
                  <a:srgbClr val="9BA6A0"/>
                </a:solidFill>
                <a:latin typeface="Segoe UI"/>
                <a:ea typeface="Segoe UI"/>
                <a:cs typeface="Segoe UI"/>
              </a:defRPr>
            </a:pPr>
            <a:r>
              <a:rPr sz="1200" b="0" i="0">
                <a:solidFill>
                  <a:srgbClr val="9BA6A0"/>
                </a:solidFill>
                <a:latin typeface="Segoe UI"/>
                <a:ea typeface="Segoe UI"/>
                <a:cs typeface="Segoe UI"/>
              </a:rPr>
              <a:t>Recommandations non destructives</a:t>
            </a:r>
          </a:p>
        </p:txBody>
      </p:sp>
      <p:sp>
        <p:nvSpPr>
          <p:cNvPr id="17" name="Straight Connector 16">
            <a:extLst>
              <a:ext uri="{FF2B5EF4-FFF2-40B4-BE49-F238E27FC236}">
                <a16:creationId xmlns:a16="http://schemas.microsoft.com/office/drawing/2014/main" id="{31611C26-A017-4501-9978-5F45CA3C545F}"/>
              </a:ext>
            </a:extLst>
          </p:cNvPr>
          <p:cNvSpPr>
            <a:spLocks noGrp="1"/>
          </p:cNvSpPr>
          <p:nvPr/>
        </p:nvSpPr>
        <p:spPr>
          <a:xfrm>
            <a:off x="609600" y="6429375"/>
            <a:ext cx="10972800" cy="0"/>
          </a:xfrm>
          <a:prstGeom prst="line">
            <a:avLst/>
          </a:prstGeom>
          <a:noFill/>
          <a:ln w="9525">
            <a:solidFill>
              <a:srgbClr val="1B3028"/>
            </a:solidFill>
            <a:prstDash val="solid"/>
          </a:ln>
        </p:spPr>
      </p:sp>
      <p:sp>
        <p:nvSpPr>
          <p:cNvPr id="18" name="Rectangle 17">
            <a:extLst>
              <a:ext uri="{FF2B5EF4-FFF2-40B4-BE49-F238E27FC236}">
                <a16:creationId xmlns:a16="http://schemas.microsoft.com/office/drawing/2014/main" id="{97CBA6C3-424B-4B6C-8F23-09B092B75C28}"/>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9" name="Rectangle 18">
            <a:extLst>
              <a:ext uri="{FF2B5EF4-FFF2-40B4-BE49-F238E27FC236}">
                <a16:creationId xmlns:a16="http://schemas.microsoft.com/office/drawing/2014/main" id="{8FCB2ADD-5011-4058-97DF-0EF88EE5DBD8}"/>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15</a:t>
            </a:r>
          </a:p>
        </p:txBody>
      </p:sp>
    </p:spTree>
    <p:extLst>
      <p:ext uri="{BB962C8B-B14F-4D97-AF65-F5344CB8AC3E}">
        <p14:creationId xmlns:p14="http://schemas.microsoft.com/office/powerpoint/2010/main" val="1398774247"/>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sp>
        <p:nvSpPr>
          <p:cNvPr id="23" name="Straight Connector 22">
            <a:extLst>
              <a:ext uri="{FF2B5EF4-FFF2-40B4-BE49-F238E27FC236}">
                <a16:creationId xmlns:a16="http://schemas.microsoft.com/office/drawing/2014/main" id="{16125932-466D-438F-85A5-6148953CC342}"/>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AA5257DC-E31D-4F99-84A7-D63ECD76218E}"/>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Supervision en temps réel</a:t>
            </a:r>
          </a:p>
        </p:txBody>
      </p:sp>
      <p:sp>
        <p:nvSpPr>
          <p:cNvPr id="3" name="!!RealtimeStage1">
            <a:extLst>
              <a:ext uri="{FF2B5EF4-FFF2-40B4-BE49-F238E27FC236}">
                <a16:creationId xmlns:a16="http://schemas.microsoft.com/office/drawing/2014/main" id="{97E43B59-2C08-4510-BC69-5623D9FBDB53}"/>
              </a:ext>
            </a:extLst>
          </p:cNvPr>
          <p:cNvSpPr>
            <a:spLocks noGrp="1"/>
          </p:cNvSpPr>
          <p:nvPr/>
        </p:nvSpPr>
        <p:spPr>
          <a:xfrm>
            <a:off x="552450" y="2457450"/>
            <a:ext cx="1809750" cy="933450"/>
          </a:xfrm>
          <a:prstGeom prst="roundRect">
            <a:avLst>
              <a:gd name="adj" fmla="val 14286"/>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AGENT</a:t>
            </a:r>
          </a:p>
        </p:txBody>
      </p:sp>
      <p:sp>
        <p:nvSpPr>
          <p:cNvPr id="4" name="!!RealtimeStage2">
            <a:extLst>
              <a:ext uri="{FF2B5EF4-FFF2-40B4-BE49-F238E27FC236}">
                <a16:creationId xmlns:a16="http://schemas.microsoft.com/office/drawing/2014/main" id="{B71FA1DA-B38F-4899-80E2-C91787EED0C6}"/>
              </a:ext>
            </a:extLst>
          </p:cNvPr>
          <p:cNvSpPr>
            <a:spLocks noGrp="1"/>
          </p:cNvSpPr>
          <p:nvPr/>
        </p:nvSpPr>
        <p:spPr>
          <a:xfrm>
            <a:off x="2886075" y="2457450"/>
            <a:ext cx="1809750" cy="933450"/>
          </a:xfrm>
          <a:prstGeom prst="roundRect">
            <a:avLst>
              <a:gd name="adj" fmla="val 14286"/>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REST API</a:t>
            </a:r>
          </a:p>
        </p:txBody>
      </p:sp>
      <p:sp>
        <p:nvSpPr>
          <p:cNvPr id="5" name="!!RealtimeStage3">
            <a:extLst>
              <a:ext uri="{FF2B5EF4-FFF2-40B4-BE49-F238E27FC236}">
                <a16:creationId xmlns:a16="http://schemas.microsoft.com/office/drawing/2014/main" id="{A55DF4B8-24BD-4ABD-889E-DD54F06AFBB7}"/>
              </a:ext>
            </a:extLst>
          </p:cNvPr>
          <p:cNvSpPr>
            <a:spLocks noGrp="1"/>
          </p:cNvSpPr>
          <p:nvPr/>
        </p:nvSpPr>
        <p:spPr>
          <a:xfrm>
            <a:off x="5219700" y="2457450"/>
            <a:ext cx="1809750" cy="933450"/>
          </a:xfrm>
          <a:prstGeom prst="roundRect">
            <a:avLst>
              <a:gd name="adj" fmla="val 14286"/>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BACKEND</a:t>
            </a:r>
          </a:p>
        </p:txBody>
      </p:sp>
      <p:sp>
        <p:nvSpPr>
          <p:cNvPr id="6" name="!!RealtimeStage4">
            <a:extLst>
              <a:ext uri="{FF2B5EF4-FFF2-40B4-BE49-F238E27FC236}">
                <a16:creationId xmlns:a16="http://schemas.microsoft.com/office/drawing/2014/main" id="{8227B6E2-E86D-4FC7-B18D-E0CB9CCE7238}"/>
              </a:ext>
            </a:extLst>
          </p:cNvPr>
          <p:cNvSpPr>
            <a:spLocks noGrp="1"/>
          </p:cNvSpPr>
          <p:nvPr/>
        </p:nvSpPr>
        <p:spPr>
          <a:xfrm>
            <a:off x="7553325" y="2457450"/>
            <a:ext cx="1809750" cy="933450"/>
          </a:xfrm>
          <a:prstGeom prst="roundRect">
            <a:avLst>
              <a:gd name="adj" fmla="val 14286"/>
            </a:avLst>
          </a:prstGeom>
          <a:solidFill>
            <a:srgbClr val="102127"/>
          </a:solidFill>
          <a:ln w="9525">
            <a:solidFill>
              <a:srgbClr val="37D7E8"/>
            </a:solidFill>
            <a:prstDash val="solid"/>
          </a:ln>
        </p:spPr>
        <p:txBody>
          <a:bodyPr lIns="95250" tIns="76200" rIns="95250" bIns="76200" anchor="ctr">
            <a:normAutofit/>
          </a:bodyPr>
          <a:lstStyle/>
          <a:p>
            <a:pPr algn="ctr">
              <a:lnSpc>
                <a:spcPct val="100000"/>
              </a:lnSpc>
              <a:buNone/>
              <a:defRPr sz="1650" b="1">
                <a:solidFill>
                  <a:srgbClr val="37D7E8"/>
                </a:solidFill>
                <a:latin typeface="Segoe UI"/>
                <a:ea typeface="Segoe UI"/>
                <a:cs typeface="Segoe UI"/>
              </a:defRPr>
            </a:pPr>
            <a:r>
              <a:rPr sz="1650" b="1">
                <a:solidFill>
                  <a:srgbClr val="37D7E8"/>
                </a:solidFill>
                <a:latin typeface="Segoe UI"/>
                <a:ea typeface="Segoe UI"/>
                <a:cs typeface="Segoe UI"/>
              </a:rPr>
              <a:t>WEBSOCKET</a:t>
            </a:r>
          </a:p>
        </p:txBody>
      </p:sp>
      <p:sp>
        <p:nvSpPr>
          <p:cNvPr id="7" name="!!RealtimeStage5">
            <a:extLst>
              <a:ext uri="{FF2B5EF4-FFF2-40B4-BE49-F238E27FC236}">
                <a16:creationId xmlns:a16="http://schemas.microsoft.com/office/drawing/2014/main" id="{5067C4DA-BFD8-463D-A47D-1B9EE03CDDC6}"/>
              </a:ext>
            </a:extLst>
          </p:cNvPr>
          <p:cNvSpPr>
            <a:spLocks noGrp="1"/>
          </p:cNvSpPr>
          <p:nvPr/>
        </p:nvSpPr>
        <p:spPr>
          <a:xfrm>
            <a:off x="9886950" y="2457450"/>
            <a:ext cx="1809750" cy="933450"/>
          </a:xfrm>
          <a:prstGeom prst="roundRect">
            <a:avLst>
              <a:gd name="adj" fmla="val 14286"/>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650" b="1">
                <a:solidFill>
                  <a:srgbClr val="F5F7F6"/>
                </a:solidFill>
                <a:latin typeface="Segoe UI"/>
                <a:ea typeface="Segoe UI"/>
                <a:cs typeface="Segoe UI"/>
              </a:defRPr>
            </a:pPr>
            <a:r>
              <a:rPr sz="1650" b="1">
                <a:solidFill>
                  <a:srgbClr val="F5F7F6"/>
                </a:solidFill>
                <a:latin typeface="Segoe UI"/>
                <a:ea typeface="Segoe UI"/>
                <a:cs typeface="Segoe UI"/>
              </a:rPr>
              <a:t>DASHBOARD</a:t>
            </a:r>
          </a:p>
        </p:txBody>
      </p:sp>
      <p:cxnSp>
        <p:nvCxnSpPr>
          <p:cNvPr id="30" name="Straight Arrow Connector 29"/>
          <p:cNvCxnSpPr>
            <a:stCxn id="3" idx="3"/>
            <a:endCxn id="4" idx="1"/>
          </p:cNvCxnSpPr>
          <p:nvPr/>
        </p:nvCxnSpPr>
        <p:spPr>
          <a:xfrm>
            <a:off x="2362200" y="2924175"/>
            <a:ext cx="523875" cy="0"/>
          </a:xfrm>
          <a:prstGeom prst="straightConnector1">
            <a:avLst/>
          </a:prstGeom>
          <a:ln w="19050">
            <a:solidFill>
              <a:srgbClr val="1ED760"/>
            </a:solidFill>
            <a:prstDash val="solid"/>
            <a:tailEnd type="arrow" w="med" len="med"/>
          </a:ln>
        </p:spPr>
      </p:cxnSp>
      <p:cxnSp>
        <p:nvCxnSpPr>
          <p:cNvPr id="31" name="Straight Arrow Connector 30"/>
          <p:cNvCxnSpPr>
            <a:stCxn id="4" idx="3"/>
            <a:endCxn id="5" idx="1"/>
          </p:cNvCxnSpPr>
          <p:nvPr/>
        </p:nvCxnSpPr>
        <p:spPr>
          <a:xfrm>
            <a:off x="4695825" y="2924175"/>
            <a:ext cx="523875" cy="0"/>
          </a:xfrm>
          <a:prstGeom prst="straightConnector1">
            <a:avLst/>
          </a:prstGeom>
          <a:ln w="19050">
            <a:solidFill>
              <a:srgbClr val="1ED760"/>
            </a:solidFill>
            <a:prstDash val="solid"/>
            <a:tailEnd type="arrow" w="med" len="med"/>
          </a:ln>
        </p:spPr>
      </p:cxnSp>
      <p:cxnSp>
        <p:nvCxnSpPr>
          <p:cNvPr id="32" name="Straight Arrow Connector 31"/>
          <p:cNvCxnSpPr>
            <a:stCxn id="5" idx="3"/>
            <a:endCxn id="6" idx="1"/>
          </p:cNvCxnSpPr>
          <p:nvPr/>
        </p:nvCxnSpPr>
        <p:spPr>
          <a:xfrm>
            <a:off x="7029450" y="2924175"/>
            <a:ext cx="523875" cy="0"/>
          </a:xfrm>
          <a:prstGeom prst="straightConnector1">
            <a:avLst/>
          </a:prstGeom>
          <a:ln w="19050">
            <a:solidFill>
              <a:srgbClr val="37D7E8"/>
            </a:solidFill>
            <a:prstDash val="solid"/>
            <a:tailEnd type="arrow" w="med" len="med"/>
          </a:ln>
        </p:spPr>
      </p:cxnSp>
      <p:cxnSp>
        <p:nvCxnSpPr>
          <p:cNvPr id="33" name="Straight Arrow Connector 32"/>
          <p:cNvCxnSpPr>
            <a:stCxn id="6" idx="3"/>
            <a:endCxn id="7" idx="1"/>
          </p:cNvCxnSpPr>
          <p:nvPr/>
        </p:nvCxnSpPr>
        <p:spPr>
          <a:xfrm>
            <a:off x="9363075" y="2924175"/>
            <a:ext cx="523875" cy="0"/>
          </a:xfrm>
          <a:prstGeom prst="straightConnector1">
            <a:avLst/>
          </a:prstGeom>
          <a:ln w="19050">
            <a:solidFill>
              <a:srgbClr val="1ED760"/>
            </a:solidFill>
            <a:prstDash val="solid"/>
            <a:tailEnd type="arrow" w="med" len="med"/>
          </a:ln>
        </p:spPr>
      </p:cxnSp>
      <p:sp>
        <p:nvSpPr>
          <p:cNvPr id="12" name="Oval 11">
            <a:extLst>
              <a:ext uri="{FF2B5EF4-FFF2-40B4-BE49-F238E27FC236}">
                <a16:creationId xmlns:a16="http://schemas.microsoft.com/office/drawing/2014/main" id="{E119EAC6-C9E5-4DFE-BFC2-28570E00DD4C}"/>
              </a:ext>
            </a:extLst>
          </p:cNvPr>
          <p:cNvSpPr>
            <a:spLocks noGrp="1"/>
          </p:cNvSpPr>
          <p:nvPr/>
        </p:nvSpPr>
        <p:spPr>
          <a:xfrm>
            <a:off x="2266950" y="2800350"/>
            <a:ext cx="95250" cy="95250"/>
          </a:xfrm>
          <a:prstGeom prst="ellipse">
            <a:avLst/>
          </a:prstGeom>
          <a:solidFill>
            <a:srgbClr val="39FF88"/>
          </a:solidFill>
          <a:ln w="0">
            <a:noFill/>
          </a:ln>
        </p:spPr>
      </p:sp>
      <p:sp>
        <p:nvSpPr>
          <p:cNvPr id="13" name="Oval 12">
            <a:extLst>
              <a:ext uri="{FF2B5EF4-FFF2-40B4-BE49-F238E27FC236}">
                <a16:creationId xmlns:a16="http://schemas.microsoft.com/office/drawing/2014/main" id="{B0494F76-FA84-4A84-8740-26CD90C6341D}"/>
              </a:ext>
            </a:extLst>
          </p:cNvPr>
          <p:cNvSpPr>
            <a:spLocks noGrp="1"/>
          </p:cNvSpPr>
          <p:nvPr/>
        </p:nvSpPr>
        <p:spPr>
          <a:xfrm>
            <a:off x="4600575" y="2800350"/>
            <a:ext cx="95250" cy="95250"/>
          </a:xfrm>
          <a:prstGeom prst="ellipse">
            <a:avLst/>
          </a:prstGeom>
          <a:solidFill>
            <a:srgbClr val="39FF88"/>
          </a:solidFill>
          <a:ln w="0">
            <a:noFill/>
          </a:ln>
        </p:spPr>
      </p:sp>
      <p:sp>
        <p:nvSpPr>
          <p:cNvPr id="14" name="Oval 13">
            <a:extLst>
              <a:ext uri="{FF2B5EF4-FFF2-40B4-BE49-F238E27FC236}">
                <a16:creationId xmlns:a16="http://schemas.microsoft.com/office/drawing/2014/main" id="{222BA101-3C14-4F4E-A2D2-C408CE1D57B3}"/>
              </a:ext>
            </a:extLst>
          </p:cNvPr>
          <p:cNvSpPr>
            <a:spLocks noGrp="1"/>
          </p:cNvSpPr>
          <p:nvPr/>
        </p:nvSpPr>
        <p:spPr>
          <a:xfrm>
            <a:off x="6934200" y="2800350"/>
            <a:ext cx="95250" cy="95250"/>
          </a:xfrm>
          <a:prstGeom prst="ellipse">
            <a:avLst/>
          </a:prstGeom>
          <a:solidFill>
            <a:srgbClr val="37D7E8"/>
          </a:solidFill>
          <a:ln w="0">
            <a:noFill/>
          </a:ln>
        </p:spPr>
      </p:sp>
      <p:sp>
        <p:nvSpPr>
          <p:cNvPr id="15" name="Oval 14">
            <a:extLst>
              <a:ext uri="{FF2B5EF4-FFF2-40B4-BE49-F238E27FC236}">
                <a16:creationId xmlns:a16="http://schemas.microsoft.com/office/drawing/2014/main" id="{4473B950-426D-4AA4-91B7-886105BA476C}"/>
              </a:ext>
            </a:extLst>
          </p:cNvPr>
          <p:cNvSpPr>
            <a:spLocks noGrp="1"/>
          </p:cNvSpPr>
          <p:nvPr/>
        </p:nvSpPr>
        <p:spPr>
          <a:xfrm>
            <a:off x="9267825" y="2800350"/>
            <a:ext cx="95250" cy="95250"/>
          </a:xfrm>
          <a:prstGeom prst="ellipse">
            <a:avLst/>
          </a:prstGeom>
          <a:solidFill>
            <a:srgbClr val="39FF88"/>
          </a:solidFill>
          <a:ln w="0">
            <a:noFill/>
          </a:ln>
        </p:spPr>
      </p:sp>
      <p:sp>
        <p:nvSpPr>
          <p:cNvPr id="16" name="Rectangle 15">
            <a:extLst>
              <a:ext uri="{FF2B5EF4-FFF2-40B4-BE49-F238E27FC236}">
                <a16:creationId xmlns:a16="http://schemas.microsoft.com/office/drawing/2014/main" id="{6DC274EE-BE41-49C8-B418-AAD7CF1BA7C9}"/>
              </a:ext>
            </a:extLst>
          </p:cNvPr>
          <p:cNvSpPr>
            <a:spLocks noGrp="1"/>
          </p:cNvSpPr>
          <p:nvPr/>
        </p:nvSpPr>
        <p:spPr>
          <a:xfrm>
            <a:off x="1428750" y="3943350"/>
            <a:ext cx="2667000" cy="323850"/>
          </a:xfrm>
          <a:prstGeom prst="rect">
            <a:avLst/>
          </a:prstGeom>
          <a:noFill/>
          <a:ln w="0">
            <a:noFill/>
          </a:ln>
        </p:spPr>
        <p:txBody>
          <a:bodyPr lIns="38100" tIns="19050" rIns="38100" bIns="19050" anchor="ctr">
            <a:normAutofit/>
          </a:bodyPr>
          <a:lstStyle/>
          <a:p>
            <a:pPr algn="ctr">
              <a:lnSpc>
                <a:spcPct val="100000"/>
              </a:lnSpc>
              <a:buNone/>
              <a:defRPr sz="1500" b="0" i="0">
                <a:solidFill>
                  <a:srgbClr val="9BA6A0"/>
                </a:solidFill>
                <a:latin typeface="Segoe UI"/>
                <a:ea typeface="Segoe UI"/>
                <a:cs typeface="Segoe UI"/>
              </a:defRPr>
            </a:pPr>
            <a:r>
              <a:rPr sz="1500" b="0" i="0">
                <a:solidFill>
                  <a:srgbClr val="9BA6A0"/>
                </a:solidFill>
                <a:latin typeface="Segoe UI"/>
                <a:ea typeface="Segoe UI"/>
                <a:cs typeface="Segoe UI"/>
              </a:rPr>
              <a:t>Événements persistés</a:t>
            </a:r>
          </a:p>
        </p:txBody>
      </p:sp>
      <p:sp>
        <p:nvSpPr>
          <p:cNvPr id="17" name="Rectangle 16">
            <a:extLst>
              <a:ext uri="{FF2B5EF4-FFF2-40B4-BE49-F238E27FC236}">
                <a16:creationId xmlns:a16="http://schemas.microsoft.com/office/drawing/2014/main" id="{C5A6BB64-FA6D-4698-9386-B8F030893A94}"/>
              </a:ext>
            </a:extLst>
          </p:cNvPr>
          <p:cNvSpPr>
            <a:spLocks noGrp="1"/>
          </p:cNvSpPr>
          <p:nvPr/>
        </p:nvSpPr>
        <p:spPr>
          <a:xfrm>
            <a:off x="4762500" y="3943350"/>
            <a:ext cx="2667000" cy="323850"/>
          </a:xfrm>
          <a:prstGeom prst="rect">
            <a:avLst/>
          </a:prstGeom>
          <a:noFill/>
          <a:ln w="0">
            <a:noFill/>
          </a:ln>
        </p:spPr>
        <p:txBody>
          <a:bodyPr lIns="38100" tIns="19050" rIns="38100" bIns="19050" anchor="ctr">
            <a:normAutofit/>
          </a:bodyPr>
          <a:lstStyle/>
          <a:p>
            <a:pPr algn="ctr">
              <a:lnSpc>
                <a:spcPct val="100000"/>
              </a:lnSpc>
              <a:buNone/>
              <a:defRPr sz="1500" b="0" i="0">
                <a:solidFill>
                  <a:srgbClr val="9BA6A0"/>
                </a:solidFill>
                <a:latin typeface="Segoe UI"/>
                <a:ea typeface="Segoe UI"/>
                <a:cs typeface="Segoe UI"/>
              </a:defRPr>
            </a:pPr>
            <a:r>
              <a:rPr sz="1500" b="0" i="0">
                <a:solidFill>
                  <a:srgbClr val="9BA6A0"/>
                </a:solidFill>
                <a:latin typeface="Segoe UI"/>
                <a:ea typeface="Segoe UI"/>
                <a:cs typeface="Segoe UI"/>
              </a:rPr>
              <a:t>Ticket à usage unique</a:t>
            </a:r>
          </a:p>
        </p:txBody>
      </p:sp>
      <p:sp>
        <p:nvSpPr>
          <p:cNvPr id="18" name="Rectangle 17">
            <a:extLst>
              <a:ext uri="{FF2B5EF4-FFF2-40B4-BE49-F238E27FC236}">
                <a16:creationId xmlns:a16="http://schemas.microsoft.com/office/drawing/2014/main" id="{F3E86888-F18F-46EC-9AE7-0B1022063562}"/>
              </a:ext>
            </a:extLst>
          </p:cNvPr>
          <p:cNvSpPr>
            <a:spLocks noGrp="1"/>
          </p:cNvSpPr>
          <p:nvPr/>
        </p:nvSpPr>
        <p:spPr>
          <a:xfrm>
            <a:off x="8096250" y="3943350"/>
            <a:ext cx="2667000" cy="323850"/>
          </a:xfrm>
          <a:prstGeom prst="rect">
            <a:avLst/>
          </a:prstGeom>
          <a:noFill/>
          <a:ln w="0">
            <a:noFill/>
          </a:ln>
        </p:spPr>
        <p:txBody>
          <a:bodyPr lIns="38100" tIns="19050" rIns="38100" bIns="19050" anchor="ctr">
            <a:normAutofit/>
          </a:bodyPr>
          <a:lstStyle/>
          <a:p>
            <a:pPr algn="ctr">
              <a:lnSpc>
                <a:spcPct val="100000"/>
              </a:lnSpc>
              <a:buNone/>
              <a:defRPr sz="1500" b="0" i="0">
                <a:solidFill>
                  <a:srgbClr val="9BA6A0"/>
                </a:solidFill>
                <a:latin typeface="Segoe UI"/>
                <a:ea typeface="Segoe UI"/>
                <a:cs typeface="Segoe UI"/>
              </a:defRPr>
            </a:pPr>
            <a:r>
              <a:rPr sz="1500" b="0" i="0">
                <a:solidFill>
                  <a:srgbClr val="9BA6A0"/>
                </a:solidFill>
                <a:latin typeface="Segoe UI"/>
                <a:ea typeface="Segoe UI"/>
                <a:cs typeface="Segoe UI"/>
              </a:rPr>
              <a:t>Rejeu après reconnexion</a:t>
            </a:r>
          </a:p>
        </p:txBody>
      </p:sp>
      <p:sp>
        <p:nvSpPr>
          <p:cNvPr id="19" name="Rectangle 18">
            <a:extLst>
              <a:ext uri="{FF2B5EF4-FFF2-40B4-BE49-F238E27FC236}">
                <a16:creationId xmlns:a16="http://schemas.microsoft.com/office/drawing/2014/main" id="{100227B8-E2A7-4C2C-81F5-D841F991FA83}"/>
              </a:ext>
            </a:extLst>
          </p:cNvPr>
          <p:cNvSpPr>
            <a:spLocks noGrp="1"/>
          </p:cNvSpPr>
          <p:nvPr/>
        </p:nvSpPr>
        <p:spPr>
          <a:xfrm>
            <a:off x="2381250" y="4762500"/>
            <a:ext cx="7429500" cy="514350"/>
          </a:xfrm>
          <a:prstGeom prst="rect">
            <a:avLst/>
          </a:prstGeom>
          <a:noFill/>
          <a:ln w="0">
            <a:noFill/>
          </a:ln>
        </p:spPr>
        <p:txBody>
          <a:bodyPr lIns="38100" tIns="19050" rIns="38100" bIns="19050" anchor="ctr">
            <a:normAutofit fontScale="76508"/>
          </a:bodyPr>
          <a:lstStyle/>
          <a:p>
            <a:pPr algn="ctr">
              <a:lnSpc>
                <a:spcPct val="100000"/>
              </a:lnSpc>
              <a:buNone/>
              <a:defRPr sz="2250" b="1" i="0">
                <a:solidFill>
                  <a:srgbClr val="F5F7F6"/>
                </a:solidFill>
                <a:latin typeface="Segoe UI"/>
                <a:ea typeface="Segoe UI"/>
                <a:cs typeface="Segoe UI"/>
              </a:defRPr>
            </a:pPr>
            <a:r>
              <a:rPr sz="2250" b="1" i="0">
                <a:solidFill>
                  <a:srgbClr val="F5F7F6"/>
                </a:solidFill>
                <a:latin typeface="Segoe UI"/>
                <a:ea typeface="Segoe UI"/>
                <a:cs typeface="Segoe UI"/>
              </a:rPr>
              <a:t>Le dashboard reçoit les alertes et anomalies sans rechargement de page</a:t>
            </a:r>
          </a:p>
        </p:txBody>
      </p:sp>
      <p:sp>
        <p:nvSpPr>
          <p:cNvPr id="20" name="Straight Connector 19">
            <a:extLst>
              <a:ext uri="{FF2B5EF4-FFF2-40B4-BE49-F238E27FC236}">
                <a16:creationId xmlns:a16="http://schemas.microsoft.com/office/drawing/2014/main" id="{581EFC82-F7E1-4477-8258-0E2A779E0FB0}"/>
              </a:ext>
            </a:extLst>
          </p:cNvPr>
          <p:cNvSpPr>
            <a:spLocks noGrp="1"/>
          </p:cNvSpPr>
          <p:nvPr/>
        </p:nvSpPr>
        <p:spPr>
          <a:xfrm>
            <a:off x="609600" y="6429375"/>
            <a:ext cx="10972800" cy="0"/>
          </a:xfrm>
          <a:prstGeom prst="line">
            <a:avLst/>
          </a:prstGeom>
          <a:noFill/>
          <a:ln w="9525">
            <a:solidFill>
              <a:srgbClr val="1B3028"/>
            </a:solidFill>
            <a:prstDash val="solid"/>
          </a:ln>
        </p:spPr>
      </p:sp>
      <p:sp>
        <p:nvSpPr>
          <p:cNvPr id="21" name="Rectangle 20">
            <a:extLst>
              <a:ext uri="{FF2B5EF4-FFF2-40B4-BE49-F238E27FC236}">
                <a16:creationId xmlns:a16="http://schemas.microsoft.com/office/drawing/2014/main" id="{6290A5B7-19CA-4A9E-BB71-3D07850CBC1D}"/>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2" name="Rectangle 21">
            <a:extLst>
              <a:ext uri="{FF2B5EF4-FFF2-40B4-BE49-F238E27FC236}">
                <a16:creationId xmlns:a16="http://schemas.microsoft.com/office/drawing/2014/main" id="{CB383408-A553-40D8-BC56-1465D44A1C8F}"/>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16</a:t>
            </a:r>
          </a:p>
        </p:txBody>
      </p:sp>
    </p:spTree>
    <p:extLst>
      <p:ext uri="{BB962C8B-B14F-4D97-AF65-F5344CB8AC3E}">
        <p14:creationId xmlns:p14="http://schemas.microsoft.com/office/powerpoint/2010/main" val="1392017604"/>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24" name="Straight Connector 23">
            <a:extLst>
              <a:ext uri="{FF2B5EF4-FFF2-40B4-BE49-F238E27FC236}">
                <a16:creationId xmlns:a16="http://schemas.microsoft.com/office/drawing/2014/main" id="{832764B2-8F72-4DDB-A40B-1836FED3BFAF}"/>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77BE4CA1-CD26-47C3-93A5-5507A79A4A1A}"/>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Sécurité et isolation multi-tenant</a:t>
            </a:r>
          </a:p>
        </p:txBody>
      </p:sp>
      <p:sp>
        <p:nvSpPr>
          <p:cNvPr id="3" name="Rectangle: Rounded Corners 2">
            <a:extLst>
              <a:ext uri="{FF2B5EF4-FFF2-40B4-BE49-F238E27FC236}">
                <a16:creationId xmlns:a16="http://schemas.microsoft.com/office/drawing/2014/main" id="{5037BB2E-1903-458B-BCB0-43FDEE141275}"/>
              </a:ext>
            </a:extLst>
          </p:cNvPr>
          <p:cNvSpPr>
            <a:spLocks noGrp="1"/>
          </p:cNvSpPr>
          <p:nvPr/>
        </p:nvSpPr>
        <p:spPr>
          <a:xfrm>
            <a:off x="685800" y="1352550"/>
            <a:ext cx="2190750" cy="552450"/>
          </a:xfrm>
          <a:prstGeom prst="roundRect">
            <a:avLst>
              <a:gd name="adj" fmla="val 24138"/>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425" b="1">
                <a:solidFill>
                  <a:srgbClr val="F5F7F6"/>
                </a:solidFill>
                <a:latin typeface="Segoe UI"/>
                <a:ea typeface="Segoe UI"/>
                <a:cs typeface="Segoe UI"/>
              </a:defRPr>
            </a:pPr>
            <a:r>
              <a:rPr sz="1425" b="1">
                <a:solidFill>
                  <a:srgbClr val="F5F7F6"/>
                </a:solidFill>
                <a:latin typeface="Segoe UI"/>
                <a:ea typeface="Segoe UI"/>
                <a:cs typeface="Segoe UI"/>
              </a:rPr>
              <a:t>ADMIN</a:t>
            </a:r>
          </a:p>
        </p:txBody>
      </p:sp>
      <p:sp>
        <p:nvSpPr>
          <p:cNvPr id="4" name="Rectangle: Rounded Corners 3">
            <a:extLst>
              <a:ext uri="{FF2B5EF4-FFF2-40B4-BE49-F238E27FC236}">
                <a16:creationId xmlns:a16="http://schemas.microsoft.com/office/drawing/2014/main" id="{8FACA347-F266-4485-883D-DB7F16DCFF90}"/>
              </a:ext>
            </a:extLst>
          </p:cNvPr>
          <p:cNvSpPr>
            <a:spLocks noGrp="1"/>
          </p:cNvSpPr>
          <p:nvPr/>
        </p:nvSpPr>
        <p:spPr>
          <a:xfrm>
            <a:off x="685800" y="2352675"/>
            <a:ext cx="2190750" cy="552450"/>
          </a:xfrm>
          <a:prstGeom prst="roundRect">
            <a:avLst>
              <a:gd name="adj" fmla="val 24138"/>
            </a:avLst>
          </a:prstGeom>
          <a:solidFill>
            <a:srgbClr val="0F1A16"/>
          </a:solidFill>
          <a:ln w="9525">
            <a:solidFill>
              <a:srgbClr val="244338"/>
            </a:solidFill>
            <a:prstDash val="solid"/>
          </a:ln>
        </p:spPr>
        <p:txBody>
          <a:bodyPr lIns="95250" tIns="76200" rIns="95250" bIns="76200" anchor="ctr">
            <a:normAutofit/>
          </a:bodyPr>
          <a:lstStyle/>
          <a:p>
            <a:pPr algn="ctr">
              <a:lnSpc>
                <a:spcPct val="100000"/>
              </a:lnSpc>
              <a:buNone/>
              <a:defRPr sz="1425" b="1">
                <a:solidFill>
                  <a:srgbClr val="F5F7F6"/>
                </a:solidFill>
                <a:latin typeface="Segoe UI"/>
                <a:ea typeface="Segoe UI"/>
                <a:cs typeface="Segoe UI"/>
              </a:defRPr>
            </a:pPr>
            <a:r>
              <a:rPr sz="1425" b="1">
                <a:solidFill>
                  <a:srgbClr val="F5F7F6"/>
                </a:solidFill>
                <a:latin typeface="Segoe UI"/>
                <a:ea typeface="Segoe UI"/>
                <a:cs typeface="Segoe UI"/>
              </a:rPr>
              <a:t>SUPERVISOR</a:t>
            </a:r>
          </a:p>
        </p:txBody>
      </p:sp>
      <p:sp>
        <p:nvSpPr>
          <p:cNvPr id="5" name="Rectangle: Rounded Corners 4">
            <a:extLst>
              <a:ext uri="{FF2B5EF4-FFF2-40B4-BE49-F238E27FC236}">
                <a16:creationId xmlns:a16="http://schemas.microsoft.com/office/drawing/2014/main" id="{B4CFA80D-F591-4946-8944-4FBCFE1DED94}"/>
              </a:ext>
            </a:extLst>
          </p:cNvPr>
          <p:cNvSpPr>
            <a:spLocks noGrp="1"/>
          </p:cNvSpPr>
          <p:nvPr/>
        </p:nvSpPr>
        <p:spPr>
          <a:xfrm>
            <a:off x="685800" y="3352800"/>
            <a:ext cx="2190750" cy="552450"/>
          </a:xfrm>
          <a:prstGeom prst="roundRect">
            <a:avLst>
              <a:gd name="adj" fmla="val 24138"/>
            </a:avLst>
          </a:prstGeom>
          <a:solidFill>
            <a:srgbClr val="0F1A16"/>
          </a:solidFill>
          <a:ln w="9525">
            <a:solidFill>
              <a:srgbClr val="244338"/>
            </a:solidFill>
            <a:prstDash val="solid"/>
          </a:ln>
        </p:spPr>
        <p:txBody>
          <a:bodyPr lIns="95250" tIns="76200" rIns="95250" bIns="76200" anchor="ctr">
            <a:normAutofit/>
          </a:bodyPr>
          <a:lstStyle/>
          <a:p>
            <a:pPr algn="ctr">
              <a:lnSpc>
                <a:spcPct val="100000"/>
              </a:lnSpc>
              <a:buNone/>
              <a:defRPr sz="1425" b="1">
                <a:solidFill>
                  <a:srgbClr val="F5F7F6"/>
                </a:solidFill>
                <a:latin typeface="Segoe UI"/>
                <a:ea typeface="Segoe UI"/>
                <a:cs typeface="Segoe UI"/>
              </a:defRPr>
            </a:pPr>
            <a:r>
              <a:rPr sz="1425" b="1">
                <a:solidFill>
                  <a:srgbClr val="F5F7F6"/>
                </a:solidFill>
                <a:latin typeface="Segoe UI"/>
                <a:ea typeface="Segoe UI"/>
                <a:cs typeface="Segoe UI"/>
              </a:rPr>
              <a:t>TECHNICIAN</a:t>
            </a:r>
          </a:p>
        </p:txBody>
      </p:sp>
      <p:sp>
        <p:nvSpPr>
          <p:cNvPr id="6" name="Rectangle: Rounded Corners 5">
            <a:extLst>
              <a:ext uri="{FF2B5EF4-FFF2-40B4-BE49-F238E27FC236}">
                <a16:creationId xmlns:a16="http://schemas.microsoft.com/office/drawing/2014/main" id="{BCB6530B-8932-4D56-8761-00BF96245BEA}"/>
              </a:ext>
            </a:extLst>
          </p:cNvPr>
          <p:cNvSpPr>
            <a:spLocks noGrp="1"/>
          </p:cNvSpPr>
          <p:nvPr/>
        </p:nvSpPr>
        <p:spPr>
          <a:xfrm>
            <a:off x="685800" y="4352925"/>
            <a:ext cx="2190750" cy="552450"/>
          </a:xfrm>
          <a:prstGeom prst="roundRect">
            <a:avLst>
              <a:gd name="adj" fmla="val 24138"/>
            </a:avLst>
          </a:prstGeom>
          <a:solidFill>
            <a:srgbClr val="0F1A16"/>
          </a:solidFill>
          <a:ln w="9525">
            <a:solidFill>
              <a:srgbClr val="244338"/>
            </a:solidFill>
            <a:prstDash val="solid"/>
          </a:ln>
        </p:spPr>
        <p:txBody>
          <a:bodyPr lIns="95250" tIns="76200" rIns="95250" bIns="76200" anchor="ctr">
            <a:normAutofit/>
          </a:bodyPr>
          <a:lstStyle/>
          <a:p>
            <a:pPr algn="ctr">
              <a:lnSpc>
                <a:spcPct val="100000"/>
              </a:lnSpc>
              <a:buNone/>
              <a:defRPr sz="1425" b="1">
                <a:solidFill>
                  <a:srgbClr val="F5F7F6"/>
                </a:solidFill>
                <a:latin typeface="Segoe UI"/>
                <a:ea typeface="Segoe UI"/>
                <a:cs typeface="Segoe UI"/>
              </a:defRPr>
            </a:pPr>
            <a:r>
              <a:rPr sz="1425" b="1">
                <a:solidFill>
                  <a:srgbClr val="F5F7F6"/>
                </a:solidFill>
                <a:latin typeface="Segoe UI"/>
                <a:ea typeface="Segoe UI"/>
                <a:cs typeface="Segoe UI"/>
              </a:rPr>
              <a:t>CLIENT</a:t>
            </a:r>
          </a:p>
        </p:txBody>
      </p:sp>
      <p:sp>
        <p:nvSpPr>
          <p:cNvPr id="7" name="Rectangle: Rounded Corners 6">
            <a:extLst>
              <a:ext uri="{FF2B5EF4-FFF2-40B4-BE49-F238E27FC236}">
                <a16:creationId xmlns:a16="http://schemas.microsoft.com/office/drawing/2014/main" id="{843F17BA-5FD8-4941-BD9D-180BCD6AAD58}"/>
              </a:ext>
            </a:extLst>
          </p:cNvPr>
          <p:cNvSpPr>
            <a:spLocks noGrp="1"/>
          </p:cNvSpPr>
          <p:nvPr/>
        </p:nvSpPr>
        <p:spPr>
          <a:xfrm>
            <a:off x="3905250" y="1714500"/>
            <a:ext cx="2476500" cy="876300"/>
          </a:xfrm>
          <a:prstGeom prst="roundRect">
            <a:avLst>
              <a:gd name="adj" fmla="val 15217"/>
            </a:avLst>
          </a:prstGeom>
          <a:solidFill>
            <a:srgbClr val="0E2B1D"/>
          </a:solidFill>
          <a:ln w="9525">
            <a:solidFill>
              <a:srgbClr val="1ED760"/>
            </a:solidFill>
            <a:prstDash val="solid"/>
          </a:ln>
        </p:spPr>
        <p:txBody>
          <a:bodyPr lIns="95250" tIns="76200" rIns="95250" bIns="76200" anchor="ctr">
            <a:normAutofit fontScale="81883"/>
          </a:bodyPr>
          <a:lstStyle/>
          <a:p>
            <a:pPr algn="ctr">
              <a:lnSpc>
                <a:spcPct val="100000"/>
              </a:lnSpc>
              <a:buNone/>
              <a:defRPr sz="1725" b="1">
                <a:solidFill>
                  <a:srgbClr val="F5F7F6"/>
                </a:solidFill>
                <a:latin typeface="Segoe UI"/>
                <a:ea typeface="Segoe UI"/>
                <a:cs typeface="Segoe UI"/>
              </a:defRPr>
            </a:pPr>
            <a:r>
              <a:rPr sz="1725" b="1">
                <a:solidFill>
                  <a:srgbClr val="F5F7F6"/>
                </a:solidFill>
                <a:latin typeface="Segoe UI"/>
                <a:ea typeface="Segoe UI"/>
                <a:cs typeface="Segoe UI"/>
              </a:rPr>
              <a:t>JWT</a:t>
            </a:r>
          </a:p>
          <a:p>
            <a:pPr algn="ctr">
              <a:lnSpc>
                <a:spcPct val="100000"/>
              </a:lnSpc>
              <a:buNone/>
              <a:defRPr sz="1725" b="1">
                <a:solidFill>
                  <a:srgbClr val="F5F7F6"/>
                </a:solidFill>
                <a:latin typeface="Segoe UI"/>
                <a:ea typeface="Segoe UI"/>
                <a:cs typeface="Segoe UI"/>
              </a:defRPr>
            </a:pPr>
            <a:r>
              <a:rPr sz="1725" b="1">
                <a:solidFill>
                  <a:srgbClr val="F5F7F6"/>
                </a:solidFill>
                <a:latin typeface="Segoe UI"/>
                <a:ea typeface="Segoe UI"/>
                <a:cs typeface="Segoe UI"/>
              </a:rPr>
              <a:t>RBAC</a:t>
            </a:r>
          </a:p>
          <a:p>
            <a:pPr algn="ctr">
              <a:lnSpc>
                <a:spcPct val="100000"/>
              </a:lnSpc>
              <a:buNone/>
              <a:defRPr sz="1725" b="1">
                <a:solidFill>
                  <a:srgbClr val="F5F7F6"/>
                </a:solidFill>
                <a:latin typeface="Segoe UI"/>
                <a:ea typeface="Segoe UI"/>
                <a:cs typeface="Segoe UI"/>
              </a:defRPr>
            </a:pPr>
            <a:r>
              <a:rPr sz="1725" b="1">
                <a:solidFill>
                  <a:srgbClr val="F5F7F6"/>
                </a:solidFill>
                <a:latin typeface="Segoe UI"/>
                <a:ea typeface="Segoe UI"/>
                <a:cs typeface="Segoe UI"/>
              </a:rPr>
              <a:t>RATE LIMITING</a:t>
            </a:r>
          </a:p>
        </p:txBody>
      </p:sp>
      <p:sp>
        <p:nvSpPr>
          <p:cNvPr id="8" name="!!TenantA">
            <a:extLst>
              <a:ext uri="{FF2B5EF4-FFF2-40B4-BE49-F238E27FC236}">
                <a16:creationId xmlns:a16="http://schemas.microsoft.com/office/drawing/2014/main" id="{CACFBCA5-4819-4ACC-B819-04C345A382E7}"/>
              </a:ext>
            </a:extLst>
          </p:cNvPr>
          <p:cNvSpPr>
            <a:spLocks noGrp="1"/>
          </p:cNvSpPr>
          <p:nvPr/>
        </p:nvSpPr>
        <p:spPr>
          <a:xfrm>
            <a:off x="7524750" y="1295400"/>
            <a:ext cx="3429000" cy="1619250"/>
          </a:xfrm>
          <a:prstGeom prst="roundRect">
            <a:avLst>
              <a:gd name="adj" fmla="val 8235"/>
            </a:avLst>
          </a:prstGeom>
          <a:solidFill>
            <a:srgbClr val="102127"/>
          </a:solidFill>
          <a:ln w="9525">
            <a:solidFill>
              <a:srgbClr val="37D7E8"/>
            </a:solidFill>
            <a:prstDash val="solid"/>
          </a:ln>
        </p:spPr>
        <p:txBody>
          <a:bodyPr lIns="95250" tIns="76200" rIns="95250" bIns="76200" anchor="ctr">
            <a:normAutofit/>
          </a:bodyPr>
          <a:lstStyle/>
          <a:p>
            <a:pPr algn="ctr">
              <a:lnSpc>
                <a:spcPct val="100000"/>
              </a:lnSpc>
              <a:buNone/>
              <a:defRPr sz="1800" b="1">
                <a:solidFill>
                  <a:srgbClr val="F5F7F6"/>
                </a:solidFill>
                <a:latin typeface="Segoe UI"/>
                <a:ea typeface="Segoe UI"/>
                <a:cs typeface="Segoe UI"/>
              </a:defRPr>
            </a:pPr>
            <a:r>
              <a:rPr sz="1800" b="1">
                <a:solidFill>
                  <a:srgbClr val="F5F7F6"/>
                </a:solidFill>
                <a:latin typeface="Segoe UI"/>
                <a:ea typeface="Segoe UI"/>
                <a:cs typeface="Segoe UI"/>
              </a:rPr>
              <a:t>CLIENT A</a:t>
            </a:r>
          </a:p>
          <a:p>
            <a:pPr algn="ctr">
              <a:lnSpc>
                <a:spcPct val="100000"/>
              </a:lnSpc>
              <a:buNone/>
              <a:defRPr sz="1800" b="1">
                <a:solidFill>
                  <a:srgbClr val="F5F7F6"/>
                </a:solidFill>
                <a:latin typeface="Segoe UI"/>
                <a:ea typeface="Segoe UI"/>
                <a:cs typeface="Segoe UI"/>
              </a:defRPr>
            </a:pPr>
            <a:r>
              <a:rPr sz="1800" b="1">
                <a:solidFill>
                  <a:srgbClr val="F5F7F6"/>
                </a:solidFill>
                <a:latin typeface="Segoe UI"/>
                <a:ea typeface="Segoe UI"/>
                <a:cs typeface="Segoe UI"/>
              </a:rPr>
              <a:t>Machines A</a:t>
            </a:r>
          </a:p>
          <a:p>
            <a:pPr algn="ctr">
              <a:lnSpc>
                <a:spcPct val="100000"/>
              </a:lnSpc>
              <a:buNone/>
              <a:defRPr sz="1800" b="1">
                <a:solidFill>
                  <a:srgbClr val="F5F7F6"/>
                </a:solidFill>
                <a:latin typeface="Segoe UI"/>
                <a:ea typeface="Segoe UI"/>
                <a:cs typeface="Segoe UI"/>
              </a:defRPr>
            </a:pPr>
            <a:r>
              <a:rPr sz="1800" b="1">
                <a:solidFill>
                  <a:srgbClr val="F5F7F6"/>
                </a:solidFill>
                <a:latin typeface="Segoe UI"/>
                <a:ea typeface="Segoe UI"/>
                <a:cs typeface="Segoe UI"/>
              </a:rPr>
              <a:t>Alertes A</a:t>
            </a:r>
          </a:p>
          <a:p>
            <a:pPr algn="ctr">
              <a:lnSpc>
                <a:spcPct val="100000"/>
              </a:lnSpc>
              <a:buNone/>
              <a:defRPr sz="1800" b="1">
                <a:solidFill>
                  <a:srgbClr val="F5F7F6"/>
                </a:solidFill>
                <a:latin typeface="Segoe UI"/>
                <a:ea typeface="Segoe UI"/>
                <a:cs typeface="Segoe UI"/>
              </a:defRPr>
            </a:pPr>
            <a:r>
              <a:rPr sz="1800" b="1">
                <a:solidFill>
                  <a:srgbClr val="F5F7F6"/>
                </a:solidFill>
                <a:latin typeface="Segoe UI"/>
                <a:ea typeface="Segoe UI"/>
                <a:cs typeface="Segoe UI"/>
              </a:rPr>
              <a:t>Utilisateurs A</a:t>
            </a:r>
          </a:p>
        </p:txBody>
      </p:sp>
      <p:sp>
        <p:nvSpPr>
          <p:cNvPr id="9" name="!!TenantB">
            <a:extLst>
              <a:ext uri="{FF2B5EF4-FFF2-40B4-BE49-F238E27FC236}">
                <a16:creationId xmlns:a16="http://schemas.microsoft.com/office/drawing/2014/main" id="{FF3C3D9D-7162-45A2-ABE1-DC4F3B21E185}"/>
              </a:ext>
            </a:extLst>
          </p:cNvPr>
          <p:cNvSpPr>
            <a:spLocks noGrp="1"/>
          </p:cNvSpPr>
          <p:nvPr/>
        </p:nvSpPr>
        <p:spPr>
          <a:xfrm>
            <a:off x="7524750" y="3714750"/>
            <a:ext cx="3429000" cy="1619250"/>
          </a:xfrm>
          <a:prstGeom prst="roundRect">
            <a:avLst>
              <a:gd name="adj" fmla="val 8235"/>
            </a:avLst>
          </a:prstGeom>
          <a:solidFill>
            <a:srgbClr val="0F1A16"/>
          </a:solidFill>
          <a:ln w="9525">
            <a:solidFill>
              <a:srgbClr val="1ED760"/>
            </a:solidFill>
            <a:prstDash val="solid"/>
          </a:ln>
        </p:spPr>
        <p:txBody>
          <a:bodyPr lIns="95250" tIns="76200" rIns="95250" bIns="76200" anchor="ctr">
            <a:normAutofit/>
          </a:bodyPr>
          <a:lstStyle/>
          <a:p>
            <a:pPr algn="ctr">
              <a:lnSpc>
                <a:spcPct val="100000"/>
              </a:lnSpc>
              <a:buNone/>
              <a:defRPr sz="1800" b="1">
                <a:solidFill>
                  <a:srgbClr val="F5F7F6"/>
                </a:solidFill>
                <a:latin typeface="Segoe UI"/>
                <a:ea typeface="Segoe UI"/>
                <a:cs typeface="Segoe UI"/>
              </a:defRPr>
            </a:pPr>
            <a:r>
              <a:rPr sz="1800" b="1">
                <a:solidFill>
                  <a:srgbClr val="F5F7F6"/>
                </a:solidFill>
                <a:latin typeface="Segoe UI"/>
                <a:ea typeface="Segoe UI"/>
                <a:cs typeface="Segoe UI"/>
              </a:rPr>
              <a:t>CLIENT B</a:t>
            </a:r>
          </a:p>
          <a:p>
            <a:pPr algn="ctr">
              <a:lnSpc>
                <a:spcPct val="100000"/>
              </a:lnSpc>
              <a:buNone/>
              <a:defRPr sz="1800" b="1">
                <a:solidFill>
                  <a:srgbClr val="F5F7F6"/>
                </a:solidFill>
                <a:latin typeface="Segoe UI"/>
                <a:ea typeface="Segoe UI"/>
                <a:cs typeface="Segoe UI"/>
              </a:defRPr>
            </a:pPr>
            <a:r>
              <a:rPr sz="1800" b="1">
                <a:solidFill>
                  <a:srgbClr val="F5F7F6"/>
                </a:solidFill>
                <a:latin typeface="Segoe UI"/>
                <a:ea typeface="Segoe UI"/>
                <a:cs typeface="Segoe UI"/>
              </a:rPr>
              <a:t>Machines B</a:t>
            </a:r>
          </a:p>
          <a:p>
            <a:pPr algn="ctr">
              <a:lnSpc>
                <a:spcPct val="100000"/>
              </a:lnSpc>
              <a:buNone/>
              <a:defRPr sz="1800" b="1">
                <a:solidFill>
                  <a:srgbClr val="F5F7F6"/>
                </a:solidFill>
                <a:latin typeface="Segoe UI"/>
                <a:ea typeface="Segoe UI"/>
                <a:cs typeface="Segoe UI"/>
              </a:defRPr>
            </a:pPr>
            <a:r>
              <a:rPr sz="1800" b="1">
                <a:solidFill>
                  <a:srgbClr val="F5F7F6"/>
                </a:solidFill>
                <a:latin typeface="Segoe UI"/>
                <a:ea typeface="Segoe UI"/>
                <a:cs typeface="Segoe UI"/>
              </a:rPr>
              <a:t>Alertes B</a:t>
            </a:r>
          </a:p>
          <a:p>
            <a:pPr algn="ctr">
              <a:lnSpc>
                <a:spcPct val="100000"/>
              </a:lnSpc>
              <a:buNone/>
              <a:defRPr sz="1800" b="1">
                <a:solidFill>
                  <a:srgbClr val="F5F7F6"/>
                </a:solidFill>
                <a:latin typeface="Segoe UI"/>
                <a:ea typeface="Segoe UI"/>
                <a:cs typeface="Segoe UI"/>
              </a:defRPr>
            </a:pPr>
            <a:r>
              <a:rPr sz="1800" b="1">
                <a:solidFill>
                  <a:srgbClr val="F5F7F6"/>
                </a:solidFill>
                <a:latin typeface="Segoe UI"/>
                <a:ea typeface="Segoe UI"/>
                <a:cs typeface="Segoe UI"/>
              </a:rPr>
              <a:t>Utilisateurs B</a:t>
            </a:r>
          </a:p>
        </p:txBody>
      </p:sp>
      <p:cxnSp>
        <p:nvCxnSpPr>
          <p:cNvPr id="33" name="Connector: Elbow 32"/>
          <p:cNvCxnSpPr>
            <a:stCxn id="3" idx="3"/>
            <a:endCxn id="7" idx="1"/>
          </p:cNvCxnSpPr>
          <p:nvPr/>
        </p:nvCxnSpPr>
        <p:spPr>
          <a:xfrm>
            <a:off x="2876550" y="1628775"/>
            <a:ext cx="1028700" cy="523875"/>
          </a:xfrm>
          <a:prstGeom prst="bentConnector3">
            <a:avLst>
              <a:gd name="adj1" fmla="val 50000"/>
            </a:avLst>
          </a:prstGeom>
          <a:ln w="19050">
            <a:solidFill>
              <a:srgbClr val="244338"/>
            </a:solidFill>
            <a:prstDash val="solid"/>
            <a:tailEnd type="none" w="med" len="med"/>
          </a:ln>
        </p:spPr>
      </p:cxnSp>
      <p:cxnSp>
        <p:nvCxnSpPr>
          <p:cNvPr id="34" name="Connector: Elbow 33"/>
          <p:cNvCxnSpPr>
            <a:stCxn id="4" idx="3"/>
            <a:endCxn id="7" idx="1"/>
          </p:cNvCxnSpPr>
          <p:nvPr/>
        </p:nvCxnSpPr>
        <p:spPr>
          <a:xfrm flipV="1">
            <a:off x="2876550" y="2152650"/>
            <a:ext cx="1028700" cy="476250"/>
          </a:xfrm>
          <a:prstGeom prst="bentConnector3">
            <a:avLst>
              <a:gd name="adj1" fmla="val 50000"/>
            </a:avLst>
          </a:prstGeom>
          <a:ln w="19050">
            <a:solidFill>
              <a:srgbClr val="244338"/>
            </a:solidFill>
            <a:prstDash val="solid"/>
            <a:tailEnd type="none" w="med" len="med"/>
          </a:ln>
        </p:spPr>
      </p:cxnSp>
      <p:cxnSp>
        <p:nvCxnSpPr>
          <p:cNvPr id="35" name="Connector: Elbow 34"/>
          <p:cNvCxnSpPr>
            <a:stCxn id="5" idx="3"/>
            <a:endCxn id="7" idx="1"/>
          </p:cNvCxnSpPr>
          <p:nvPr/>
        </p:nvCxnSpPr>
        <p:spPr>
          <a:xfrm flipV="1">
            <a:off x="2876550" y="2152650"/>
            <a:ext cx="1028700" cy="1476375"/>
          </a:xfrm>
          <a:prstGeom prst="bentConnector3">
            <a:avLst>
              <a:gd name="adj1" fmla="val 50000"/>
            </a:avLst>
          </a:prstGeom>
          <a:ln w="19050">
            <a:solidFill>
              <a:srgbClr val="244338"/>
            </a:solidFill>
            <a:prstDash val="solid"/>
            <a:tailEnd type="none" w="med" len="med"/>
          </a:ln>
        </p:spPr>
      </p:cxnSp>
      <p:cxnSp>
        <p:nvCxnSpPr>
          <p:cNvPr id="36" name="Connector: Elbow 35"/>
          <p:cNvCxnSpPr>
            <a:stCxn id="6" idx="3"/>
            <a:endCxn id="7" idx="1"/>
          </p:cNvCxnSpPr>
          <p:nvPr/>
        </p:nvCxnSpPr>
        <p:spPr>
          <a:xfrm flipV="1">
            <a:off x="2876550" y="2152650"/>
            <a:ext cx="1028700" cy="2476500"/>
          </a:xfrm>
          <a:prstGeom prst="bentConnector3">
            <a:avLst>
              <a:gd name="adj1" fmla="val 50000"/>
            </a:avLst>
          </a:prstGeom>
          <a:ln w="19050">
            <a:solidFill>
              <a:srgbClr val="244338"/>
            </a:solidFill>
            <a:prstDash val="solid"/>
            <a:tailEnd type="none" w="med" len="med"/>
          </a:ln>
        </p:spPr>
      </p:cxnSp>
      <p:cxnSp>
        <p:nvCxnSpPr>
          <p:cNvPr id="37" name="Connector: Elbow 36"/>
          <p:cNvCxnSpPr>
            <a:stCxn id="7" idx="3"/>
            <a:endCxn id="8" idx="1"/>
          </p:cNvCxnSpPr>
          <p:nvPr/>
        </p:nvCxnSpPr>
        <p:spPr>
          <a:xfrm flipV="1">
            <a:off x="6381750" y="2105025"/>
            <a:ext cx="1143000" cy="47625"/>
          </a:xfrm>
          <a:prstGeom prst="bentConnector3">
            <a:avLst>
              <a:gd name="adj1" fmla="val 50000"/>
            </a:avLst>
          </a:prstGeom>
          <a:ln w="19050">
            <a:solidFill>
              <a:srgbClr val="37D7E8"/>
            </a:solidFill>
            <a:prstDash val="solid"/>
            <a:tailEnd type="arrow" w="med" len="med"/>
          </a:ln>
        </p:spPr>
      </p:cxnSp>
      <p:cxnSp>
        <p:nvCxnSpPr>
          <p:cNvPr id="38" name="Connector: Elbow 37"/>
          <p:cNvCxnSpPr>
            <a:stCxn id="7" idx="3"/>
            <a:endCxn id="9" idx="1"/>
          </p:cNvCxnSpPr>
          <p:nvPr/>
        </p:nvCxnSpPr>
        <p:spPr>
          <a:xfrm>
            <a:off x="6381750" y="2152650"/>
            <a:ext cx="1143000" cy="2371725"/>
          </a:xfrm>
          <a:prstGeom prst="bentConnector3">
            <a:avLst>
              <a:gd name="adj1" fmla="val 50000"/>
            </a:avLst>
          </a:prstGeom>
          <a:ln w="19050">
            <a:solidFill>
              <a:srgbClr val="1ED760"/>
            </a:solidFill>
            <a:prstDash val="solid"/>
            <a:tailEnd type="arrow" w="med" len="med"/>
          </a:ln>
        </p:spPr>
      </p:cxnSp>
      <p:sp>
        <p:nvSpPr>
          <p:cNvPr id="16" name="Straight Connector 15">
            <a:extLst>
              <a:ext uri="{FF2B5EF4-FFF2-40B4-BE49-F238E27FC236}">
                <a16:creationId xmlns:a16="http://schemas.microsoft.com/office/drawing/2014/main" id="{C849A3CC-B616-4221-BCF8-1C86912A2A30}"/>
              </a:ext>
            </a:extLst>
          </p:cNvPr>
          <p:cNvSpPr>
            <a:spLocks noGrp="1"/>
          </p:cNvSpPr>
          <p:nvPr/>
        </p:nvSpPr>
        <p:spPr>
          <a:xfrm>
            <a:off x="7067550" y="1123950"/>
            <a:ext cx="0" cy="4619625"/>
          </a:xfrm>
          <a:prstGeom prst="line">
            <a:avLst/>
          </a:prstGeom>
          <a:noFill/>
          <a:ln w="28575">
            <a:solidFill>
              <a:srgbClr val="FF5C7A"/>
            </a:solidFill>
            <a:prstDash val="dash"/>
          </a:ln>
        </p:spPr>
      </p:sp>
      <p:sp>
        <p:nvSpPr>
          <p:cNvPr id="17" name="Rectangle 16">
            <a:extLst>
              <a:ext uri="{FF2B5EF4-FFF2-40B4-BE49-F238E27FC236}">
                <a16:creationId xmlns:a16="http://schemas.microsoft.com/office/drawing/2014/main" id="{3F45AE1B-0F67-4232-B624-190129A9474F}"/>
              </a:ext>
            </a:extLst>
          </p:cNvPr>
          <p:cNvSpPr>
            <a:spLocks noGrp="1"/>
          </p:cNvSpPr>
          <p:nvPr/>
        </p:nvSpPr>
        <p:spPr>
          <a:xfrm rot="5400000">
            <a:off x="6496050" y="5429250"/>
            <a:ext cx="1143000" cy="266700"/>
          </a:xfrm>
          <a:prstGeom prst="rect">
            <a:avLst/>
          </a:prstGeom>
          <a:noFill/>
          <a:ln w="0">
            <a:noFill/>
          </a:ln>
        </p:spPr>
        <p:txBody>
          <a:bodyPr lIns="38100" tIns="19050" rIns="38100" bIns="19050" anchor="ctr">
            <a:normAutofit/>
          </a:bodyPr>
          <a:lstStyle/>
          <a:p>
            <a:pPr algn="ctr">
              <a:lnSpc>
                <a:spcPct val="100000"/>
              </a:lnSpc>
              <a:buNone/>
              <a:defRPr sz="1200" b="1" i="0">
                <a:solidFill>
                  <a:srgbClr val="FF5C7A"/>
                </a:solidFill>
                <a:latin typeface="Segoe UI"/>
                <a:ea typeface="Segoe UI"/>
                <a:cs typeface="Segoe UI"/>
              </a:defRPr>
            </a:pPr>
            <a:r>
              <a:rPr sz="1200" b="1" i="0">
                <a:solidFill>
                  <a:srgbClr val="FF5C7A"/>
                </a:solidFill>
                <a:latin typeface="Segoe UI"/>
                <a:ea typeface="Segoe UI"/>
                <a:cs typeface="Segoe UI"/>
              </a:rPr>
              <a:t>ISOLATION</a:t>
            </a:r>
          </a:p>
        </p:txBody>
      </p:sp>
      <p:sp>
        <p:nvSpPr>
          <p:cNvPr id="18" name="Rectangle: Rounded Corners 17">
            <a:extLst>
              <a:ext uri="{FF2B5EF4-FFF2-40B4-BE49-F238E27FC236}">
                <a16:creationId xmlns:a16="http://schemas.microsoft.com/office/drawing/2014/main" id="{A122009A-A051-42E6-91EE-02D6540A3BC6}"/>
              </a:ext>
            </a:extLst>
          </p:cNvPr>
          <p:cNvSpPr>
            <a:spLocks noGrp="1"/>
          </p:cNvSpPr>
          <p:nvPr/>
        </p:nvSpPr>
        <p:spPr>
          <a:xfrm>
            <a:off x="3714750" y="3143250"/>
            <a:ext cx="2857500" cy="400050"/>
          </a:xfrm>
          <a:prstGeom prst="roundRect">
            <a:avLst>
              <a:gd name="adj" fmla="val 40476"/>
            </a:avLst>
          </a:prstGeom>
          <a:solidFill>
            <a:srgbClr val="10231C"/>
          </a:solidFill>
          <a:ln w="9525">
            <a:solidFill>
              <a:srgbClr val="2A5747"/>
            </a:solidFill>
            <a:prstDash val="solid"/>
          </a:ln>
        </p:spPr>
        <p:txBody>
          <a:bodyPr lIns="76200" tIns="38100" rIns="76200" bIns="38100" anchor="ctr">
            <a:normAutofit/>
          </a:bodyPr>
          <a:lstStyle/>
          <a:p>
            <a:pPr algn="ctr">
              <a:lnSpc>
                <a:spcPct val="100000"/>
              </a:lnSpc>
              <a:buNone/>
              <a:defRPr sz="1200" b="1">
                <a:solidFill>
                  <a:srgbClr val="39FF88"/>
                </a:solidFill>
                <a:latin typeface="Segoe UI"/>
                <a:ea typeface="Segoe UI"/>
                <a:cs typeface="Segoe UI"/>
              </a:defRPr>
            </a:pPr>
            <a:r>
              <a:rPr sz="1200" b="1">
                <a:solidFill>
                  <a:srgbClr val="39FF88"/>
                </a:solidFill>
                <a:latin typeface="Segoe UI"/>
                <a:ea typeface="Segoe UI"/>
                <a:cs typeface="Segoe UI"/>
              </a:rPr>
              <a:t>AGENT ENROLLMENT TOKEN</a:t>
            </a:r>
          </a:p>
        </p:txBody>
      </p:sp>
      <p:sp>
        <p:nvSpPr>
          <p:cNvPr id="19" name="Rectangle: Rounded Corners 18">
            <a:extLst>
              <a:ext uri="{FF2B5EF4-FFF2-40B4-BE49-F238E27FC236}">
                <a16:creationId xmlns:a16="http://schemas.microsoft.com/office/drawing/2014/main" id="{42F089E0-3D62-495E-B74D-656E22EB707D}"/>
              </a:ext>
            </a:extLst>
          </p:cNvPr>
          <p:cNvSpPr>
            <a:spLocks noGrp="1"/>
          </p:cNvSpPr>
          <p:nvPr/>
        </p:nvSpPr>
        <p:spPr>
          <a:xfrm>
            <a:off x="3714750" y="3771900"/>
            <a:ext cx="2857500" cy="400050"/>
          </a:xfrm>
          <a:prstGeom prst="roundRect">
            <a:avLst>
              <a:gd name="adj" fmla="val 40476"/>
            </a:avLst>
          </a:prstGeom>
          <a:solidFill>
            <a:srgbClr val="10231C"/>
          </a:solidFill>
          <a:ln w="9525">
            <a:solidFill>
              <a:srgbClr val="2A5747"/>
            </a:solidFill>
            <a:prstDash val="solid"/>
          </a:ln>
        </p:spPr>
        <p:txBody>
          <a:bodyPr lIns="76200" tIns="38100" rIns="76200" bIns="38100" anchor="ctr">
            <a:normAutofit/>
          </a:bodyPr>
          <a:lstStyle/>
          <a:p>
            <a:pPr algn="ctr">
              <a:lnSpc>
                <a:spcPct val="100000"/>
              </a:lnSpc>
              <a:buNone/>
              <a:defRPr sz="1200" b="1">
                <a:solidFill>
                  <a:srgbClr val="39FF88"/>
                </a:solidFill>
                <a:latin typeface="Segoe UI"/>
                <a:ea typeface="Segoe UI"/>
                <a:cs typeface="Segoe UI"/>
              </a:defRPr>
            </a:pPr>
            <a:r>
              <a:rPr sz="1200" b="1">
                <a:solidFill>
                  <a:srgbClr val="39FF88"/>
                </a:solidFill>
                <a:latin typeface="Segoe UI"/>
                <a:ea typeface="Segoe UI"/>
                <a:cs typeface="Segoe UI"/>
              </a:rPr>
              <a:t>API PROTÉGÉES</a:t>
            </a:r>
          </a:p>
        </p:txBody>
      </p:sp>
      <p:sp>
        <p:nvSpPr>
          <p:cNvPr id="20" name="Rectangle: Rounded Corners 19">
            <a:extLst>
              <a:ext uri="{FF2B5EF4-FFF2-40B4-BE49-F238E27FC236}">
                <a16:creationId xmlns:a16="http://schemas.microsoft.com/office/drawing/2014/main" id="{B8BBF826-5262-4239-9074-13D23A94E73F}"/>
              </a:ext>
            </a:extLst>
          </p:cNvPr>
          <p:cNvSpPr>
            <a:spLocks noGrp="1"/>
          </p:cNvSpPr>
          <p:nvPr/>
        </p:nvSpPr>
        <p:spPr>
          <a:xfrm>
            <a:off x="3714750" y="4400550"/>
            <a:ext cx="2857500" cy="400050"/>
          </a:xfrm>
          <a:prstGeom prst="roundRect">
            <a:avLst>
              <a:gd name="adj" fmla="val 40476"/>
            </a:avLst>
          </a:prstGeom>
          <a:solidFill>
            <a:srgbClr val="10231C"/>
          </a:solidFill>
          <a:ln w="9525">
            <a:solidFill>
              <a:srgbClr val="2A5747"/>
            </a:solidFill>
            <a:prstDash val="solid"/>
          </a:ln>
        </p:spPr>
        <p:txBody>
          <a:bodyPr lIns="76200" tIns="38100" rIns="76200" bIns="38100" anchor="ctr">
            <a:normAutofit/>
          </a:bodyPr>
          <a:lstStyle/>
          <a:p>
            <a:pPr algn="ctr">
              <a:lnSpc>
                <a:spcPct val="100000"/>
              </a:lnSpc>
              <a:buNone/>
              <a:defRPr sz="1200" b="1">
                <a:solidFill>
                  <a:srgbClr val="39FF88"/>
                </a:solidFill>
                <a:latin typeface="Segoe UI"/>
                <a:ea typeface="Segoe UI"/>
                <a:cs typeface="Segoe UI"/>
              </a:defRPr>
            </a:pPr>
            <a:r>
              <a:rPr sz="1200" b="1">
                <a:solidFill>
                  <a:srgbClr val="39FF88"/>
                </a:solidFill>
                <a:latin typeface="Segoe UI"/>
                <a:ea typeface="Segoe UI"/>
                <a:cs typeface="Segoe UI"/>
              </a:rPr>
              <a:t>AUDIT</a:t>
            </a:r>
          </a:p>
        </p:txBody>
      </p:sp>
      <p:sp>
        <p:nvSpPr>
          <p:cNvPr id="21" name="Straight Connector 20">
            <a:extLst>
              <a:ext uri="{FF2B5EF4-FFF2-40B4-BE49-F238E27FC236}">
                <a16:creationId xmlns:a16="http://schemas.microsoft.com/office/drawing/2014/main" id="{11C722DC-49F2-4118-AC35-C679E31DB6D6}"/>
              </a:ext>
            </a:extLst>
          </p:cNvPr>
          <p:cNvSpPr>
            <a:spLocks noGrp="1"/>
          </p:cNvSpPr>
          <p:nvPr/>
        </p:nvSpPr>
        <p:spPr>
          <a:xfrm>
            <a:off x="609600" y="6429375"/>
            <a:ext cx="10972800" cy="0"/>
          </a:xfrm>
          <a:prstGeom prst="line">
            <a:avLst/>
          </a:prstGeom>
          <a:noFill/>
          <a:ln w="9525">
            <a:solidFill>
              <a:srgbClr val="1B3028"/>
            </a:solidFill>
            <a:prstDash val="solid"/>
          </a:ln>
        </p:spPr>
      </p:sp>
      <p:sp>
        <p:nvSpPr>
          <p:cNvPr id="22" name="Rectangle 21">
            <a:extLst>
              <a:ext uri="{FF2B5EF4-FFF2-40B4-BE49-F238E27FC236}">
                <a16:creationId xmlns:a16="http://schemas.microsoft.com/office/drawing/2014/main" id="{CC3F9BC4-D69D-4888-BEFF-73BF1FF27B6B}"/>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3" name="Rectangle 22">
            <a:extLst>
              <a:ext uri="{FF2B5EF4-FFF2-40B4-BE49-F238E27FC236}">
                <a16:creationId xmlns:a16="http://schemas.microsoft.com/office/drawing/2014/main" id="{346B6D9F-BC8A-45FB-9057-A31978A35C92}"/>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17</a:t>
            </a:r>
          </a:p>
        </p:txBody>
      </p:sp>
    </p:spTree>
    <p:extLst>
      <p:ext uri="{BB962C8B-B14F-4D97-AF65-F5344CB8AC3E}">
        <p14:creationId xmlns:p14="http://schemas.microsoft.com/office/powerpoint/2010/main" val="1729270222"/>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sp>
        <p:nvSpPr>
          <p:cNvPr id="19" name="Straight Connector 18">
            <a:extLst>
              <a:ext uri="{FF2B5EF4-FFF2-40B4-BE49-F238E27FC236}">
                <a16:creationId xmlns:a16="http://schemas.microsoft.com/office/drawing/2014/main" id="{D168BB4A-6BCF-46A9-A377-450E3075A1C8}"/>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C57B76E5-C9A9-445D-ADA3-572199D1117C}"/>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Environnements supervisés</a:t>
            </a:r>
          </a:p>
        </p:txBody>
      </p:sp>
      <p:sp>
        <p:nvSpPr>
          <p:cNvPr id="3" name="Rectangle 2">
            <a:extLst>
              <a:ext uri="{FF2B5EF4-FFF2-40B4-BE49-F238E27FC236}">
                <a16:creationId xmlns:a16="http://schemas.microsoft.com/office/drawing/2014/main" id="{E5C02ABB-1F13-42E3-9083-259EDF292F42}"/>
              </a:ext>
            </a:extLst>
          </p:cNvPr>
          <p:cNvSpPr>
            <a:spLocks noGrp="1"/>
          </p:cNvSpPr>
          <p:nvPr/>
        </p:nvSpPr>
        <p:spPr>
          <a:xfrm>
            <a:off x="666750" y="1390650"/>
            <a:ext cx="3143250" cy="647700"/>
          </a:xfrm>
          <a:prstGeom prst="rect">
            <a:avLst/>
          </a:prstGeom>
          <a:noFill/>
          <a:ln w="0">
            <a:noFill/>
          </a:ln>
        </p:spPr>
        <p:txBody>
          <a:bodyPr lIns="38100" tIns="19050" rIns="38100" bIns="19050" anchor="ctr">
            <a:normAutofit/>
          </a:bodyPr>
          <a:lstStyle/>
          <a:p>
            <a:pPr algn="ctr">
              <a:lnSpc>
                <a:spcPct val="100000"/>
              </a:lnSpc>
              <a:buNone/>
              <a:defRPr sz="3600" b="1" i="0">
                <a:solidFill>
                  <a:srgbClr val="1ED760"/>
                </a:solidFill>
                <a:latin typeface="Segoe UI"/>
                <a:ea typeface="Segoe UI"/>
                <a:cs typeface="Segoe UI"/>
              </a:defRPr>
            </a:pPr>
            <a:r>
              <a:rPr sz="3600" b="1" i="0">
                <a:solidFill>
                  <a:srgbClr val="1ED760"/>
                </a:solidFill>
                <a:latin typeface="Segoe UI"/>
                <a:ea typeface="Segoe UI"/>
                <a:cs typeface="Segoe UI"/>
              </a:rPr>
              <a:t>WINDOWS</a:t>
            </a:r>
          </a:p>
        </p:txBody>
      </p:sp>
      <p:sp>
        <p:nvSpPr>
          <p:cNvPr id="4" name="Straight Connector 3">
            <a:extLst>
              <a:ext uri="{FF2B5EF4-FFF2-40B4-BE49-F238E27FC236}">
                <a16:creationId xmlns:a16="http://schemas.microsoft.com/office/drawing/2014/main" id="{D44EB5FE-F66F-4700-95D2-664857C3B115}"/>
              </a:ext>
            </a:extLst>
          </p:cNvPr>
          <p:cNvSpPr>
            <a:spLocks noGrp="1"/>
          </p:cNvSpPr>
          <p:nvPr/>
        </p:nvSpPr>
        <p:spPr>
          <a:xfrm>
            <a:off x="1333500" y="2152650"/>
            <a:ext cx="1809750" cy="0"/>
          </a:xfrm>
          <a:prstGeom prst="line">
            <a:avLst/>
          </a:prstGeom>
          <a:noFill/>
          <a:ln w="38100">
            <a:solidFill>
              <a:srgbClr val="1ED760"/>
            </a:solidFill>
            <a:prstDash val="solid"/>
          </a:ln>
        </p:spPr>
      </p:sp>
      <p:sp>
        <p:nvSpPr>
          <p:cNvPr id="5" name="Rectangle: Rounded Corners 4">
            <a:extLst>
              <a:ext uri="{FF2B5EF4-FFF2-40B4-BE49-F238E27FC236}">
                <a16:creationId xmlns:a16="http://schemas.microsoft.com/office/drawing/2014/main" id="{D061BDAF-AE15-4383-A10B-F0D6F24835B1}"/>
              </a:ext>
            </a:extLst>
          </p:cNvPr>
          <p:cNvSpPr>
            <a:spLocks noGrp="1"/>
          </p:cNvSpPr>
          <p:nvPr/>
        </p:nvSpPr>
        <p:spPr>
          <a:xfrm>
            <a:off x="1000125" y="2400300"/>
            <a:ext cx="2476500" cy="361950"/>
          </a:xfrm>
          <a:prstGeom prst="roundRect">
            <a:avLst>
              <a:gd name="adj" fmla="val 44737"/>
            </a:avLst>
          </a:prstGeom>
          <a:solidFill>
            <a:srgbClr val="0F1A16"/>
          </a:solidFill>
          <a:ln w="9525">
            <a:solidFill>
              <a:srgbClr val="1ED760"/>
            </a:solidFill>
            <a:prstDash val="solid"/>
          </a:ln>
        </p:spPr>
        <p:txBody>
          <a:bodyPr lIns="76200" tIns="38100" rIns="76200" bIns="38100" anchor="ctr">
            <a:normAutofit/>
          </a:bodyPr>
          <a:lstStyle/>
          <a:p>
            <a:pPr algn="ctr">
              <a:lnSpc>
                <a:spcPct val="100000"/>
              </a:lnSpc>
              <a:buNone/>
              <a:defRPr sz="1125" b="1">
                <a:solidFill>
                  <a:srgbClr val="1ED760"/>
                </a:solidFill>
                <a:latin typeface="Segoe UI"/>
                <a:ea typeface="Segoe UI"/>
                <a:cs typeface="Segoe UI"/>
              </a:defRPr>
            </a:pPr>
            <a:r>
              <a:rPr sz="1125" b="1">
                <a:solidFill>
                  <a:srgbClr val="1ED760"/>
                </a:solidFill>
                <a:latin typeface="Segoe UI"/>
                <a:ea typeface="Segoe UI"/>
                <a:cs typeface="Segoe UI"/>
              </a:rPr>
              <a:t>VALIDÉ EN LOCAL</a:t>
            </a:r>
          </a:p>
        </p:txBody>
      </p:sp>
      <p:sp>
        <p:nvSpPr>
          <p:cNvPr id="6" name="Rectangle 5">
            <a:extLst>
              <a:ext uri="{FF2B5EF4-FFF2-40B4-BE49-F238E27FC236}">
                <a16:creationId xmlns:a16="http://schemas.microsoft.com/office/drawing/2014/main" id="{9D35EE20-A109-4335-AF5E-33F05EDC6D9F}"/>
              </a:ext>
            </a:extLst>
          </p:cNvPr>
          <p:cNvSpPr>
            <a:spLocks noGrp="1"/>
          </p:cNvSpPr>
          <p:nvPr/>
        </p:nvSpPr>
        <p:spPr>
          <a:xfrm>
            <a:off x="933450" y="3143250"/>
            <a:ext cx="2609850" cy="1714500"/>
          </a:xfrm>
          <a:prstGeom prst="rect">
            <a:avLst/>
          </a:prstGeom>
          <a:noFill/>
          <a:ln w="0">
            <a:noFill/>
          </a:ln>
        </p:spPr>
        <p:txBody>
          <a:bodyPr lIns="38100" tIns="19050" rIns="38100" bIns="19050" anchor="ctr">
            <a:normAutofit fontScale="90731"/>
          </a:bodyPr>
          <a:lstStyle/>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Agent Python réel</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Heartbeat et métriques</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Machine ONLINE / OFFLINE</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Service Windows non validé</a:t>
            </a:r>
          </a:p>
        </p:txBody>
      </p:sp>
      <p:sp>
        <p:nvSpPr>
          <p:cNvPr id="7" name="Rectangle 6">
            <a:extLst>
              <a:ext uri="{FF2B5EF4-FFF2-40B4-BE49-F238E27FC236}">
                <a16:creationId xmlns:a16="http://schemas.microsoft.com/office/drawing/2014/main" id="{328CE859-FF7B-44A8-94FF-2D2DAEB887E8}"/>
              </a:ext>
            </a:extLst>
          </p:cNvPr>
          <p:cNvSpPr>
            <a:spLocks noGrp="1"/>
          </p:cNvSpPr>
          <p:nvPr/>
        </p:nvSpPr>
        <p:spPr>
          <a:xfrm>
            <a:off x="4286250" y="1390650"/>
            <a:ext cx="3143250" cy="647700"/>
          </a:xfrm>
          <a:prstGeom prst="rect">
            <a:avLst/>
          </a:prstGeom>
          <a:noFill/>
          <a:ln w="0">
            <a:noFill/>
          </a:ln>
        </p:spPr>
        <p:txBody>
          <a:bodyPr lIns="38100" tIns="19050" rIns="38100" bIns="19050" anchor="ctr">
            <a:normAutofit/>
          </a:bodyPr>
          <a:lstStyle/>
          <a:p>
            <a:pPr algn="ctr">
              <a:lnSpc>
                <a:spcPct val="100000"/>
              </a:lnSpc>
              <a:buNone/>
              <a:defRPr sz="3600" b="1" i="0">
                <a:solidFill>
                  <a:srgbClr val="37D7E8"/>
                </a:solidFill>
                <a:latin typeface="Segoe UI"/>
                <a:ea typeface="Segoe UI"/>
                <a:cs typeface="Segoe UI"/>
              </a:defRPr>
            </a:pPr>
            <a:r>
              <a:rPr sz="3600" b="1" i="0">
                <a:solidFill>
                  <a:srgbClr val="37D7E8"/>
                </a:solidFill>
                <a:latin typeface="Segoe UI"/>
                <a:ea typeface="Segoe UI"/>
                <a:cs typeface="Segoe UI"/>
              </a:rPr>
              <a:t>VMWARE</a:t>
            </a:r>
          </a:p>
        </p:txBody>
      </p:sp>
      <p:sp>
        <p:nvSpPr>
          <p:cNvPr id="8" name="Straight Connector 7">
            <a:extLst>
              <a:ext uri="{FF2B5EF4-FFF2-40B4-BE49-F238E27FC236}">
                <a16:creationId xmlns:a16="http://schemas.microsoft.com/office/drawing/2014/main" id="{E155A9BC-C3EA-4D84-9156-15C67599ACF2}"/>
              </a:ext>
            </a:extLst>
          </p:cNvPr>
          <p:cNvSpPr>
            <a:spLocks noGrp="1"/>
          </p:cNvSpPr>
          <p:nvPr/>
        </p:nvSpPr>
        <p:spPr>
          <a:xfrm>
            <a:off x="4953000" y="2152650"/>
            <a:ext cx="1809750" cy="0"/>
          </a:xfrm>
          <a:prstGeom prst="line">
            <a:avLst/>
          </a:prstGeom>
          <a:noFill/>
          <a:ln w="38100">
            <a:solidFill>
              <a:srgbClr val="37D7E8"/>
            </a:solidFill>
            <a:prstDash val="solid"/>
          </a:ln>
        </p:spPr>
      </p:sp>
      <p:sp>
        <p:nvSpPr>
          <p:cNvPr id="9" name="Rectangle: Rounded Corners 8">
            <a:extLst>
              <a:ext uri="{FF2B5EF4-FFF2-40B4-BE49-F238E27FC236}">
                <a16:creationId xmlns:a16="http://schemas.microsoft.com/office/drawing/2014/main" id="{FD9E54F0-9D41-4D32-9314-7B98DC730DBB}"/>
              </a:ext>
            </a:extLst>
          </p:cNvPr>
          <p:cNvSpPr>
            <a:spLocks noGrp="1"/>
          </p:cNvSpPr>
          <p:nvPr/>
        </p:nvSpPr>
        <p:spPr>
          <a:xfrm>
            <a:off x="4619625" y="2400300"/>
            <a:ext cx="2476500" cy="361950"/>
          </a:xfrm>
          <a:prstGeom prst="roundRect">
            <a:avLst>
              <a:gd name="adj" fmla="val 44737"/>
            </a:avLst>
          </a:prstGeom>
          <a:solidFill>
            <a:srgbClr val="0F1A16"/>
          </a:solidFill>
          <a:ln w="9525">
            <a:solidFill>
              <a:srgbClr val="37D7E8"/>
            </a:solidFill>
            <a:prstDash val="solid"/>
          </a:ln>
        </p:spPr>
        <p:txBody>
          <a:bodyPr lIns="76200" tIns="38100" rIns="76200" bIns="38100" anchor="ctr">
            <a:normAutofit/>
          </a:bodyPr>
          <a:lstStyle/>
          <a:p>
            <a:pPr algn="ctr">
              <a:lnSpc>
                <a:spcPct val="100000"/>
              </a:lnSpc>
              <a:buNone/>
              <a:defRPr sz="1125" b="1">
                <a:solidFill>
                  <a:srgbClr val="37D7E8"/>
                </a:solidFill>
                <a:latin typeface="Segoe UI"/>
                <a:ea typeface="Segoe UI"/>
                <a:cs typeface="Segoe UI"/>
              </a:defRPr>
            </a:pPr>
            <a:r>
              <a:rPr sz="1125" b="1">
                <a:solidFill>
                  <a:srgbClr val="37D7E8"/>
                </a:solidFill>
                <a:latin typeface="Segoe UI"/>
                <a:ea typeface="Segoe UI"/>
                <a:cs typeface="Segoe UI"/>
              </a:rPr>
              <a:t>INTÉGRATION PRÉPARÉE</a:t>
            </a:r>
          </a:p>
        </p:txBody>
      </p:sp>
      <p:sp>
        <p:nvSpPr>
          <p:cNvPr id="10" name="Rectangle 9">
            <a:extLst>
              <a:ext uri="{FF2B5EF4-FFF2-40B4-BE49-F238E27FC236}">
                <a16:creationId xmlns:a16="http://schemas.microsoft.com/office/drawing/2014/main" id="{4999E56D-D5EC-4445-8097-5D4BD8727029}"/>
              </a:ext>
            </a:extLst>
          </p:cNvPr>
          <p:cNvSpPr>
            <a:spLocks noGrp="1"/>
          </p:cNvSpPr>
          <p:nvPr/>
        </p:nvSpPr>
        <p:spPr>
          <a:xfrm>
            <a:off x="4552950" y="3143250"/>
            <a:ext cx="2609850" cy="1714500"/>
          </a:xfrm>
          <a:prstGeom prst="rect">
            <a:avLst/>
          </a:prstGeom>
          <a:noFill/>
          <a:ln w="0">
            <a:noFill/>
          </a:ln>
        </p:spPr>
        <p:txBody>
          <a:bodyPr lIns="38100" tIns="19050" rIns="38100" bIns="19050" anchor="ctr">
            <a:normAutofit fontScale="90940"/>
          </a:bodyPr>
          <a:lstStyle/>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Connecteur et normalisation</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Tests avec mocks</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Aucun vCenter réel autorisé</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Validation externe requise</a:t>
            </a:r>
          </a:p>
        </p:txBody>
      </p:sp>
      <p:sp>
        <p:nvSpPr>
          <p:cNvPr id="11" name="Rectangle 10">
            <a:extLst>
              <a:ext uri="{FF2B5EF4-FFF2-40B4-BE49-F238E27FC236}">
                <a16:creationId xmlns:a16="http://schemas.microsoft.com/office/drawing/2014/main" id="{4CE3FBF6-C211-40EA-BA08-658EF8489017}"/>
              </a:ext>
            </a:extLst>
          </p:cNvPr>
          <p:cNvSpPr>
            <a:spLocks noGrp="1"/>
          </p:cNvSpPr>
          <p:nvPr/>
        </p:nvSpPr>
        <p:spPr>
          <a:xfrm>
            <a:off x="7905750" y="1390650"/>
            <a:ext cx="3143250" cy="647700"/>
          </a:xfrm>
          <a:prstGeom prst="rect">
            <a:avLst/>
          </a:prstGeom>
          <a:noFill/>
          <a:ln w="0">
            <a:noFill/>
          </a:ln>
        </p:spPr>
        <p:txBody>
          <a:bodyPr lIns="38100" tIns="19050" rIns="38100" bIns="19050" anchor="ctr">
            <a:normAutofit/>
          </a:bodyPr>
          <a:lstStyle/>
          <a:p>
            <a:pPr algn="ctr">
              <a:lnSpc>
                <a:spcPct val="100000"/>
              </a:lnSpc>
              <a:buNone/>
              <a:defRPr sz="3600" b="1" i="0">
                <a:solidFill>
                  <a:srgbClr val="37D7E8"/>
                </a:solidFill>
                <a:latin typeface="Segoe UI"/>
                <a:ea typeface="Segoe UI"/>
                <a:cs typeface="Segoe UI"/>
              </a:defRPr>
            </a:pPr>
            <a:r>
              <a:rPr sz="3600" b="1" i="0">
                <a:solidFill>
                  <a:srgbClr val="37D7E8"/>
                </a:solidFill>
                <a:latin typeface="Segoe UI"/>
                <a:ea typeface="Segoe UI"/>
                <a:cs typeface="Segoe UI"/>
              </a:rPr>
              <a:t>HYPER-V</a:t>
            </a:r>
          </a:p>
        </p:txBody>
      </p:sp>
      <p:sp>
        <p:nvSpPr>
          <p:cNvPr id="12" name="Straight Connector 11">
            <a:extLst>
              <a:ext uri="{FF2B5EF4-FFF2-40B4-BE49-F238E27FC236}">
                <a16:creationId xmlns:a16="http://schemas.microsoft.com/office/drawing/2014/main" id="{A34743EE-CFDF-44FB-92D1-869337AFD165}"/>
              </a:ext>
            </a:extLst>
          </p:cNvPr>
          <p:cNvSpPr>
            <a:spLocks noGrp="1"/>
          </p:cNvSpPr>
          <p:nvPr/>
        </p:nvSpPr>
        <p:spPr>
          <a:xfrm>
            <a:off x="8572500" y="2152650"/>
            <a:ext cx="1809750" cy="0"/>
          </a:xfrm>
          <a:prstGeom prst="line">
            <a:avLst/>
          </a:prstGeom>
          <a:noFill/>
          <a:ln w="38100">
            <a:solidFill>
              <a:srgbClr val="37D7E8"/>
            </a:solidFill>
            <a:prstDash val="solid"/>
          </a:ln>
        </p:spPr>
      </p:sp>
      <p:sp>
        <p:nvSpPr>
          <p:cNvPr id="13" name="Rectangle: Rounded Corners 12">
            <a:extLst>
              <a:ext uri="{FF2B5EF4-FFF2-40B4-BE49-F238E27FC236}">
                <a16:creationId xmlns:a16="http://schemas.microsoft.com/office/drawing/2014/main" id="{C84B7359-A5EB-4E38-BBC9-33B18260B9BA}"/>
              </a:ext>
            </a:extLst>
          </p:cNvPr>
          <p:cNvSpPr>
            <a:spLocks noGrp="1"/>
          </p:cNvSpPr>
          <p:nvPr/>
        </p:nvSpPr>
        <p:spPr>
          <a:xfrm>
            <a:off x="8239125" y="2400300"/>
            <a:ext cx="2476500" cy="361950"/>
          </a:xfrm>
          <a:prstGeom prst="roundRect">
            <a:avLst>
              <a:gd name="adj" fmla="val 44737"/>
            </a:avLst>
          </a:prstGeom>
          <a:solidFill>
            <a:srgbClr val="0F1A16"/>
          </a:solidFill>
          <a:ln w="9525">
            <a:solidFill>
              <a:srgbClr val="37D7E8"/>
            </a:solidFill>
            <a:prstDash val="solid"/>
          </a:ln>
        </p:spPr>
        <p:txBody>
          <a:bodyPr lIns="76200" tIns="38100" rIns="76200" bIns="38100" anchor="ctr">
            <a:normAutofit/>
          </a:bodyPr>
          <a:lstStyle/>
          <a:p>
            <a:pPr algn="ctr">
              <a:lnSpc>
                <a:spcPct val="100000"/>
              </a:lnSpc>
              <a:buNone/>
              <a:defRPr sz="1125" b="1">
                <a:solidFill>
                  <a:srgbClr val="37D7E8"/>
                </a:solidFill>
                <a:latin typeface="Segoe UI"/>
                <a:ea typeface="Segoe UI"/>
                <a:cs typeface="Segoe UI"/>
              </a:defRPr>
            </a:pPr>
            <a:r>
              <a:rPr sz="1125" b="1">
                <a:solidFill>
                  <a:srgbClr val="37D7E8"/>
                </a:solidFill>
                <a:latin typeface="Segoe UI"/>
                <a:ea typeface="Segoe UI"/>
                <a:cs typeface="Segoe UI"/>
              </a:rPr>
              <a:t>INTÉGRATION PRÉPARÉE</a:t>
            </a:r>
          </a:p>
        </p:txBody>
      </p:sp>
      <p:sp>
        <p:nvSpPr>
          <p:cNvPr id="14" name="Rectangle 13">
            <a:extLst>
              <a:ext uri="{FF2B5EF4-FFF2-40B4-BE49-F238E27FC236}">
                <a16:creationId xmlns:a16="http://schemas.microsoft.com/office/drawing/2014/main" id="{ED002F5C-D140-459B-85A7-530336704415}"/>
              </a:ext>
            </a:extLst>
          </p:cNvPr>
          <p:cNvSpPr>
            <a:spLocks noGrp="1"/>
          </p:cNvSpPr>
          <p:nvPr/>
        </p:nvSpPr>
        <p:spPr>
          <a:xfrm>
            <a:off x="8172450" y="3143250"/>
            <a:ext cx="2609850" cy="1714500"/>
          </a:xfrm>
          <a:prstGeom prst="rect">
            <a:avLst/>
          </a:prstGeom>
          <a:noFill/>
          <a:ln w="0">
            <a:noFill/>
          </a:ln>
        </p:spPr>
        <p:txBody>
          <a:bodyPr lIns="38100" tIns="19050" rIns="38100" bIns="19050" anchor="ctr">
            <a:normAutofit/>
          </a:bodyPr>
          <a:lstStyle/>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Collecteur PowerShell</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Tests avec mocks</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Get-VM sans permission</a:t>
            </a:r>
          </a:p>
          <a:p>
            <a:pPr algn="ctr">
              <a:lnSpc>
                <a:spcPct val="118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Validation administrateur requise</a:t>
            </a:r>
          </a:p>
        </p:txBody>
      </p:sp>
      <p:sp>
        <p:nvSpPr>
          <p:cNvPr id="15" name="Rectangle 14">
            <a:extLst>
              <a:ext uri="{FF2B5EF4-FFF2-40B4-BE49-F238E27FC236}">
                <a16:creationId xmlns:a16="http://schemas.microsoft.com/office/drawing/2014/main" id="{FC12E432-7ECB-4447-87E7-39045100DC03}"/>
              </a:ext>
            </a:extLst>
          </p:cNvPr>
          <p:cNvSpPr>
            <a:spLocks noGrp="1"/>
          </p:cNvSpPr>
          <p:nvPr/>
        </p:nvSpPr>
        <p:spPr>
          <a:xfrm>
            <a:off x="1619250" y="5334000"/>
            <a:ext cx="8953500" cy="552450"/>
          </a:xfrm>
          <a:prstGeom prst="rect">
            <a:avLst/>
          </a:prstGeom>
          <a:noFill/>
          <a:ln w="0">
            <a:noFill/>
          </a:ln>
        </p:spPr>
        <p:txBody>
          <a:bodyPr lIns="38100" tIns="19050" rIns="38100" bIns="19050" anchor="ctr">
            <a:normAutofit fontScale="83333"/>
          </a:bodyPr>
          <a:lstStyle/>
          <a:p>
            <a:pPr algn="ctr">
              <a:lnSpc>
                <a:spcPct val="100000"/>
              </a:lnSpc>
              <a:buNone/>
              <a:defRPr sz="2025" b="1" i="0">
                <a:solidFill>
                  <a:srgbClr val="F5F7F6"/>
                </a:solidFill>
                <a:latin typeface="Segoe UI"/>
                <a:ea typeface="Segoe UI"/>
                <a:cs typeface="Segoe UI"/>
              </a:defRPr>
            </a:pPr>
            <a:r>
              <a:rPr sz="2025" b="1" i="0">
                <a:solidFill>
                  <a:srgbClr val="F5F7F6"/>
                </a:solidFill>
                <a:latin typeface="Segoe UI"/>
                <a:ea typeface="Segoe UI"/>
                <a:cs typeface="Segoe UI"/>
              </a:rPr>
              <a:t>Objectif : centraliser plusieurs environnements sans confondre préparation technique et validation réelle</a:t>
            </a:r>
          </a:p>
        </p:txBody>
      </p:sp>
      <p:sp>
        <p:nvSpPr>
          <p:cNvPr id="16" name="Straight Connector 15">
            <a:extLst>
              <a:ext uri="{FF2B5EF4-FFF2-40B4-BE49-F238E27FC236}">
                <a16:creationId xmlns:a16="http://schemas.microsoft.com/office/drawing/2014/main" id="{BD35D700-744D-4363-94AC-6B226A846964}"/>
              </a:ext>
            </a:extLst>
          </p:cNvPr>
          <p:cNvSpPr>
            <a:spLocks noGrp="1"/>
          </p:cNvSpPr>
          <p:nvPr/>
        </p:nvSpPr>
        <p:spPr>
          <a:xfrm>
            <a:off x="609600" y="6429375"/>
            <a:ext cx="10972800" cy="0"/>
          </a:xfrm>
          <a:prstGeom prst="line">
            <a:avLst/>
          </a:prstGeom>
          <a:noFill/>
          <a:ln w="9525">
            <a:solidFill>
              <a:srgbClr val="1B3028"/>
            </a:solidFill>
            <a:prstDash val="solid"/>
          </a:ln>
        </p:spPr>
      </p:sp>
      <p:sp>
        <p:nvSpPr>
          <p:cNvPr id="17" name="Rectangle 16">
            <a:extLst>
              <a:ext uri="{FF2B5EF4-FFF2-40B4-BE49-F238E27FC236}">
                <a16:creationId xmlns:a16="http://schemas.microsoft.com/office/drawing/2014/main" id="{52243C47-7B46-4BDD-BD95-BE0D2654205A}"/>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8" name="Rectangle 17">
            <a:extLst>
              <a:ext uri="{FF2B5EF4-FFF2-40B4-BE49-F238E27FC236}">
                <a16:creationId xmlns:a16="http://schemas.microsoft.com/office/drawing/2014/main" id="{DE5E393B-BCEA-4130-BA2E-32188C853D3F}"/>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18</a:t>
            </a:r>
          </a:p>
        </p:txBody>
      </p:sp>
    </p:spTree>
    <p:extLst>
      <p:ext uri="{BB962C8B-B14F-4D97-AF65-F5344CB8AC3E}">
        <p14:creationId xmlns:p14="http://schemas.microsoft.com/office/powerpoint/2010/main" val="474547795"/>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12" name="Straight Connector 11">
            <a:extLst>
              <a:ext uri="{FF2B5EF4-FFF2-40B4-BE49-F238E27FC236}">
                <a16:creationId xmlns:a16="http://schemas.microsoft.com/office/drawing/2014/main" id="{151DD5C2-A547-49C2-A624-85F7611F1AA1}"/>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6D2FE7EB-4596-4BD1-89AE-FEBDDD947B1C}"/>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Tests et validation</a:t>
            </a:r>
          </a:p>
        </p:txBody>
      </p:sp>
      <p:graphicFrame>
        <p:nvGraphicFramePr>
          <p:cNvPr id="14" name="Chart"/>
          <p:cNvGraphicFramePr/>
          <p:nvPr/>
        </p:nvGraphicFramePr>
        <p:xfrm>
          <a:off x="647700" y="1390650"/>
          <a:ext cx="6191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08F1D794-52F6-4901-9E43-19B055AFB564}"/>
              </a:ext>
            </a:extLst>
          </p:cNvPr>
          <p:cNvSpPr>
            <a:spLocks noGrp="1"/>
          </p:cNvSpPr>
          <p:nvPr/>
        </p:nvSpPr>
        <p:spPr>
          <a:xfrm>
            <a:off x="7524750" y="1371600"/>
            <a:ext cx="2857500" cy="304800"/>
          </a:xfrm>
          <a:prstGeom prst="rect">
            <a:avLst/>
          </a:prstGeom>
          <a:noFill/>
          <a:ln w="0">
            <a:noFill/>
          </a:ln>
        </p:spPr>
        <p:txBody>
          <a:bodyPr lIns="38100" tIns="19050" rIns="38100" bIns="19050" anchor="ctr">
            <a:normAutofit/>
          </a:bodyPr>
          <a:lstStyle/>
          <a:p>
            <a:pPr algn="l">
              <a:lnSpc>
                <a:spcPct val="100000"/>
              </a:lnSpc>
              <a:buNone/>
              <a:defRPr sz="1350" b="1" i="0">
                <a:solidFill>
                  <a:srgbClr val="39FF88"/>
                </a:solidFill>
                <a:latin typeface="Segoe UI"/>
                <a:ea typeface="Segoe UI"/>
                <a:cs typeface="Segoe UI"/>
              </a:defRPr>
            </a:pPr>
            <a:r>
              <a:rPr sz="1350" b="1" i="0">
                <a:solidFill>
                  <a:srgbClr val="39FF88"/>
                </a:solidFill>
                <a:latin typeface="Segoe UI"/>
                <a:ea typeface="Segoe UI"/>
                <a:cs typeface="Segoe UI"/>
              </a:rPr>
              <a:t>VALIDÉ</a:t>
            </a:r>
          </a:p>
        </p:txBody>
      </p:sp>
      <p:sp>
        <p:nvSpPr>
          <p:cNvPr id="5" name="Rectangle 4">
            <a:extLst>
              <a:ext uri="{FF2B5EF4-FFF2-40B4-BE49-F238E27FC236}">
                <a16:creationId xmlns:a16="http://schemas.microsoft.com/office/drawing/2014/main" id="{60A71C02-DFB7-406D-9095-C0FFB93FC3FF}"/>
              </a:ext>
            </a:extLst>
          </p:cNvPr>
          <p:cNvSpPr>
            <a:spLocks noGrp="1"/>
          </p:cNvSpPr>
          <p:nvPr/>
        </p:nvSpPr>
        <p:spPr>
          <a:xfrm>
            <a:off x="7486650" y="1752600"/>
            <a:ext cx="3619500" cy="1809750"/>
          </a:xfrm>
          <a:prstGeom prst="rect">
            <a:avLst/>
          </a:prstGeom>
          <a:noFill/>
          <a:ln w="0">
            <a:noFill/>
          </a:ln>
        </p:spPr>
        <p:txBody>
          <a:bodyPr lIns="38100" tIns="19050" rIns="38100" bIns="19050" anchor="ctr">
            <a:normAutofit/>
          </a:bodyPr>
          <a:lstStyle/>
          <a:p>
            <a:pPr algn="l">
              <a:lnSpc>
                <a:spcPct val="115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PostgreSQL, Redis et Celery</a:t>
            </a:r>
          </a:p>
          <a:p>
            <a:pPr algn="l">
              <a:lnSpc>
                <a:spcPct val="115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WebSocket</a:t>
            </a:r>
          </a:p>
          <a:p>
            <a:pPr algn="l">
              <a:lnSpc>
                <a:spcPct val="115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RBAC et isolation client</a:t>
            </a:r>
          </a:p>
          <a:p>
            <a:pPr algn="l">
              <a:lnSpc>
                <a:spcPct val="115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Sécurité applicative</a:t>
            </a:r>
          </a:p>
          <a:p>
            <a:pPr algn="l">
              <a:lnSpc>
                <a:spcPct val="115000"/>
              </a:lnSpc>
              <a:buNone/>
              <a:defRPr sz="1800" b="0" i="0">
                <a:solidFill>
                  <a:srgbClr val="F5F7F6"/>
                </a:solidFill>
                <a:latin typeface="Segoe UI"/>
                <a:ea typeface="Segoe UI"/>
                <a:cs typeface="Segoe UI"/>
              </a:defRPr>
            </a:pPr>
            <a:r>
              <a:rPr sz="1800" b="0" i="0">
                <a:solidFill>
                  <a:srgbClr val="F5F7F6"/>
                </a:solidFill>
                <a:latin typeface="Segoe UI"/>
                <a:ea typeface="Segoe UI"/>
                <a:cs typeface="Segoe UI"/>
              </a:rPr>
              <a:t>Agent Python réel</a:t>
            </a:r>
          </a:p>
        </p:txBody>
      </p:sp>
      <p:sp>
        <p:nvSpPr>
          <p:cNvPr id="6" name="Rectangle 5">
            <a:extLst>
              <a:ext uri="{FF2B5EF4-FFF2-40B4-BE49-F238E27FC236}">
                <a16:creationId xmlns:a16="http://schemas.microsoft.com/office/drawing/2014/main" id="{F76F9A6D-AFC4-4B4E-B5B6-59398FD0EDE3}"/>
              </a:ext>
            </a:extLst>
          </p:cNvPr>
          <p:cNvSpPr>
            <a:spLocks noGrp="1"/>
          </p:cNvSpPr>
          <p:nvPr/>
        </p:nvSpPr>
        <p:spPr>
          <a:xfrm>
            <a:off x="7524750" y="3886200"/>
            <a:ext cx="2857500" cy="304800"/>
          </a:xfrm>
          <a:prstGeom prst="rect">
            <a:avLst/>
          </a:prstGeom>
          <a:noFill/>
          <a:ln w="0">
            <a:noFill/>
          </a:ln>
        </p:spPr>
        <p:txBody>
          <a:bodyPr lIns="38100" tIns="19050" rIns="38100" bIns="19050" anchor="ctr">
            <a:normAutofit/>
          </a:bodyPr>
          <a:lstStyle/>
          <a:p>
            <a:pPr algn="l">
              <a:lnSpc>
                <a:spcPct val="100000"/>
              </a:lnSpc>
              <a:buNone/>
              <a:defRPr sz="1350" b="1" i="0">
                <a:solidFill>
                  <a:srgbClr val="FFB547"/>
                </a:solidFill>
                <a:latin typeface="Segoe UI"/>
                <a:ea typeface="Segoe UI"/>
                <a:cs typeface="Segoe UI"/>
              </a:defRPr>
            </a:pPr>
            <a:r>
              <a:rPr sz="1350" b="1" i="0">
                <a:solidFill>
                  <a:srgbClr val="FFB547"/>
                </a:solidFill>
                <a:latin typeface="Segoe UI"/>
                <a:ea typeface="Segoe UI"/>
                <a:cs typeface="Segoe UI"/>
              </a:rPr>
              <a:t>LIMITES</a:t>
            </a:r>
          </a:p>
        </p:txBody>
      </p:sp>
      <p:sp>
        <p:nvSpPr>
          <p:cNvPr id="7" name="Rectangle 6">
            <a:extLst>
              <a:ext uri="{FF2B5EF4-FFF2-40B4-BE49-F238E27FC236}">
                <a16:creationId xmlns:a16="http://schemas.microsoft.com/office/drawing/2014/main" id="{798A91E3-21D6-47EA-8FD4-726D014418D8}"/>
              </a:ext>
            </a:extLst>
          </p:cNvPr>
          <p:cNvSpPr>
            <a:spLocks noGrp="1"/>
          </p:cNvSpPr>
          <p:nvPr/>
        </p:nvSpPr>
        <p:spPr>
          <a:xfrm>
            <a:off x="7486650" y="4267200"/>
            <a:ext cx="3619500" cy="1381125"/>
          </a:xfrm>
          <a:prstGeom prst="rect">
            <a:avLst/>
          </a:prstGeom>
          <a:noFill/>
          <a:ln w="0">
            <a:noFill/>
          </a:ln>
        </p:spPr>
        <p:txBody>
          <a:bodyPr lIns="38100" tIns="19050" rIns="38100" bIns="19050" anchor="ctr">
            <a:normAutofit/>
          </a:bodyPr>
          <a:lstStyle/>
          <a:p>
            <a:pPr algn="l">
              <a:lnSpc>
                <a:spcPct val="115000"/>
              </a:lnSpc>
              <a:buNone/>
              <a:defRPr sz="1725" b="0" i="0">
                <a:solidFill>
                  <a:srgbClr val="F5F7F6"/>
                </a:solidFill>
                <a:latin typeface="Segoe UI"/>
                <a:ea typeface="Segoe UI"/>
                <a:cs typeface="Segoe UI"/>
              </a:defRPr>
            </a:pPr>
            <a:r>
              <a:rPr sz="1725" b="0" i="0">
                <a:solidFill>
                  <a:srgbClr val="F5F7F6"/>
                </a:solidFill>
                <a:latin typeface="Segoe UI"/>
                <a:ea typeface="Segoe UI"/>
                <a:cs typeface="Segoe UI"/>
              </a:rPr>
              <a:t>VMware et Hyper-V réels</a:t>
            </a:r>
          </a:p>
          <a:p>
            <a:pPr algn="l">
              <a:lnSpc>
                <a:spcPct val="115000"/>
              </a:lnSpc>
              <a:buNone/>
              <a:defRPr sz="1725" b="0" i="0">
                <a:solidFill>
                  <a:srgbClr val="F5F7F6"/>
                </a:solidFill>
                <a:latin typeface="Segoe UI"/>
                <a:ea typeface="Segoe UI"/>
                <a:cs typeface="Segoe UI"/>
              </a:defRPr>
            </a:pPr>
            <a:r>
              <a:rPr sz="1725" b="0" i="0">
                <a:solidFill>
                  <a:srgbClr val="F5F7F6"/>
                </a:solidFill>
                <a:latin typeface="Segoe UI"/>
                <a:ea typeface="Segoe UI"/>
                <a:cs typeface="Segoe UI"/>
              </a:rPr>
              <a:t>Service Windows et reboot</a:t>
            </a:r>
          </a:p>
          <a:p>
            <a:pPr algn="l">
              <a:lnSpc>
                <a:spcPct val="115000"/>
              </a:lnSpc>
              <a:buNone/>
              <a:defRPr sz="1725" b="0" i="0">
                <a:solidFill>
                  <a:srgbClr val="F5F7F6"/>
                </a:solidFill>
                <a:latin typeface="Segoe UI"/>
                <a:ea typeface="Segoe UI"/>
                <a:cs typeface="Segoe UI"/>
              </a:defRPr>
            </a:pPr>
            <a:r>
              <a:rPr sz="1725" b="0" i="0">
                <a:solidFill>
                  <a:srgbClr val="F5F7F6"/>
                </a:solidFill>
                <a:latin typeface="Segoe UI"/>
                <a:ea typeface="Segoe UI"/>
                <a:cs typeface="Segoe UI"/>
              </a:rPr>
              <a:t>SMTP externe et WAN</a:t>
            </a:r>
          </a:p>
          <a:p>
            <a:pPr algn="l">
              <a:lnSpc>
                <a:spcPct val="115000"/>
              </a:lnSpc>
              <a:buNone/>
              <a:defRPr sz="1725" b="0" i="0">
                <a:solidFill>
                  <a:srgbClr val="F5F7F6"/>
                </a:solidFill>
                <a:latin typeface="Segoe UI"/>
                <a:ea typeface="Segoe UI"/>
                <a:cs typeface="Segoe UI"/>
              </a:defRPr>
            </a:pPr>
            <a:r>
              <a:rPr sz="1725" b="0" i="0">
                <a:solidFill>
                  <a:srgbClr val="F5F7F6"/>
                </a:solidFill>
                <a:latin typeface="Segoe UI"/>
                <a:ea typeface="Segoe UI"/>
                <a:cs typeface="Segoe UI"/>
              </a:rPr>
              <a:t>Dataset ML réel labellisé</a:t>
            </a:r>
          </a:p>
        </p:txBody>
      </p:sp>
      <p:sp>
        <p:nvSpPr>
          <p:cNvPr id="8" name="Rectangle 7">
            <a:extLst>
              <a:ext uri="{FF2B5EF4-FFF2-40B4-BE49-F238E27FC236}">
                <a16:creationId xmlns:a16="http://schemas.microsoft.com/office/drawing/2014/main" id="{8AAF7D96-20D3-4AA4-B5C9-A53A480D5AEA}"/>
              </a:ext>
            </a:extLst>
          </p:cNvPr>
          <p:cNvSpPr>
            <a:spLocks noGrp="1"/>
          </p:cNvSpPr>
          <p:nvPr/>
        </p:nvSpPr>
        <p:spPr>
          <a:xfrm>
            <a:off x="685800" y="5657850"/>
            <a:ext cx="10477500" cy="361950"/>
          </a:xfrm>
          <a:prstGeom prst="rect">
            <a:avLst/>
          </a:prstGeom>
          <a:noFill/>
          <a:ln w="0">
            <a:noFill/>
          </a:ln>
        </p:spPr>
        <p:txBody>
          <a:bodyPr lIns="38100" tIns="19050" rIns="38100" bIns="19050" anchor="ctr">
            <a:normAutofit/>
          </a:bodyPr>
          <a:lstStyle/>
          <a:p>
            <a:pPr algn="ctr">
              <a:lnSpc>
                <a:spcPct val="100000"/>
              </a:lnSpc>
              <a:buNone/>
              <a:defRPr sz="1350" b="0" i="0">
                <a:solidFill>
                  <a:srgbClr val="9BA6A0"/>
                </a:solidFill>
                <a:latin typeface="Segoe UI"/>
                <a:ea typeface="Segoe UI"/>
                <a:cs typeface="Segoe UI"/>
              </a:defRPr>
            </a:pPr>
            <a:r>
              <a:rPr sz="1350" b="0" i="0">
                <a:solidFill>
                  <a:srgbClr val="9BA6A0"/>
                </a:solidFill>
                <a:latin typeface="Segoe UI"/>
                <a:ea typeface="Segoe UI"/>
                <a:cs typeface="Segoe UI"/>
              </a:rPr>
              <a:t>203 tests backend : 6 ignorés, 0 échec   •   Frontend : 64/64   •   Agent : 26/26</a:t>
            </a:r>
          </a:p>
        </p:txBody>
      </p:sp>
      <p:sp>
        <p:nvSpPr>
          <p:cNvPr id="9" name="Straight Connector 8">
            <a:extLst>
              <a:ext uri="{FF2B5EF4-FFF2-40B4-BE49-F238E27FC236}">
                <a16:creationId xmlns:a16="http://schemas.microsoft.com/office/drawing/2014/main" id="{F6E5E1FB-C9BE-45D0-ACEB-302A909B5884}"/>
              </a:ext>
            </a:extLst>
          </p:cNvPr>
          <p:cNvSpPr>
            <a:spLocks noGrp="1"/>
          </p:cNvSpPr>
          <p:nvPr/>
        </p:nvSpPr>
        <p:spPr>
          <a:xfrm>
            <a:off x="609600" y="6429375"/>
            <a:ext cx="10972800" cy="0"/>
          </a:xfrm>
          <a:prstGeom prst="line">
            <a:avLst/>
          </a:prstGeom>
          <a:noFill/>
          <a:ln w="9525">
            <a:solidFill>
              <a:srgbClr val="1B3028"/>
            </a:solidFill>
            <a:prstDash val="solid"/>
          </a:ln>
        </p:spPr>
      </p:sp>
      <p:sp>
        <p:nvSpPr>
          <p:cNvPr id="10" name="Rectangle 9">
            <a:extLst>
              <a:ext uri="{FF2B5EF4-FFF2-40B4-BE49-F238E27FC236}">
                <a16:creationId xmlns:a16="http://schemas.microsoft.com/office/drawing/2014/main" id="{D0B80D34-EA7B-4C0B-8A3F-1309148E6432}"/>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11" name="Rectangle 10">
            <a:extLst>
              <a:ext uri="{FF2B5EF4-FFF2-40B4-BE49-F238E27FC236}">
                <a16:creationId xmlns:a16="http://schemas.microsoft.com/office/drawing/2014/main" id="{0AE1380D-5850-4AE3-81B1-848A528C5DD3}"/>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19</a:t>
            </a:r>
          </a:p>
        </p:txBody>
      </p:sp>
    </p:spTree>
    <p:extLst>
      <p:ext uri="{BB962C8B-B14F-4D97-AF65-F5344CB8AC3E}">
        <p14:creationId xmlns:p14="http://schemas.microsoft.com/office/powerpoint/2010/main" val="1856259371"/>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sp>
        <p:nvSpPr>
          <p:cNvPr id="26" name="Straight Connector 25">
            <a:extLst>
              <a:ext uri="{FF2B5EF4-FFF2-40B4-BE49-F238E27FC236}">
                <a16:creationId xmlns:a16="http://schemas.microsoft.com/office/drawing/2014/main" id="{0E9C323F-6148-4153-BD93-00EA5961623B}"/>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27796DA6-7977-432B-AFFE-8D500E887914}"/>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Avant et avec InfraSentinel-AI</a:t>
            </a:r>
          </a:p>
        </p:txBody>
      </p:sp>
      <p:sp>
        <p:nvSpPr>
          <p:cNvPr id="3" name="Rectangle 2">
            <a:extLst>
              <a:ext uri="{FF2B5EF4-FFF2-40B4-BE49-F238E27FC236}">
                <a16:creationId xmlns:a16="http://schemas.microsoft.com/office/drawing/2014/main" id="{7E6A140E-3E80-4B6A-AA58-D7889DF93E74}"/>
              </a:ext>
            </a:extLst>
          </p:cNvPr>
          <p:cNvSpPr>
            <a:spLocks noGrp="1"/>
          </p:cNvSpPr>
          <p:nvPr/>
        </p:nvSpPr>
        <p:spPr>
          <a:xfrm>
            <a:off x="914400" y="1257300"/>
            <a:ext cx="4191000" cy="495300"/>
          </a:xfrm>
          <a:prstGeom prst="rect">
            <a:avLst/>
          </a:prstGeom>
          <a:noFill/>
          <a:ln w="0">
            <a:noFill/>
          </a:ln>
        </p:spPr>
        <p:txBody>
          <a:bodyPr lIns="38100" tIns="19050" rIns="38100" bIns="19050" anchor="ctr">
            <a:normAutofit/>
          </a:bodyPr>
          <a:lstStyle/>
          <a:p>
            <a:pPr algn="ctr">
              <a:lnSpc>
                <a:spcPct val="100000"/>
              </a:lnSpc>
              <a:buNone/>
              <a:defRPr sz="2850" b="1" i="0">
                <a:solidFill>
                  <a:srgbClr val="9BA6A0"/>
                </a:solidFill>
                <a:latin typeface="Segoe UI"/>
                <a:ea typeface="Segoe UI"/>
                <a:cs typeface="Segoe UI"/>
              </a:defRPr>
            </a:pPr>
            <a:r>
              <a:rPr sz="2850" b="1" i="0">
                <a:solidFill>
                  <a:srgbClr val="9BA6A0"/>
                </a:solidFill>
                <a:latin typeface="Segoe UI"/>
                <a:ea typeface="Segoe UI"/>
                <a:cs typeface="Segoe UI"/>
              </a:rPr>
              <a:t>AVANT</a:t>
            </a:r>
          </a:p>
        </p:txBody>
      </p:sp>
      <p:sp>
        <p:nvSpPr>
          <p:cNvPr id="4" name="Rectangle 3">
            <a:extLst>
              <a:ext uri="{FF2B5EF4-FFF2-40B4-BE49-F238E27FC236}">
                <a16:creationId xmlns:a16="http://schemas.microsoft.com/office/drawing/2014/main" id="{E96B11CC-AFB0-458D-8A61-4FD7148560C6}"/>
              </a:ext>
            </a:extLst>
          </p:cNvPr>
          <p:cNvSpPr>
            <a:spLocks noGrp="1"/>
          </p:cNvSpPr>
          <p:nvPr/>
        </p:nvSpPr>
        <p:spPr>
          <a:xfrm>
            <a:off x="7086600" y="1257300"/>
            <a:ext cx="4191000" cy="495300"/>
          </a:xfrm>
          <a:prstGeom prst="rect">
            <a:avLst/>
          </a:prstGeom>
          <a:noFill/>
          <a:ln w="0">
            <a:noFill/>
          </a:ln>
        </p:spPr>
        <p:txBody>
          <a:bodyPr lIns="38100" tIns="19050" rIns="38100" bIns="19050" anchor="ctr">
            <a:normAutofit fontScale="96478"/>
          </a:bodyPr>
          <a:lstStyle/>
          <a:p>
            <a:pPr algn="ctr">
              <a:lnSpc>
                <a:spcPct val="100000"/>
              </a:lnSpc>
              <a:buNone/>
              <a:defRPr sz="2850" b="1" i="0">
                <a:solidFill>
                  <a:srgbClr val="39FF88"/>
                </a:solidFill>
                <a:latin typeface="Segoe UI"/>
                <a:ea typeface="Segoe UI"/>
                <a:cs typeface="Segoe UI"/>
              </a:defRPr>
            </a:pPr>
            <a:r>
              <a:rPr sz="2850" b="1" i="0">
                <a:solidFill>
                  <a:srgbClr val="39FF88"/>
                </a:solidFill>
                <a:latin typeface="Segoe UI"/>
                <a:ea typeface="Segoe UI"/>
                <a:cs typeface="Segoe UI"/>
              </a:rPr>
              <a:t>AVEC INFRASENTINEL-AI</a:t>
            </a:r>
          </a:p>
        </p:txBody>
      </p:sp>
      <p:sp>
        <p:nvSpPr>
          <p:cNvPr id="5" name="Rectangle 4">
            <a:extLst>
              <a:ext uri="{FF2B5EF4-FFF2-40B4-BE49-F238E27FC236}">
                <a16:creationId xmlns:a16="http://schemas.microsoft.com/office/drawing/2014/main" id="{946227FA-20CE-4F7E-8802-3B6B57B17EAA}"/>
              </a:ext>
            </a:extLst>
          </p:cNvPr>
          <p:cNvSpPr>
            <a:spLocks noGrp="1"/>
          </p:cNvSpPr>
          <p:nvPr/>
        </p:nvSpPr>
        <p:spPr>
          <a:xfrm>
            <a:off x="1066800" y="2152650"/>
            <a:ext cx="552450" cy="438150"/>
          </a:xfrm>
          <a:prstGeom prst="rect">
            <a:avLst/>
          </a:prstGeom>
          <a:noFill/>
          <a:ln w="0">
            <a:noFill/>
          </a:ln>
        </p:spPr>
        <p:txBody>
          <a:bodyPr lIns="38100" tIns="19050" rIns="38100" bIns="19050" anchor="ctr">
            <a:normAutofit/>
          </a:bodyPr>
          <a:lstStyle/>
          <a:p>
            <a:pPr algn="ctr">
              <a:lnSpc>
                <a:spcPct val="100000"/>
              </a:lnSpc>
              <a:buNone/>
              <a:defRPr sz="1500" b="1" i="0">
                <a:solidFill>
                  <a:srgbClr val="9BA6A0"/>
                </a:solidFill>
                <a:latin typeface="Segoe UI"/>
                <a:ea typeface="Segoe UI"/>
                <a:cs typeface="Segoe UI"/>
              </a:defRPr>
            </a:pPr>
            <a:r>
              <a:rPr sz="1500" b="1" i="0">
                <a:solidFill>
                  <a:srgbClr val="9BA6A0"/>
                </a:solidFill>
                <a:latin typeface="Segoe UI"/>
                <a:ea typeface="Segoe UI"/>
                <a:cs typeface="Segoe UI"/>
              </a:rPr>
              <a:t>01</a:t>
            </a:r>
          </a:p>
        </p:txBody>
      </p:sp>
      <p:sp>
        <p:nvSpPr>
          <p:cNvPr id="6" name="Rectangle 5">
            <a:extLst>
              <a:ext uri="{FF2B5EF4-FFF2-40B4-BE49-F238E27FC236}">
                <a16:creationId xmlns:a16="http://schemas.microsoft.com/office/drawing/2014/main" id="{BCE50804-11DB-451E-9271-F63ECA2A3F30}"/>
              </a:ext>
            </a:extLst>
          </p:cNvPr>
          <p:cNvSpPr>
            <a:spLocks noGrp="1"/>
          </p:cNvSpPr>
          <p:nvPr/>
        </p:nvSpPr>
        <p:spPr>
          <a:xfrm>
            <a:off x="1771650" y="2152650"/>
            <a:ext cx="3429000" cy="438150"/>
          </a:xfrm>
          <a:prstGeom prst="rect">
            <a:avLst/>
          </a:prstGeom>
          <a:noFill/>
          <a:ln w="0">
            <a:noFill/>
          </a:ln>
        </p:spPr>
        <p:txBody>
          <a:bodyPr lIns="38100" tIns="19050" rIns="38100" bIns="19050" anchor="ctr">
            <a:normAutofit/>
          </a:bodyPr>
          <a:lstStyle/>
          <a:p>
            <a:pPr algn="l">
              <a:lnSpc>
                <a:spcPct val="100000"/>
              </a:lnSpc>
              <a:buNone/>
              <a:defRPr sz="1875" b="0" i="0">
                <a:solidFill>
                  <a:srgbClr val="F5F7F6"/>
                </a:solidFill>
                <a:latin typeface="Segoe UI"/>
                <a:ea typeface="Segoe UI"/>
                <a:cs typeface="Segoe UI"/>
              </a:defRPr>
            </a:pPr>
            <a:r>
              <a:rPr sz="1875" b="0" i="0">
                <a:solidFill>
                  <a:srgbClr val="F5F7F6"/>
                </a:solidFill>
                <a:latin typeface="Segoe UI"/>
                <a:ea typeface="Segoe UI"/>
                <a:cs typeface="Segoe UI"/>
              </a:rPr>
              <a:t>Réaction après dépassement</a:t>
            </a:r>
          </a:p>
        </p:txBody>
      </p:sp>
      <p:sp>
        <p:nvSpPr>
          <p:cNvPr id="7" name="Rectangle 6">
            <a:extLst>
              <a:ext uri="{FF2B5EF4-FFF2-40B4-BE49-F238E27FC236}">
                <a16:creationId xmlns:a16="http://schemas.microsoft.com/office/drawing/2014/main" id="{59AA49CC-1D19-45B5-9930-26A7B6F2DB8B}"/>
              </a:ext>
            </a:extLst>
          </p:cNvPr>
          <p:cNvSpPr>
            <a:spLocks noGrp="1"/>
          </p:cNvSpPr>
          <p:nvPr/>
        </p:nvSpPr>
        <p:spPr>
          <a:xfrm>
            <a:off x="1066800" y="2971800"/>
            <a:ext cx="552450" cy="438150"/>
          </a:xfrm>
          <a:prstGeom prst="rect">
            <a:avLst/>
          </a:prstGeom>
          <a:noFill/>
          <a:ln w="0">
            <a:noFill/>
          </a:ln>
        </p:spPr>
        <p:txBody>
          <a:bodyPr lIns="38100" tIns="19050" rIns="38100" bIns="19050" anchor="ctr">
            <a:normAutofit/>
          </a:bodyPr>
          <a:lstStyle/>
          <a:p>
            <a:pPr algn="ctr">
              <a:lnSpc>
                <a:spcPct val="100000"/>
              </a:lnSpc>
              <a:buNone/>
              <a:defRPr sz="1500" b="1" i="0">
                <a:solidFill>
                  <a:srgbClr val="9BA6A0"/>
                </a:solidFill>
                <a:latin typeface="Segoe UI"/>
                <a:ea typeface="Segoe UI"/>
                <a:cs typeface="Segoe UI"/>
              </a:defRPr>
            </a:pPr>
            <a:r>
              <a:rPr sz="1500" b="1" i="0">
                <a:solidFill>
                  <a:srgbClr val="9BA6A0"/>
                </a:solidFill>
                <a:latin typeface="Segoe UI"/>
                <a:ea typeface="Segoe UI"/>
                <a:cs typeface="Segoe UI"/>
              </a:rPr>
              <a:t>02</a:t>
            </a:r>
          </a:p>
        </p:txBody>
      </p:sp>
      <p:sp>
        <p:nvSpPr>
          <p:cNvPr id="8" name="Rectangle 7">
            <a:extLst>
              <a:ext uri="{FF2B5EF4-FFF2-40B4-BE49-F238E27FC236}">
                <a16:creationId xmlns:a16="http://schemas.microsoft.com/office/drawing/2014/main" id="{B51CA127-D84B-420A-BD56-84EC802AD8AC}"/>
              </a:ext>
            </a:extLst>
          </p:cNvPr>
          <p:cNvSpPr>
            <a:spLocks noGrp="1"/>
          </p:cNvSpPr>
          <p:nvPr/>
        </p:nvSpPr>
        <p:spPr>
          <a:xfrm>
            <a:off x="1771650" y="2971800"/>
            <a:ext cx="3429000" cy="438150"/>
          </a:xfrm>
          <a:prstGeom prst="rect">
            <a:avLst/>
          </a:prstGeom>
          <a:noFill/>
          <a:ln w="0">
            <a:noFill/>
          </a:ln>
        </p:spPr>
        <p:txBody>
          <a:bodyPr lIns="38100" tIns="19050" rIns="38100" bIns="19050" anchor="ctr">
            <a:normAutofit/>
          </a:bodyPr>
          <a:lstStyle/>
          <a:p>
            <a:pPr algn="l">
              <a:lnSpc>
                <a:spcPct val="100000"/>
              </a:lnSpc>
              <a:buNone/>
              <a:defRPr sz="1875" b="0" i="0">
                <a:solidFill>
                  <a:srgbClr val="F5F7F6"/>
                </a:solidFill>
                <a:latin typeface="Segoe UI"/>
                <a:ea typeface="Segoe UI"/>
                <a:cs typeface="Segoe UI"/>
              </a:defRPr>
            </a:pPr>
            <a:r>
              <a:rPr sz="1875" b="0" i="0">
                <a:solidFill>
                  <a:srgbClr val="F5F7F6"/>
                </a:solidFill>
                <a:latin typeface="Segoe UI"/>
                <a:ea typeface="Segoe UI"/>
                <a:cs typeface="Segoe UI"/>
              </a:rPr>
              <a:t>Analyse manuelle</a:t>
            </a:r>
          </a:p>
        </p:txBody>
      </p:sp>
      <p:sp>
        <p:nvSpPr>
          <p:cNvPr id="9" name="Rectangle 8">
            <a:extLst>
              <a:ext uri="{FF2B5EF4-FFF2-40B4-BE49-F238E27FC236}">
                <a16:creationId xmlns:a16="http://schemas.microsoft.com/office/drawing/2014/main" id="{31F11F1F-9FF0-452D-ACD1-7C69153CCFBB}"/>
              </a:ext>
            </a:extLst>
          </p:cNvPr>
          <p:cNvSpPr>
            <a:spLocks noGrp="1"/>
          </p:cNvSpPr>
          <p:nvPr/>
        </p:nvSpPr>
        <p:spPr>
          <a:xfrm>
            <a:off x="1066800" y="3790950"/>
            <a:ext cx="552450" cy="438150"/>
          </a:xfrm>
          <a:prstGeom prst="rect">
            <a:avLst/>
          </a:prstGeom>
          <a:noFill/>
          <a:ln w="0">
            <a:noFill/>
          </a:ln>
        </p:spPr>
        <p:txBody>
          <a:bodyPr lIns="38100" tIns="19050" rIns="38100" bIns="19050" anchor="ctr">
            <a:normAutofit/>
          </a:bodyPr>
          <a:lstStyle/>
          <a:p>
            <a:pPr algn="ctr">
              <a:lnSpc>
                <a:spcPct val="100000"/>
              </a:lnSpc>
              <a:buNone/>
              <a:defRPr sz="1500" b="1" i="0">
                <a:solidFill>
                  <a:srgbClr val="9BA6A0"/>
                </a:solidFill>
                <a:latin typeface="Segoe UI"/>
                <a:ea typeface="Segoe UI"/>
                <a:cs typeface="Segoe UI"/>
              </a:defRPr>
            </a:pPr>
            <a:r>
              <a:rPr sz="1500" b="1" i="0">
                <a:solidFill>
                  <a:srgbClr val="9BA6A0"/>
                </a:solidFill>
                <a:latin typeface="Segoe UI"/>
                <a:ea typeface="Segoe UI"/>
                <a:cs typeface="Segoe UI"/>
              </a:rPr>
              <a:t>03</a:t>
            </a:r>
          </a:p>
        </p:txBody>
      </p:sp>
      <p:sp>
        <p:nvSpPr>
          <p:cNvPr id="10" name="Rectangle 9">
            <a:extLst>
              <a:ext uri="{FF2B5EF4-FFF2-40B4-BE49-F238E27FC236}">
                <a16:creationId xmlns:a16="http://schemas.microsoft.com/office/drawing/2014/main" id="{9ECDE451-677E-48B9-BBF0-94F4F6288B9E}"/>
              </a:ext>
            </a:extLst>
          </p:cNvPr>
          <p:cNvSpPr>
            <a:spLocks noGrp="1"/>
          </p:cNvSpPr>
          <p:nvPr/>
        </p:nvSpPr>
        <p:spPr>
          <a:xfrm>
            <a:off x="1771650" y="3790950"/>
            <a:ext cx="3429000" cy="438150"/>
          </a:xfrm>
          <a:prstGeom prst="rect">
            <a:avLst/>
          </a:prstGeom>
          <a:noFill/>
          <a:ln w="0">
            <a:noFill/>
          </a:ln>
        </p:spPr>
        <p:txBody>
          <a:bodyPr lIns="38100" tIns="19050" rIns="38100" bIns="19050" anchor="ctr">
            <a:normAutofit/>
          </a:bodyPr>
          <a:lstStyle/>
          <a:p>
            <a:pPr algn="l">
              <a:lnSpc>
                <a:spcPct val="100000"/>
              </a:lnSpc>
              <a:buNone/>
              <a:defRPr sz="1875" b="0" i="0">
                <a:solidFill>
                  <a:srgbClr val="F5F7F6"/>
                </a:solidFill>
                <a:latin typeface="Segoe UI"/>
                <a:ea typeface="Segoe UI"/>
                <a:cs typeface="Segoe UI"/>
              </a:defRPr>
            </a:pPr>
            <a:r>
              <a:rPr sz="1875" b="0" i="0">
                <a:solidFill>
                  <a:srgbClr val="F5F7F6"/>
                </a:solidFill>
                <a:latin typeface="Segoe UI"/>
                <a:ea typeface="Segoe UI"/>
                <a:cs typeface="Segoe UI"/>
              </a:rPr>
              <a:t>Seuils isolés</a:t>
            </a:r>
          </a:p>
        </p:txBody>
      </p:sp>
      <p:sp>
        <p:nvSpPr>
          <p:cNvPr id="11" name="Rectangle 10">
            <a:extLst>
              <a:ext uri="{FF2B5EF4-FFF2-40B4-BE49-F238E27FC236}">
                <a16:creationId xmlns:a16="http://schemas.microsoft.com/office/drawing/2014/main" id="{438701A5-6C2E-4336-8694-E8C7DBE162D1}"/>
              </a:ext>
            </a:extLst>
          </p:cNvPr>
          <p:cNvSpPr>
            <a:spLocks noGrp="1"/>
          </p:cNvSpPr>
          <p:nvPr/>
        </p:nvSpPr>
        <p:spPr>
          <a:xfrm>
            <a:off x="1066800" y="4610100"/>
            <a:ext cx="552450" cy="438150"/>
          </a:xfrm>
          <a:prstGeom prst="rect">
            <a:avLst/>
          </a:prstGeom>
          <a:noFill/>
          <a:ln w="0">
            <a:noFill/>
          </a:ln>
        </p:spPr>
        <p:txBody>
          <a:bodyPr lIns="38100" tIns="19050" rIns="38100" bIns="19050" anchor="ctr">
            <a:normAutofit/>
          </a:bodyPr>
          <a:lstStyle/>
          <a:p>
            <a:pPr algn="ctr">
              <a:lnSpc>
                <a:spcPct val="100000"/>
              </a:lnSpc>
              <a:buNone/>
              <a:defRPr sz="1500" b="1" i="0">
                <a:solidFill>
                  <a:srgbClr val="9BA6A0"/>
                </a:solidFill>
                <a:latin typeface="Segoe UI"/>
                <a:ea typeface="Segoe UI"/>
                <a:cs typeface="Segoe UI"/>
              </a:defRPr>
            </a:pPr>
            <a:r>
              <a:rPr sz="1500" b="1" i="0">
                <a:solidFill>
                  <a:srgbClr val="9BA6A0"/>
                </a:solidFill>
                <a:latin typeface="Segoe UI"/>
                <a:ea typeface="Segoe UI"/>
                <a:cs typeface="Segoe UI"/>
              </a:rPr>
              <a:t>04</a:t>
            </a:r>
          </a:p>
        </p:txBody>
      </p:sp>
      <p:sp>
        <p:nvSpPr>
          <p:cNvPr id="12" name="Rectangle 11">
            <a:extLst>
              <a:ext uri="{FF2B5EF4-FFF2-40B4-BE49-F238E27FC236}">
                <a16:creationId xmlns:a16="http://schemas.microsoft.com/office/drawing/2014/main" id="{B48C7A60-15FA-4E3A-923D-94B2DD4BF4CD}"/>
              </a:ext>
            </a:extLst>
          </p:cNvPr>
          <p:cNvSpPr>
            <a:spLocks noGrp="1"/>
          </p:cNvSpPr>
          <p:nvPr/>
        </p:nvSpPr>
        <p:spPr>
          <a:xfrm>
            <a:off x="1771650" y="4610100"/>
            <a:ext cx="3429000" cy="438150"/>
          </a:xfrm>
          <a:prstGeom prst="rect">
            <a:avLst/>
          </a:prstGeom>
          <a:noFill/>
          <a:ln w="0">
            <a:noFill/>
          </a:ln>
        </p:spPr>
        <p:txBody>
          <a:bodyPr lIns="38100" tIns="19050" rIns="38100" bIns="19050" anchor="ctr">
            <a:normAutofit/>
          </a:bodyPr>
          <a:lstStyle/>
          <a:p>
            <a:pPr algn="l">
              <a:lnSpc>
                <a:spcPct val="100000"/>
              </a:lnSpc>
              <a:buNone/>
              <a:defRPr sz="1875" b="0" i="0">
                <a:solidFill>
                  <a:srgbClr val="F5F7F6"/>
                </a:solidFill>
                <a:latin typeface="Segoe UI"/>
                <a:ea typeface="Segoe UI"/>
                <a:cs typeface="Segoe UI"/>
              </a:defRPr>
            </a:pPr>
            <a:r>
              <a:rPr sz="1875" b="0" i="0">
                <a:solidFill>
                  <a:srgbClr val="F5F7F6"/>
                </a:solidFill>
                <a:latin typeface="Segoe UI"/>
                <a:ea typeface="Segoe UI"/>
                <a:cs typeface="Segoe UI"/>
              </a:rPr>
              <a:t>Anticipation limitée</a:t>
            </a:r>
          </a:p>
        </p:txBody>
      </p:sp>
      <p:sp>
        <p:nvSpPr>
          <p:cNvPr id="13" name="Rectangle 12">
            <a:extLst>
              <a:ext uri="{FF2B5EF4-FFF2-40B4-BE49-F238E27FC236}">
                <a16:creationId xmlns:a16="http://schemas.microsoft.com/office/drawing/2014/main" id="{FD086F40-5B5B-4F07-9804-E749F89EC0FF}"/>
              </a:ext>
            </a:extLst>
          </p:cNvPr>
          <p:cNvSpPr>
            <a:spLocks noGrp="1"/>
          </p:cNvSpPr>
          <p:nvPr/>
        </p:nvSpPr>
        <p:spPr>
          <a:xfrm>
            <a:off x="7239000" y="2152650"/>
            <a:ext cx="552450" cy="438150"/>
          </a:xfrm>
          <a:prstGeom prst="rect">
            <a:avLst/>
          </a:prstGeom>
          <a:noFill/>
          <a:ln w="0">
            <a:noFill/>
          </a:ln>
        </p:spPr>
        <p:txBody>
          <a:bodyPr lIns="38100" tIns="19050" rIns="38100" bIns="19050" anchor="ctr">
            <a:normAutofit/>
          </a:bodyPr>
          <a:lstStyle/>
          <a:p>
            <a:pPr algn="ctr">
              <a:lnSpc>
                <a:spcPct val="100000"/>
              </a:lnSpc>
              <a:buNone/>
              <a:defRPr sz="1500" b="1" i="0">
                <a:solidFill>
                  <a:srgbClr val="39FF88"/>
                </a:solidFill>
                <a:latin typeface="Segoe UI"/>
                <a:ea typeface="Segoe UI"/>
                <a:cs typeface="Segoe UI"/>
              </a:defRPr>
            </a:pPr>
            <a:r>
              <a:rPr sz="1500" b="1" i="0">
                <a:solidFill>
                  <a:srgbClr val="39FF88"/>
                </a:solidFill>
                <a:latin typeface="Segoe UI"/>
                <a:ea typeface="Segoe UI"/>
                <a:cs typeface="Segoe UI"/>
              </a:rPr>
              <a:t>01</a:t>
            </a:r>
          </a:p>
        </p:txBody>
      </p:sp>
      <p:sp>
        <p:nvSpPr>
          <p:cNvPr id="14" name="Rectangle 13">
            <a:extLst>
              <a:ext uri="{FF2B5EF4-FFF2-40B4-BE49-F238E27FC236}">
                <a16:creationId xmlns:a16="http://schemas.microsoft.com/office/drawing/2014/main" id="{A05EB54D-EB93-4A5F-91D6-A6F3557D961F}"/>
              </a:ext>
            </a:extLst>
          </p:cNvPr>
          <p:cNvSpPr>
            <a:spLocks noGrp="1"/>
          </p:cNvSpPr>
          <p:nvPr/>
        </p:nvSpPr>
        <p:spPr>
          <a:xfrm>
            <a:off x="7943850" y="2152650"/>
            <a:ext cx="3429000" cy="438150"/>
          </a:xfrm>
          <a:prstGeom prst="rect">
            <a:avLst/>
          </a:prstGeom>
          <a:noFill/>
          <a:ln w="0">
            <a:noFill/>
          </a:ln>
        </p:spPr>
        <p:txBody>
          <a:bodyPr lIns="38100" tIns="19050" rIns="38100" bIns="19050" anchor="ctr">
            <a:normAutofit/>
          </a:bodyPr>
          <a:lstStyle/>
          <a:p>
            <a:pPr algn="l">
              <a:lnSpc>
                <a:spcPct val="100000"/>
              </a:lnSpc>
              <a:buNone/>
              <a:defRPr sz="1875" b="1" i="0">
                <a:solidFill>
                  <a:srgbClr val="F5F7F6"/>
                </a:solidFill>
                <a:latin typeface="Segoe UI"/>
                <a:ea typeface="Segoe UI"/>
                <a:cs typeface="Segoe UI"/>
              </a:defRPr>
            </a:pPr>
            <a:r>
              <a:rPr sz="1875" b="1" i="0">
                <a:solidFill>
                  <a:srgbClr val="F5F7F6"/>
                </a:solidFill>
                <a:latin typeface="Segoe UI"/>
                <a:ea typeface="Segoe UI"/>
                <a:cs typeface="Segoe UI"/>
              </a:rPr>
              <a:t>Analyse proactive</a:t>
            </a:r>
          </a:p>
        </p:txBody>
      </p:sp>
      <p:sp>
        <p:nvSpPr>
          <p:cNvPr id="15" name="Rectangle 14">
            <a:extLst>
              <a:ext uri="{FF2B5EF4-FFF2-40B4-BE49-F238E27FC236}">
                <a16:creationId xmlns:a16="http://schemas.microsoft.com/office/drawing/2014/main" id="{17CBDA6C-DBBC-4E89-A811-44945AF6E7E8}"/>
              </a:ext>
            </a:extLst>
          </p:cNvPr>
          <p:cNvSpPr>
            <a:spLocks noGrp="1"/>
          </p:cNvSpPr>
          <p:nvPr/>
        </p:nvSpPr>
        <p:spPr>
          <a:xfrm>
            <a:off x="7239000" y="2971800"/>
            <a:ext cx="552450" cy="438150"/>
          </a:xfrm>
          <a:prstGeom prst="rect">
            <a:avLst/>
          </a:prstGeom>
          <a:noFill/>
          <a:ln w="0">
            <a:noFill/>
          </a:ln>
        </p:spPr>
        <p:txBody>
          <a:bodyPr lIns="38100" tIns="19050" rIns="38100" bIns="19050" anchor="ctr">
            <a:normAutofit/>
          </a:bodyPr>
          <a:lstStyle/>
          <a:p>
            <a:pPr algn="ctr">
              <a:lnSpc>
                <a:spcPct val="100000"/>
              </a:lnSpc>
              <a:buNone/>
              <a:defRPr sz="1500" b="1" i="0">
                <a:solidFill>
                  <a:srgbClr val="39FF88"/>
                </a:solidFill>
                <a:latin typeface="Segoe UI"/>
                <a:ea typeface="Segoe UI"/>
                <a:cs typeface="Segoe UI"/>
              </a:defRPr>
            </a:pPr>
            <a:r>
              <a:rPr sz="1500" b="1" i="0">
                <a:solidFill>
                  <a:srgbClr val="39FF88"/>
                </a:solidFill>
                <a:latin typeface="Segoe UI"/>
                <a:ea typeface="Segoe UI"/>
                <a:cs typeface="Segoe UI"/>
              </a:rPr>
              <a:t>02</a:t>
            </a:r>
          </a:p>
        </p:txBody>
      </p:sp>
      <p:sp>
        <p:nvSpPr>
          <p:cNvPr id="16" name="Rectangle 15">
            <a:extLst>
              <a:ext uri="{FF2B5EF4-FFF2-40B4-BE49-F238E27FC236}">
                <a16:creationId xmlns:a16="http://schemas.microsoft.com/office/drawing/2014/main" id="{17C31C67-1F22-44AF-A65A-956B5AD734DF}"/>
              </a:ext>
            </a:extLst>
          </p:cNvPr>
          <p:cNvSpPr>
            <a:spLocks noGrp="1"/>
          </p:cNvSpPr>
          <p:nvPr/>
        </p:nvSpPr>
        <p:spPr>
          <a:xfrm>
            <a:off x="7943850" y="2971800"/>
            <a:ext cx="3429000" cy="438150"/>
          </a:xfrm>
          <a:prstGeom prst="rect">
            <a:avLst/>
          </a:prstGeom>
          <a:noFill/>
          <a:ln w="0">
            <a:noFill/>
          </a:ln>
        </p:spPr>
        <p:txBody>
          <a:bodyPr lIns="38100" tIns="19050" rIns="38100" bIns="19050" anchor="ctr">
            <a:normAutofit/>
          </a:bodyPr>
          <a:lstStyle/>
          <a:p>
            <a:pPr algn="l">
              <a:lnSpc>
                <a:spcPct val="100000"/>
              </a:lnSpc>
              <a:buNone/>
              <a:defRPr sz="1875" b="0" i="0">
                <a:solidFill>
                  <a:srgbClr val="F5F7F6"/>
                </a:solidFill>
                <a:latin typeface="Segoe UI"/>
                <a:ea typeface="Segoe UI"/>
                <a:cs typeface="Segoe UI"/>
              </a:defRPr>
            </a:pPr>
            <a:r>
              <a:rPr sz="1875" b="0" i="0">
                <a:solidFill>
                  <a:srgbClr val="F5F7F6"/>
                </a:solidFill>
                <a:latin typeface="Segoe UI"/>
                <a:ea typeface="Segoe UI"/>
                <a:cs typeface="Segoe UI"/>
              </a:rPr>
              <a:t>Détection d’anomalies</a:t>
            </a:r>
          </a:p>
        </p:txBody>
      </p:sp>
      <p:sp>
        <p:nvSpPr>
          <p:cNvPr id="17" name="Rectangle 16">
            <a:extLst>
              <a:ext uri="{FF2B5EF4-FFF2-40B4-BE49-F238E27FC236}">
                <a16:creationId xmlns:a16="http://schemas.microsoft.com/office/drawing/2014/main" id="{223757A2-07C8-48C2-A43A-FF6AC813C497}"/>
              </a:ext>
            </a:extLst>
          </p:cNvPr>
          <p:cNvSpPr>
            <a:spLocks noGrp="1"/>
          </p:cNvSpPr>
          <p:nvPr/>
        </p:nvSpPr>
        <p:spPr>
          <a:xfrm>
            <a:off x="7239000" y="3790950"/>
            <a:ext cx="552450" cy="438150"/>
          </a:xfrm>
          <a:prstGeom prst="rect">
            <a:avLst/>
          </a:prstGeom>
          <a:noFill/>
          <a:ln w="0">
            <a:noFill/>
          </a:ln>
        </p:spPr>
        <p:txBody>
          <a:bodyPr lIns="38100" tIns="19050" rIns="38100" bIns="19050" anchor="ctr">
            <a:normAutofit/>
          </a:bodyPr>
          <a:lstStyle/>
          <a:p>
            <a:pPr algn="ctr">
              <a:lnSpc>
                <a:spcPct val="100000"/>
              </a:lnSpc>
              <a:buNone/>
              <a:defRPr sz="1500" b="1" i="0">
                <a:solidFill>
                  <a:srgbClr val="39FF88"/>
                </a:solidFill>
                <a:latin typeface="Segoe UI"/>
                <a:ea typeface="Segoe UI"/>
                <a:cs typeface="Segoe UI"/>
              </a:defRPr>
            </a:pPr>
            <a:r>
              <a:rPr sz="1500" b="1" i="0">
                <a:solidFill>
                  <a:srgbClr val="39FF88"/>
                </a:solidFill>
                <a:latin typeface="Segoe UI"/>
                <a:ea typeface="Segoe UI"/>
                <a:cs typeface="Segoe UI"/>
              </a:rPr>
              <a:t>03</a:t>
            </a:r>
          </a:p>
        </p:txBody>
      </p:sp>
      <p:sp>
        <p:nvSpPr>
          <p:cNvPr id="18" name="Rectangle 17">
            <a:extLst>
              <a:ext uri="{FF2B5EF4-FFF2-40B4-BE49-F238E27FC236}">
                <a16:creationId xmlns:a16="http://schemas.microsoft.com/office/drawing/2014/main" id="{34497ED0-DD47-480F-BAC2-F24C62DEA01A}"/>
              </a:ext>
            </a:extLst>
          </p:cNvPr>
          <p:cNvSpPr>
            <a:spLocks noGrp="1"/>
          </p:cNvSpPr>
          <p:nvPr/>
        </p:nvSpPr>
        <p:spPr>
          <a:xfrm>
            <a:off x="7943850" y="3790950"/>
            <a:ext cx="3429000" cy="438150"/>
          </a:xfrm>
          <a:prstGeom prst="rect">
            <a:avLst/>
          </a:prstGeom>
          <a:noFill/>
          <a:ln w="0">
            <a:noFill/>
          </a:ln>
        </p:spPr>
        <p:txBody>
          <a:bodyPr lIns="38100" tIns="19050" rIns="38100" bIns="19050" anchor="ctr">
            <a:normAutofit/>
          </a:bodyPr>
          <a:lstStyle/>
          <a:p>
            <a:pPr algn="l">
              <a:lnSpc>
                <a:spcPct val="100000"/>
              </a:lnSpc>
              <a:buNone/>
              <a:defRPr sz="1875" b="0" i="0">
                <a:solidFill>
                  <a:srgbClr val="F5F7F6"/>
                </a:solidFill>
                <a:latin typeface="Segoe UI"/>
                <a:ea typeface="Segoe UI"/>
                <a:cs typeface="Segoe UI"/>
              </a:defRPr>
            </a:pPr>
            <a:r>
              <a:rPr sz="1875" b="0" i="0">
                <a:solidFill>
                  <a:srgbClr val="F5F7F6"/>
                </a:solidFill>
                <a:latin typeface="Segoe UI"/>
                <a:ea typeface="Segoe UI"/>
                <a:cs typeface="Segoe UI"/>
              </a:rPr>
              <a:t>Tendance et risque</a:t>
            </a:r>
          </a:p>
        </p:txBody>
      </p:sp>
      <p:sp>
        <p:nvSpPr>
          <p:cNvPr id="19" name="Rectangle 18">
            <a:extLst>
              <a:ext uri="{FF2B5EF4-FFF2-40B4-BE49-F238E27FC236}">
                <a16:creationId xmlns:a16="http://schemas.microsoft.com/office/drawing/2014/main" id="{F20DB560-BD22-4267-AD5F-A4A01F63ADE3}"/>
              </a:ext>
            </a:extLst>
          </p:cNvPr>
          <p:cNvSpPr>
            <a:spLocks noGrp="1"/>
          </p:cNvSpPr>
          <p:nvPr/>
        </p:nvSpPr>
        <p:spPr>
          <a:xfrm>
            <a:off x="7239000" y="4610100"/>
            <a:ext cx="552450" cy="438150"/>
          </a:xfrm>
          <a:prstGeom prst="rect">
            <a:avLst/>
          </a:prstGeom>
          <a:noFill/>
          <a:ln w="0">
            <a:noFill/>
          </a:ln>
        </p:spPr>
        <p:txBody>
          <a:bodyPr lIns="38100" tIns="19050" rIns="38100" bIns="19050" anchor="ctr">
            <a:normAutofit/>
          </a:bodyPr>
          <a:lstStyle/>
          <a:p>
            <a:pPr algn="ctr">
              <a:lnSpc>
                <a:spcPct val="100000"/>
              </a:lnSpc>
              <a:buNone/>
              <a:defRPr sz="1500" b="1" i="0">
                <a:solidFill>
                  <a:srgbClr val="39FF88"/>
                </a:solidFill>
                <a:latin typeface="Segoe UI"/>
                <a:ea typeface="Segoe UI"/>
                <a:cs typeface="Segoe UI"/>
              </a:defRPr>
            </a:pPr>
            <a:r>
              <a:rPr sz="1500" b="1" i="0">
                <a:solidFill>
                  <a:srgbClr val="39FF88"/>
                </a:solidFill>
                <a:latin typeface="Segoe UI"/>
                <a:ea typeface="Segoe UI"/>
                <a:cs typeface="Segoe UI"/>
              </a:rPr>
              <a:t>04</a:t>
            </a:r>
          </a:p>
        </p:txBody>
      </p:sp>
      <p:sp>
        <p:nvSpPr>
          <p:cNvPr id="20" name="Rectangle 19">
            <a:extLst>
              <a:ext uri="{FF2B5EF4-FFF2-40B4-BE49-F238E27FC236}">
                <a16:creationId xmlns:a16="http://schemas.microsoft.com/office/drawing/2014/main" id="{8274EE13-E353-4BB3-A1C9-F57B4A680F75}"/>
              </a:ext>
            </a:extLst>
          </p:cNvPr>
          <p:cNvSpPr>
            <a:spLocks noGrp="1"/>
          </p:cNvSpPr>
          <p:nvPr/>
        </p:nvSpPr>
        <p:spPr>
          <a:xfrm>
            <a:off x="7943850" y="4610100"/>
            <a:ext cx="3429000" cy="438150"/>
          </a:xfrm>
          <a:prstGeom prst="rect">
            <a:avLst/>
          </a:prstGeom>
          <a:noFill/>
          <a:ln w="0">
            <a:noFill/>
          </a:ln>
        </p:spPr>
        <p:txBody>
          <a:bodyPr lIns="38100" tIns="19050" rIns="38100" bIns="19050" anchor="ctr">
            <a:normAutofit/>
          </a:bodyPr>
          <a:lstStyle/>
          <a:p>
            <a:pPr algn="l">
              <a:lnSpc>
                <a:spcPct val="100000"/>
              </a:lnSpc>
              <a:buNone/>
              <a:defRPr sz="1875" b="0" i="0">
                <a:solidFill>
                  <a:srgbClr val="F5F7F6"/>
                </a:solidFill>
                <a:latin typeface="Segoe UI"/>
                <a:ea typeface="Segoe UI"/>
                <a:cs typeface="Segoe UI"/>
              </a:defRPr>
            </a:pPr>
            <a:r>
              <a:rPr sz="1875" b="0" i="0">
                <a:solidFill>
                  <a:srgbClr val="F5F7F6"/>
                </a:solidFill>
                <a:latin typeface="Segoe UI"/>
                <a:ea typeface="Segoe UI"/>
                <a:cs typeface="Segoe UI"/>
              </a:rPr>
              <a:t>Recommandation explicable</a:t>
            </a:r>
          </a:p>
        </p:txBody>
      </p:sp>
      <p:sp>
        <p:nvSpPr>
          <p:cNvPr id="21" name="Straight Connector 20">
            <a:extLst>
              <a:ext uri="{FF2B5EF4-FFF2-40B4-BE49-F238E27FC236}">
                <a16:creationId xmlns:a16="http://schemas.microsoft.com/office/drawing/2014/main" id="{D887986C-1C98-4FCD-A628-80412F36520A}"/>
              </a:ext>
            </a:extLst>
          </p:cNvPr>
          <p:cNvSpPr>
            <a:spLocks noGrp="1"/>
          </p:cNvSpPr>
          <p:nvPr/>
        </p:nvSpPr>
        <p:spPr>
          <a:xfrm>
            <a:off x="6096000" y="1466850"/>
            <a:ext cx="0" cy="4000500"/>
          </a:xfrm>
          <a:prstGeom prst="line">
            <a:avLst/>
          </a:prstGeom>
          <a:noFill/>
          <a:ln w="19050">
            <a:solidFill>
              <a:srgbClr val="244338"/>
            </a:solidFill>
            <a:prstDash val="solid"/>
          </a:ln>
        </p:spPr>
      </p:sp>
      <p:sp>
        <p:nvSpPr>
          <p:cNvPr id="22" name="Rectangle 21">
            <a:extLst>
              <a:ext uri="{FF2B5EF4-FFF2-40B4-BE49-F238E27FC236}">
                <a16:creationId xmlns:a16="http://schemas.microsoft.com/office/drawing/2014/main" id="{4EDBFAC8-A0DB-43EA-96CA-574A88EA8FEF}"/>
              </a:ext>
            </a:extLst>
          </p:cNvPr>
          <p:cNvSpPr>
            <a:spLocks noGrp="1"/>
          </p:cNvSpPr>
          <p:nvPr/>
        </p:nvSpPr>
        <p:spPr>
          <a:xfrm>
            <a:off x="2000250" y="5619750"/>
            <a:ext cx="8191500" cy="457200"/>
          </a:xfrm>
          <a:prstGeom prst="rect">
            <a:avLst/>
          </a:prstGeom>
          <a:noFill/>
          <a:ln w="0">
            <a:noFill/>
          </a:ln>
        </p:spPr>
        <p:txBody>
          <a:bodyPr lIns="38100" tIns="19050" rIns="38100" bIns="19050" anchor="ctr">
            <a:normAutofit fontScale="85875"/>
          </a:bodyPr>
          <a:lstStyle/>
          <a:p>
            <a:pPr algn="ctr">
              <a:lnSpc>
                <a:spcPct val="100000"/>
              </a:lnSpc>
              <a:buNone/>
              <a:defRPr sz="2250" b="1" i="0">
                <a:solidFill>
                  <a:srgbClr val="F5F7F6"/>
                </a:solidFill>
                <a:latin typeface="Segoe UI"/>
                <a:ea typeface="Segoe UI"/>
                <a:cs typeface="Segoe UI"/>
              </a:defRPr>
            </a:pPr>
            <a:r>
              <a:rPr sz="2250" b="1" i="0">
                <a:solidFill>
                  <a:srgbClr val="F5F7F6"/>
                </a:solidFill>
                <a:latin typeface="Segoe UI"/>
                <a:ea typeface="Segoe UI"/>
                <a:cs typeface="Segoe UI"/>
              </a:rPr>
              <a:t>Le résultat attendu : réduire le délai entre le signal faible et la décision</a:t>
            </a:r>
          </a:p>
        </p:txBody>
      </p:sp>
      <p:sp>
        <p:nvSpPr>
          <p:cNvPr id="23" name="Straight Connector 22">
            <a:extLst>
              <a:ext uri="{FF2B5EF4-FFF2-40B4-BE49-F238E27FC236}">
                <a16:creationId xmlns:a16="http://schemas.microsoft.com/office/drawing/2014/main" id="{DAA8F633-C48B-4722-9D74-AE2B0602AE57}"/>
              </a:ext>
            </a:extLst>
          </p:cNvPr>
          <p:cNvSpPr>
            <a:spLocks noGrp="1"/>
          </p:cNvSpPr>
          <p:nvPr/>
        </p:nvSpPr>
        <p:spPr>
          <a:xfrm>
            <a:off x="609600" y="6429375"/>
            <a:ext cx="10972800" cy="0"/>
          </a:xfrm>
          <a:prstGeom prst="line">
            <a:avLst/>
          </a:prstGeom>
          <a:noFill/>
          <a:ln w="9525">
            <a:solidFill>
              <a:srgbClr val="1B3028"/>
            </a:solidFill>
            <a:prstDash val="solid"/>
          </a:ln>
        </p:spPr>
      </p:sp>
      <p:sp>
        <p:nvSpPr>
          <p:cNvPr id="24" name="Rectangle 23">
            <a:extLst>
              <a:ext uri="{FF2B5EF4-FFF2-40B4-BE49-F238E27FC236}">
                <a16:creationId xmlns:a16="http://schemas.microsoft.com/office/drawing/2014/main" id="{F095ED35-F6AD-47A6-9309-56653BA25707}"/>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5" name="Rectangle 24">
            <a:extLst>
              <a:ext uri="{FF2B5EF4-FFF2-40B4-BE49-F238E27FC236}">
                <a16:creationId xmlns:a16="http://schemas.microsoft.com/office/drawing/2014/main" id="{ECA11E53-1FF6-4334-9462-19525FB60FAD}"/>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20</a:t>
            </a:r>
          </a:p>
        </p:txBody>
      </p:sp>
    </p:spTree>
    <p:extLst>
      <p:ext uri="{BB962C8B-B14F-4D97-AF65-F5344CB8AC3E}">
        <p14:creationId xmlns:p14="http://schemas.microsoft.com/office/powerpoint/2010/main" val="1270502770"/>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10D"/>
        </a:solidFill>
        <a:effectLst/>
      </p:bgPr>
    </p:bg>
    <p:spTree>
      <p:nvGrpSpPr>
        <p:cNvPr id="1" name=""/>
        <p:cNvGrpSpPr/>
        <p:nvPr/>
      </p:nvGrpSpPr>
      <p:grpSpPr>
        <a:xfrm>
          <a:off x="0" y="0"/>
          <a:ext cx="0" cy="0"/>
          <a:chOff x="0" y="0"/>
          <a:chExt cx="0" cy="0"/>
        </a:xfrm>
      </p:grpSpPr>
      <p:sp>
        <p:nvSpPr>
          <p:cNvPr id="30" name="Straight Connector 29">
            <a:extLst>
              <a:ext uri="{FF2B5EF4-FFF2-40B4-BE49-F238E27FC236}">
                <a16:creationId xmlns:a16="http://schemas.microsoft.com/office/drawing/2014/main" id="{C24B8E58-E8C0-4463-A78A-50BE9EB4FEFD}"/>
              </a:ext>
            </a:extLst>
          </p:cNvPr>
          <p:cNvSpPr>
            <a:spLocks noGrp="1"/>
          </p:cNvSpPr>
          <p:nvPr/>
        </p:nvSpPr>
        <p:spPr>
          <a:xfrm>
            <a:off x="609600" y="266700"/>
            <a:ext cx="495300" cy="0"/>
          </a:xfrm>
          <a:prstGeom prst="line">
            <a:avLst/>
          </a:prstGeom>
          <a:noFill/>
          <a:ln w="47625">
            <a:solidFill>
              <a:srgbClr val="1ED760"/>
            </a:solidFill>
            <a:prstDash val="solid"/>
          </a:ln>
        </p:spPr>
      </p:sp>
      <p:sp>
        <p:nvSpPr>
          <p:cNvPr id="2" name="Rectangle 1">
            <a:extLst>
              <a:ext uri="{FF2B5EF4-FFF2-40B4-BE49-F238E27FC236}">
                <a16:creationId xmlns:a16="http://schemas.microsoft.com/office/drawing/2014/main" id="{12021918-E159-4D2E-9405-BCC1C5E52D8D}"/>
              </a:ext>
            </a:extLst>
          </p:cNvPr>
          <p:cNvSpPr>
            <a:spLocks noGrp="1"/>
          </p:cNvSpPr>
          <p:nvPr/>
        </p:nvSpPr>
        <p:spPr>
          <a:xfrm>
            <a:off x="609600" y="400050"/>
            <a:ext cx="10953750" cy="590550"/>
          </a:xfrm>
          <a:prstGeom prst="rect">
            <a:avLst/>
          </a:prstGeom>
          <a:noFill/>
          <a:ln w="0">
            <a:noFill/>
          </a:ln>
        </p:spPr>
        <p:txBody>
          <a:bodyPr lIns="38100" tIns="19050" rIns="38100" bIns="19050" anchor="ctr">
            <a:normAutofit/>
          </a:bodyPr>
          <a:lstStyle/>
          <a:p>
            <a:pPr algn="l">
              <a:lnSpc>
                <a:spcPct val="100000"/>
              </a:lnSpc>
              <a:buNone/>
              <a:defRPr sz="3450" b="1" i="0">
                <a:solidFill>
                  <a:srgbClr val="F5F7F6"/>
                </a:solidFill>
                <a:latin typeface="Segoe UI"/>
                <a:ea typeface="Segoe UI"/>
                <a:cs typeface="Segoe UI"/>
              </a:defRPr>
            </a:pPr>
            <a:r>
              <a:rPr sz="3450" b="1" i="0">
                <a:solidFill>
                  <a:srgbClr val="F5F7F6"/>
                </a:solidFill>
                <a:latin typeface="Segoe UI"/>
                <a:ea typeface="Segoe UI"/>
                <a:cs typeface="Segoe UI"/>
              </a:rPr>
              <a:t>Perspectives</a:t>
            </a:r>
          </a:p>
        </p:txBody>
      </p:sp>
      <p:sp>
        <p:nvSpPr>
          <p:cNvPr id="3" name="Rectangle 2">
            <a:extLst>
              <a:ext uri="{FF2B5EF4-FFF2-40B4-BE49-F238E27FC236}">
                <a16:creationId xmlns:a16="http://schemas.microsoft.com/office/drawing/2014/main" id="{614A98EB-180D-4206-96DD-9FA4182739A1}"/>
              </a:ext>
            </a:extLst>
          </p:cNvPr>
          <p:cNvSpPr>
            <a:spLocks noGrp="1"/>
          </p:cNvSpPr>
          <p:nvPr/>
        </p:nvSpPr>
        <p:spPr>
          <a:xfrm>
            <a:off x="685800" y="1409700"/>
            <a:ext cx="609600" cy="495300"/>
          </a:xfrm>
          <a:prstGeom prst="rect">
            <a:avLst/>
          </a:prstGeom>
          <a:noFill/>
          <a:ln w="0">
            <a:noFill/>
          </a:ln>
        </p:spPr>
        <p:txBody>
          <a:bodyPr lIns="38100" tIns="19050" rIns="38100" bIns="19050" anchor="ctr">
            <a:normAutofit/>
          </a:bodyPr>
          <a:lstStyle/>
          <a:p>
            <a:pPr algn="ctr">
              <a:lnSpc>
                <a:spcPct val="100000"/>
              </a:lnSpc>
              <a:buNone/>
              <a:defRPr sz="2400" b="1" i="0">
                <a:solidFill>
                  <a:srgbClr val="39FF88"/>
                </a:solidFill>
                <a:latin typeface="Segoe UI"/>
                <a:ea typeface="Segoe UI"/>
                <a:cs typeface="Segoe UI"/>
              </a:defRPr>
            </a:pPr>
            <a:r>
              <a:rPr sz="2400" b="1" i="0">
                <a:solidFill>
                  <a:srgbClr val="39FF88"/>
                </a:solidFill>
                <a:latin typeface="Segoe UI"/>
                <a:ea typeface="Segoe UI"/>
                <a:cs typeface="Segoe UI"/>
              </a:rPr>
              <a:t>01</a:t>
            </a:r>
          </a:p>
        </p:txBody>
      </p:sp>
      <p:sp>
        <p:nvSpPr>
          <p:cNvPr id="4" name="Straight Connector 3">
            <a:extLst>
              <a:ext uri="{FF2B5EF4-FFF2-40B4-BE49-F238E27FC236}">
                <a16:creationId xmlns:a16="http://schemas.microsoft.com/office/drawing/2014/main" id="{9FBC4D53-218F-4778-9FDE-CFE56A4FFFA2}"/>
              </a:ext>
            </a:extLst>
          </p:cNvPr>
          <p:cNvSpPr>
            <a:spLocks noGrp="1"/>
          </p:cNvSpPr>
          <p:nvPr/>
        </p:nvSpPr>
        <p:spPr>
          <a:xfrm>
            <a:off x="1428750" y="1657350"/>
            <a:ext cx="2524125" cy="0"/>
          </a:xfrm>
          <a:prstGeom prst="line">
            <a:avLst/>
          </a:prstGeom>
          <a:noFill/>
          <a:ln w="19050">
            <a:solidFill>
              <a:srgbClr val="244338"/>
            </a:solidFill>
            <a:prstDash val="solid"/>
          </a:ln>
        </p:spPr>
      </p:sp>
      <p:sp>
        <p:nvSpPr>
          <p:cNvPr id="5" name="Rectangle 4">
            <a:extLst>
              <a:ext uri="{FF2B5EF4-FFF2-40B4-BE49-F238E27FC236}">
                <a16:creationId xmlns:a16="http://schemas.microsoft.com/office/drawing/2014/main" id="{2532137D-E0E6-4013-A457-6DFC6172548B}"/>
              </a:ext>
            </a:extLst>
          </p:cNvPr>
          <p:cNvSpPr>
            <a:spLocks noGrp="1"/>
          </p:cNvSpPr>
          <p:nvPr/>
        </p:nvSpPr>
        <p:spPr>
          <a:xfrm>
            <a:off x="762000" y="2076450"/>
            <a:ext cx="3238500" cy="419100"/>
          </a:xfrm>
          <a:prstGeom prst="rect">
            <a:avLst/>
          </a:prstGeom>
          <a:noFill/>
          <a:ln w="0">
            <a:noFill/>
          </a:ln>
        </p:spPr>
        <p:txBody>
          <a:bodyPr lIns="38100" tIns="19050" rIns="38100" bIns="19050" anchor="ctr">
            <a:normAutofit/>
          </a:bodyPr>
          <a:lstStyle/>
          <a:p>
            <a:pPr algn="l">
              <a:lnSpc>
                <a:spcPct val="100000"/>
              </a:lnSpc>
              <a:buNone/>
              <a:defRPr sz="2025" b="1" i="0">
                <a:solidFill>
                  <a:srgbClr val="F5F7F6"/>
                </a:solidFill>
                <a:latin typeface="Segoe UI"/>
                <a:ea typeface="Segoe UI"/>
                <a:cs typeface="Segoe UI"/>
              </a:defRPr>
            </a:pPr>
            <a:r>
              <a:rPr sz="2025" b="1" i="0">
                <a:solidFill>
                  <a:srgbClr val="F5F7F6"/>
                </a:solidFill>
                <a:latin typeface="Segoe UI"/>
                <a:ea typeface="Segoe UI"/>
                <a:cs typeface="Segoe UI"/>
              </a:rPr>
              <a:t>VMware</a:t>
            </a:r>
          </a:p>
        </p:txBody>
      </p:sp>
      <p:sp>
        <p:nvSpPr>
          <p:cNvPr id="6" name="Rectangle 5">
            <a:extLst>
              <a:ext uri="{FF2B5EF4-FFF2-40B4-BE49-F238E27FC236}">
                <a16:creationId xmlns:a16="http://schemas.microsoft.com/office/drawing/2014/main" id="{25D1A9DD-239E-46AF-93C3-00741831F826}"/>
              </a:ext>
            </a:extLst>
          </p:cNvPr>
          <p:cNvSpPr>
            <a:spLocks noGrp="1"/>
          </p:cNvSpPr>
          <p:nvPr/>
        </p:nvSpPr>
        <p:spPr>
          <a:xfrm>
            <a:off x="762000" y="2552700"/>
            <a:ext cx="3238500" cy="666750"/>
          </a:xfrm>
          <a:prstGeom prst="rect">
            <a:avLst/>
          </a:prstGeom>
          <a:noFill/>
          <a:ln w="0">
            <a:noFill/>
          </a:ln>
        </p:spPr>
        <p:txBody>
          <a:bodyPr lIns="38100" tIns="19050" rIns="38100" bIns="19050" anchor="ctr">
            <a:normAutofit/>
          </a:bodyPr>
          <a:lstStyle/>
          <a:p>
            <a:pPr algn="l">
              <a:lnSpc>
                <a:spcPct val="112000"/>
              </a:lnSpc>
              <a:buNone/>
              <a:defRPr sz="1575" b="0" i="0">
                <a:solidFill>
                  <a:srgbClr val="9BA6A0"/>
                </a:solidFill>
                <a:latin typeface="Segoe UI"/>
                <a:ea typeface="Segoe UI"/>
                <a:cs typeface="Segoe UI"/>
              </a:defRPr>
            </a:pPr>
            <a:r>
              <a:rPr sz="1575" b="0" i="0">
                <a:solidFill>
                  <a:srgbClr val="9BA6A0"/>
                </a:solidFill>
                <a:latin typeface="Segoe UI"/>
                <a:ea typeface="Segoe UI"/>
                <a:cs typeface="Segoe UI"/>
              </a:rPr>
              <a:t>Validation sur vCenter réel</a:t>
            </a:r>
          </a:p>
        </p:txBody>
      </p:sp>
      <p:sp>
        <p:nvSpPr>
          <p:cNvPr id="7" name="Rectangle 6">
            <a:extLst>
              <a:ext uri="{FF2B5EF4-FFF2-40B4-BE49-F238E27FC236}">
                <a16:creationId xmlns:a16="http://schemas.microsoft.com/office/drawing/2014/main" id="{99833796-ACD3-4A09-9DCE-817DC8C5C17F}"/>
              </a:ext>
            </a:extLst>
          </p:cNvPr>
          <p:cNvSpPr>
            <a:spLocks noGrp="1"/>
          </p:cNvSpPr>
          <p:nvPr/>
        </p:nvSpPr>
        <p:spPr>
          <a:xfrm>
            <a:off x="4514850" y="1409700"/>
            <a:ext cx="609600" cy="495300"/>
          </a:xfrm>
          <a:prstGeom prst="rect">
            <a:avLst/>
          </a:prstGeom>
          <a:noFill/>
          <a:ln w="0">
            <a:noFill/>
          </a:ln>
        </p:spPr>
        <p:txBody>
          <a:bodyPr lIns="38100" tIns="19050" rIns="38100" bIns="19050" anchor="ctr">
            <a:normAutofit/>
          </a:bodyPr>
          <a:lstStyle/>
          <a:p>
            <a:pPr algn="ctr">
              <a:lnSpc>
                <a:spcPct val="100000"/>
              </a:lnSpc>
              <a:buNone/>
              <a:defRPr sz="2400" b="1" i="0">
                <a:solidFill>
                  <a:srgbClr val="39FF88"/>
                </a:solidFill>
                <a:latin typeface="Segoe UI"/>
                <a:ea typeface="Segoe UI"/>
                <a:cs typeface="Segoe UI"/>
              </a:defRPr>
            </a:pPr>
            <a:r>
              <a:rPr sz="2400" b="1" i="0">
                <a:solidFill>
                  <a:srgbClr val="39FF88"/>
                </a:solidFill>
                <a:latin typeface="Segoe UI"/>
                <a:ea typeface="Segoe UI"/>
                <a:cs typeface="Segoe UI"/>
              </a:rPr>
              <a:t>02</a:t>
            </a:r>
          </a:p>
        </p:txBody>
      </p:sp>
      <p:sp>
        <p:nvSpPr>
          <p:cNvPr id="8" name="Straight Connector 7">
            <a:extLst>
              <a:ext uri="{FF2B5EF4-FFF2-40B4-BE49-F238E27FC236}">
                <a16:creationId xmlns:a16="http://schemas.microsoft.com/office/drawing/2014/main" id="{111E57D9-9AA9-45F1-AAF8-A71661E3DB15}"/>
              </a:ext>
            </a:extLst>
          </p:cNvPr>
          <p:cNvSpPr>
            <a:spLocks noGrp="1"/>
          </p:cNvSpPr>
          <p:nvPr/>
        </p:nvSpPr>
        <p:spPr>
          <a:xfrm>
            <a:off x="5257800" y="1657350"/>
            <a:ext cx="2524125" cy="0"/>
          </a:xfrm>
          <a:prstGeom prst="line">
            <a:avLst/>
          </a:prstGeom>
          <a:noFill/>
          <a:ln w="19050">
            <a:solidFill>
              <a:srgbClr val="244338"/>
            </a:solidFill>
            <a:prstDash val="solid"/>
          </a:ln>
        </p:spPr>
      </p:sp>
      <p:sp>
        <p:nvSpPr>
          <p:cNvPr id="9" name="Rectangle 8">
            <a:extLst>
              <a:ext uri="{FF2B5EF4-FFF2-40B4-BE49-F238E27FC236}">
                <a16:creationId xmlns:a16="http://schemas.microsoft.com/office/drawing/2014/main" id="{30567E14-5966-4586-AEE1-95CABDBFDBF7}"/>
              </a:ext>
            </a:extLst>
          </p:cNvPr>
          <p:cNvSpPr>
            <a:spLocks noGrp="1"/>
          </p:cNvSpPr>
          <p:nvPr/>
        </p:nvSpPr>
        <p:spPr>
          <a:xfrm>
            <a:off x="4591050" y="2076450"/>
            <a:ext cx="3238500" cy="419100"/>
          </a:xfrm>
          <a:prstGeom prst="rect">
            <a:avLst/>
          </a:prstGeom>
          <a:noFill/>
          <a:ln w="0">
            <a:noFill/>
          </a:ln>
        </p:spPr>
        <p:txBody>
          <a:bodyPr lIns="38100" tIns="19050" rIns="38100" bIns="19050" anchor="ctr">
            <a:normAutofit/>
          </a:bodyPr>
          <a:lstStyle/>
          <a:p>
            <a:pPr algn="l">
              <a:lnSpc>
                <a:spcPct val="100000"/>
              </a:lnSpc>
              <a:buNone/>
              <a:defRPr sz="2025" b="1" i="0">
                <a:solidFill>
                  <a:srgbClr val="F5F7F6"/>
                </a:solidFill>
                <a:latin typeface="Segoe UI"/>
                <a:ea typeface="Segoe UI"/>
                <a:cs typeface="Segoe UI"/>
              </a:defRPr>
            </a:pPr>
            <a:r>
              <a:rPr sz="2025" b="1" i="0">
                <a:solidFill>
                  <a:srgbClr val="F5F7F6"/>
                </a:solidFill>
                <a:latin typeface="Segoe UI"/>
                <a:ea typeface="Segoe UI"/>
                <a:cs typeface="Segoe UI"/>
              </a:rPr>
              <a:t>Hyper-V</a:t>
            </a:r>
          </a:p>
        </p:txBody>
      </p:sp>
      <p:sp>
        <p:nvSpPr>
          <p:cNvPr id="10" name="Rectangle 9">
            <a:extLst>
              <a:ext uri="{FF2B5EF4-FFF2-40B4-BE49-F238E27FC236}">
                <a16:creationId xmlns:a16="http://schemas.microsoft.com/office/drawing/2014/main" id="{192D0BAB-D5AD-4F3B-92F3-3272FD864F76}"/>
              </a:ext>
            </a:extLst>
          </p:cNvPr>
          <p:cNvSpPr>
            <a:spLocks noGrp="1"/>
          </p:cNvSpPr>
          <p:nvPr/>
        </p:nvSpPr>
        <p:spPr>
          <a:xfrm>
            <a:off x="4591050" y="2552700"/>
            <a:ext cx="3238500" cy="666750"/>
          </a:xfrm>
          <a:prstGeom prst="rect">
            <a:avLst/>
          </a:prstGeom>
          <a:noFill/>
          <a:ln w="0">
            <a:noFill/>
          </a:ln>
        </p:spPr>
        <p:txBody>
          <a:bodyPr lIns="38100" tIns="19050" rIns="38100" bIns="19050" anchor="ctr">
            <a:normAutofit/>
          </a:bodyPr>
          <a:lstStyle/>
          <a:p>
            <a:pPr algn="l">
              <a:lnSpc>
                <a:spcPct val="112000"/>
              </a:lnSpc>
              <a:buNone/>
              <a:defRPr sz="1575" b="0" i="0">
                <a:solidFill>
                  <a:srgbClr val="9BA6A0"/>
                </a:solidFill>
                <a:latin typeface="Segoe UI"/>
                <a:ea typeface="Segoe UI"/>
                <a:cs typeface="Segoe UI"/>
              </a:defRPr>
            </a:pPr>
            <a:r>
              <a:rPr sz="1575" b="0" i="0">
                <a:solidFill>
                  <a:srgbClr val="9BA6A0"/>
                </a:solidFill>
                <a:latin typeface="Segoe UI"/>
                <a:ea typeface="Segoe UI"/>
                <a:cs typeface="Segoe UI"/>
              </a:rPr>
              <a:t>Validation avec droits administrateur</a:t>
            </a:r>
          </a:p>
        </p:txBody>
      </p:sp>
      <p:sp>
        <p:nvSpPr>
          <p:cNvPr id="11" name="Rectangle 10">
            <a:extLst>
              <a:ext uri="{FF2B5EF4-FFF2-40B4-BE49-F238E27FC236}">
                <a16:creationId xmlns:a16="http://schemas.microsoft.com/office/drawing/2014/main" id="{BEF5F431-3AC7-4BF7-AFAC-DAD239E67A81}"/>
              </a:ext>
            </a:extLst>
          </p:cNvPr>
          <p:cNvSpPr>
            <a:spLocks noGrp="1"/>
          </p:cNvSpPr>
          <p:nvPr/>
        </p:nvSpPr>
        <p:spPr>
          <a:xfrm>
            <a:off x="8343900" y="1409700"/>
            <a:ext cx="609600" cy="495300"/>
          </a:xfrm>
          <a:prstGeom prst="rect">
            <a:avLst/>
          </a:prstGeom>
          <a:noFill/>
          <a:ln w="0">
            <a:noFill/>
          </a:ln>
        </p:spPr>
        <p:txBody>
          <a:bodyPr lIns="38100" tIns="19050" rIns="38100" bIns="19050" anchor="ctr">
            <a:normAutofit/>
          </a:bodyPr>
          <a:lstStyle/>
          <a:p>
            <a:pPr algn="ctr">
              <a:lnSpc>
                <a:spcPct val="100000"/>
              </a:lnSpc>
              <a:buNone/>
              <a:defRPr sz="2400" b="1" i="0">
                <a:solidFill>
                  <a:srgbClr val="39FF88"/>
                </a:solidFill>
                <a:latin typeface="Segoe UI"/>
                <a:ea typeface="Segoe UI"/>
                <a:cs typeface="Segoe UI"/>
              </a:defRPr>
            </a:pPr>
            <a:r>
              <a:rPr sz="2400" b="1" i="0">
                <a:solidFill>
                  <a:srgbClr val="39FF88"/>
                </a:solidFill>
                <a:latin typeface="Segoe UI"/>
                <a:ea typeface="Segoe UI"/>
                <a:cs typeface="Segoe UI"/>
              </a:rPr>
              <a:t>03</a:t>
            </a:r>
          </a:p>
        </p:txBody>
      </p:sp>
      <p:sp>
        <p:nvSpPr>
          <p:cNvPr id="12" name="Straight Connector 11">
            <a:extLst>
              <a:ext uri="{FF2B5EF4-FFF2-40B4-BE49-F238E27FC236}">
                <a16:creationId xmlns:a16="http://schemas.microsoft.com/office/drawing/2014/main" id="{FB28D40D-DBE3-4AD7-8B48-C4BBE226D939}"/>
              </a:ext>
            </a:extLst>
          </p:cNvPr>
          <p:cNvSpPr>
            <a:spLocks noGrp="1"/>
          </p:cNvSpPr>
          <p:nvPr/>
        </p:nvSpPr>
        <p:spPr>
          <a:xfrm>
            <a:off x="9086850" y="1657350"/>
            <a:ext cx="2524125" cy="0"/>
          </a:xfrm>
          <a:prstGeom prst="line">
            <a:avLst/>
          </a:prstGeom>
          <a:noFill/>
          <a:ln w="19050">
            <a:solidFill>
              <a:srgbClr val="244338"/>
            </a:solidFill>
            <a:prstDash val="solid"/>
          </a:ln>
        </p:spPr>
      </p:sp>
      <p:sp>
        <p:nvSpPr>
          <p:cNvPr id="13" name="Rectangle 12">
            <a:extLst>
              <a:ext uri="{FF2B5EF4-FFF2-40B4-BE49-F238E27FC236}">
                <a16:creationId xmlns:a16="http://schemas.microsoft.com/office/drawing/2014/main" id="{976262EA-BA47-4304-8DCF-AC30F20866C9}"/>
              </a:ext>
            </a:extLst>
          </p:cNvPr>
          <p:cNvSpPr>
            <a:spLocks noGrp="1"/>
          </p:cNvSpPr>
          <p:nvPr/>
        </p:nvSpPr>
        <p:spPr>
          <a:xfrm>
            <a:off x="8420100" y="2076450"/>
            <a:ext cx="3238500" cy="419100"/>
          </a:xfrm>
          <a:prstGeom prst="rect">
            <a:avLst/>
          </a:prstGeom>
          <a:noFill/>
          <a:ln w="0">
            <a:noFill/>
          </a:ln>
        </p:spPr>
        <p:txBody>
          <a:bodyPr lIns="38100" tIns="19050" rIns="38100" bIns="19050" anchor="ctr">
            <a:normAutofit/>
          </a:bodyPr>
          <a:lstStyle/>
          <a:p>
            <a:pPr algn="l">
              <a:lnSpc>
                <a:spcPct val="100000"/>
              </a:lnSpc>
              <a:buNone/>
              <a:defRPr sz="2025" b="1" i="0">
                <a:solidFill>
                  <a:srgbClr val="F5F7F6"/>
                </a:solidFill>
                <a:latin typeface="Segoe UI"/>
                <a:ea typeface="Segoe UI"/>
                <a:cs typeface="Segoe UI"/>
              </a:defRPr>
            </a:pPr>
            <a:r>
              <a:rPr sz="2025" b="1" i="0">
                <a:solidFill>
                  <a:srgbClr val="F5F7F6"/>
                </a:solidFill>
                <a:latin typeface="Segoe UI"/>
                <a:ea typeface="Segoe UI"/>
                <a:cs typeface="Segoe UI"/>
              </a:rPr>
              <a:t>Machine Learning</a:t>
            </a:r>
          </a:p>
        </p:txBody>
      </p:sp>
      <p:sp>
        <p:nvSpPr>
          <p:cNvPr id="14" name="Rectangle 13">
            <a:extLst>
              <a:ext uri="{FF2B5EF4-FFF2-40B4-BE49-F238E27FC236}">
                <a16:creationId xmlns:a16="http://schemas.microsoft.com/office/drawing/2014/main" id="{B16D10E5-BD82-4882-83D5-8D9D1427FC3A}"/>
              </a:ext>
            </a:extLst>
          </p:cNvPr>
          <p:cNvSpPr>
            <a:spLocks noGrp="1"/>
          </p:cNvSpPr>
          <p:nvPr/>
        </p:nvSpPr>
        <p:spPr>
          <a:xfrm>
            <a:off x="8420100" y="2552700"/>
            <a:ext cx="3238500" cy="666750"/>
          </a:xfrm>
          <a:prstGeom prst="rect">
            <a:avLst/>
          </a:prstGeom>
          <a:noFill/>
          <a:ln w="0">
            <a:noFill/>
          </a:ln>
        </p:spPr>
        <p:txBody>
          <a:bodyPr lIns="38100" tIns="19050" rIns="38100" bIns="19050" anchor="ctr">
            <a:normAutofit/>
          </a:bodyPr>
          <a:lstStyle/>
          <a:p>
            <a:pPr algn="l">
              <a:lnSpc>
                <a:spcPct val="112000"/>
              </a:lnSpc>
              <a:buNone/>
              <a:defRPr sz="1575" b="0" i="0">
                <a:solidFill>
                  <a:srgbClr val="9BA6A0"/>
                </a:solidFill>
                <a:latin typeface="Segoe UI"/>
                <a:ea typeface="Segoe UI"/>
                <a:cs typeface="Segoe UI"/>
              </a:defRPr>
            </a:pPr>
            <a:r>
              <a:rPr sz="1575" b="0" i="0">
                <a:solidFill>
                  <a:srgbClr val="9BA6A0"/>
                </a:solidFill>
                <a:latin typeface="Segoe UI"/>
                <a:ea typeface="Segoe UI"/>
                <a:cs typeface="Segoe UI"/>
              </a:rPr>
              <a:t>Données réelles labellisées et dérive</a:t>
            </a:r>
          </a:p>
        </p:txBody>
      </p:sp>
      <p:sp>
        <p:nvSpPr>
          <p:cNvPr id="15" name="Rectangle 14">
            <a:extLst>
              <a:ext uri="{FF2B5EF4-FFF2-40B4-BE49-F238E27FC236}">
                <a16:creationId xmlns:a16="http://schemas.microsoft.com/office/drawing/2014/main" id="{792F94EC-14F3-4F68-BFA8-BCB2BA22E40B}"/>
              </a:ext>
            </a:extLst>
          </p:cNvPr>
          <p:cNvSpPr>
            <a:spLocks noGrp="1"/>
          </p:cNvSpPr>
          <p:nvPr/>
        </p:nvSpPr>
        <p:spPr>
          <a:xfrm>
            <a:off x="685800" y="3505200"/>
            <a:ext cx="609600" cy="495300"/>
          </a:xfrm>
          <a:prstGeom prst="rect">
            <a:avLst/>
          </a:prstGeom>
          <a:noFill/>
          <a:ln w="0">
            <a:noFill/>
          </a:ln>
        </p:spPr>
        <p:txBody>
          <a:bodyPr lIns="38100" tIns="19050" rIns="38100" bIns="19050" anchor="ctr">
            <a:normAutofit/>
          </a:bodyPr>
          <a:lstStyle/>
          <a:p>
            <a:pPr algn="ctr">
              <a:lnSpc>
                <a:spcPct val="100000"/>
              </a:lnSpc>
              <a:buNone/>
              <a:defRPr sz="2400" b="1" i="0">
                <a:solidFill>
                  <a:srgbClr val="39FF88"/>
                </a:solidFill>
                <a:latin typeface="Segoe UI"/>
                <a:ea typeface="Segoe UI"/>
                <a:cs typeface="Segoe UI"/>
              </a:defRPr>
            </a:pPr>
            <a:r>
              <a:rPr sz="2400" b="1" i="0">
                <a:solidFill>
                  <a:srgbClr val="39FF88"/>
                </a:solidFill>
                <a:latin typeface="Segoe UI"/>
                <a:ea typeface="Segoe UI"/>
                <a:cs typeface="Segoe UI"/>
              </a:rPr>
              <a:t>04</a:t>
            </a:r>
          </a:p>
        </p:txBody>
      </p:sp>
      <p:sp>
        <p:nvSpPr>
          <p:cNvPr id="16" name="Straight Connector 15">
            <a:extLst>
              <a:ext uri="{FF2B5EF4-FFF2-40B4-BE49-F238E27FC236}">
                <a16:creationId xmlns:a16="http://schemas.microsoft.com/office/drawing/2014/main" id="{F565EF99-7FDC-438E-858F-28445AB2012E}"/>
              </a:ext>
            </a:extLst>
          </p:cNvPr>
          <p:cNvSpPr>
            <a:spLocks noGrp="1"/>
          </p:cNvSpPr>
          <p:nvPr/>
        </p:nvSpPr>
        <p:spPr>
          <a:xfrm>
            <a:off x="1428750" y="3752850"/>
            <a:ext cx="2524125" cy="0"/>
          </a:xfrm>
          <a:prstGeom prst="line">
            <a:avLst/>
          </a:prstGeom>
          <a:noFill/>
          <a:ln w="19050">
            <a:solidFill>
              <a:srgbClr val="244338"/>
            </a:solidFill>
            <a:prstDash val="solid"/>
          </a:ln>
        </p:spPr>
      </p:sp>
      <p:sp>
        <p:nvSpPr>
          <p:cNvPr id="17" name="Rectangle 16">
            <a:extLst>
              <a:ext uri="{FF2B5EF4-FFF2-40B4-BE49-F238E27FC236}">
                <a16:creationId xmlns:a16="http://schemas.microsoft.com/office/drawing/2014/main" id="{24D0ED4A-0510-41BA-AC56-590849BCBAFB}"/>
              </a:ext>
            </a:extLst>
          </p:cNvPr>
          <p:cNvSpPr>
            <a:spLocks noGrp="1"/>
          </p:cNvSpPr>
          <p:nvPr/>
        </p:nvSpPr>
        <p:spPr>
          <a:xfrm>
            <a:off x="762000" y="4171950"/>
            <a:ext cx="3238500" cy="419100"/>
          </a:xfrm>
          <a:prstGeom prst="rect">
            <a:avLst/>
          </a:prstGeom>
          <a:noFill/>
          <a:ln w="0">
            <a:noFill/>
          </a:ln>
        </p:spPr>
        <p:txBody>
          <a:bodyPr lIns="38100" tIns="19050" rIns="38100" bIns="19050" anchor="ctr">
            <a:normAutofit/>
          </a:bodyPr>
          <a:lstStyle/>
          <a:p>
            <a:pPr algn="l">
              <a:lnSpc>
                <a:spcPct val="100000"/>
              </a:lnSpc>
              <a:buNone/>
              <a:defRPr sz="2025" b="1" i="0">
                <a:solidFill>
                  <a:srgbClr val="F5F7F6"/>
                </a:solidFill>
                <a:latin typeface="Segoe UI"/>
                <a:ea typeface="Segoe UI"/>
                <a:cs typeface="Segoe UI"/>
              </a:defRPr>
            </a:pPr>
            <a:r>
              <a:rPr sz="2025" b="1" i="0">
                <a:solidFill>
                  <a:srgbClr val="F5F7F6"/>
                </a:solidFill>
                <a:latin typeface="Segoe UI"/>
                <a:ea typeface="Segoe UI"/>
                <a:cs typeface="Segoe UI"/>
              </a:rPr>
              <a:t>Remédiation</a:t>
            </a:r>
          </a:p>
        </p:txBody>
      </p:sp>
      <p:sp>
        <p:nvSpPr>
          <p:cNvPr id="18" name="Rectangle 17">
            <a:extLst>
              <a:ext uri="{FF2B5EF4-FFF2-40B4-BE49-F238E27FC236}">
                <a16:creationId xmlns:a16="http://schemas.microsoft.com/office/drawing/2014/main" id="{CFA2AFC2-A332-4F8F-8339-F5AB8C33374D}"/>
              </a:ext>
            </a:extLst>
          </p:cNvPr>
          <p:cNvSpPr>
            <a:spLocks noGrp="1"/>
          </p:cNvSpPr>
          <p:nvPr/>
        </p:nvSpPr>
        <p:spPr>
          <a:xfrm>
            <a:off x="762000" y="4648200"/>
            <a:ext cx="3238500" cy="666750"/>
          </a:xfrm>
          <a:prstGeom prst="rect">
            <a:avLst/>
          </a:prstGeom>
          <a:noFill/>
          <a:ln w="0">
            <a:noFill/>
          </a:ln>
        </p:spPr>
        <p:txBody>
          <a:bodyPr lIns="38100" tIns="19050" rIns="38100" bIns="19050" anchor="ctr">
            <a:normAutofit/>
          </a:bodyPr>
          <a:lstStyle/>
          <a:p>
            <a:pPr algn="l">
              <a:lnSpc>
                <a:spcPct val="112000"/>
              </a:lnSpc>
              <a:buNone/>
              <a:defRPr sz="1575" b="0" i="0">
                <a:solidFill>
                  <a:srgbClr val="9BA6A0"/>
                </a:solidFill>
                <a:latin typeface="Segoe UI"/>
                <a:ea typeface="Segoe UI"/>
                <a:cs typeface="Segoe UI"/>
              </a:defRPr>
            </a:pPr>
            <a:r>
              <a:rPr sz="1575" b="0" i="0">
                <a:solidFill>
                  <a:srgbClr val="9BA6A0"/>
                </a:solidFill>
                <a:latin typeface="Segoe UI"/>
                <a:ea typeface="Segoe UI"/>
                <a:cs typeface="Segoe UI"/>
              </a:rPr>
              <a:t>Actions automatiques encadrées</a:t>
            </a:r>
          </a:p>
        </p:txBody>
      </p:sp>
      <p:sp>
        <p:nvSpPr>
          <p:cNvPr id="19" name="Rectangle 18">
            <a:extLst>
              <a:ext uri="{FF2B5EF4-FFF2-40B4-BE49-F238E27FC236}">
                <a16:creationId xmlns:a16="http://schemas.microsoft.com/office/drawing/2014/main" id="{1137BA86-2183-4C1A-A156-A4BBC62A09B4}"/>
              </a:ext>
            </a:extLst>
          </p:cNvPr>
          <p:cNvSpPr>
            <a:spLocks noGrp="1"/>
          </p:cNvSpPr>
          <p:nvPr/>
        </p:nvSpPr>
        <p:spPr>
          <a:xfrm>
            <a:off x="4514850" y="3505200"/>
            <a:ext cx="609600" cy="495300"/>
          </a:xfrm>
          <a:prstGeom prst="rect">
            <a:avLst/>
          </a:prstGeom>
          <a:noFill/>
          <a:ln w="0">
            <a:noFill/>
          </a:ln>
        </p:spPr>
        <p:txBody>
          <a:bodyPr lIns="38100" tIns="19050" rIns="38100" bIns="19050" anchor="ctr">
            <a:normAutofit/>
          </a:bodyPr>
          <a:lstStyle/>
          <a:p>
            <a:pPr algn="ctr">
              <a:lnSpc>
                <a:spcPct val="100000"/>
              </a:lnSpc>
              <a:buNone/>
              <a:defRPr sz="2400" b="1" i="0">
                <a:solidFill>
                  <a:srgbClr val="39FF88"/>
                </a:solidFill>
                <a:latin typeface="Segoe UI"/>
                <a:ea typeface="Segoe UI"/>
                <a:cs typeface="Segoe UI"/>
              </a:defRPr>
            </a:pPr>
            <a:r>
              <a:rPr sz="2400" b="1" i="0">
                <a:solidFill>
                  <a:srgbClr val="39FF88"/>
                </a:solidFill>
                <a:latin typeface="Segoe UI"/>
                <a:ea typeface="Segoe UI"/>
                <a:cs typeface="Segoe UI"/>
              </a:rPr>
              <a:t>05</a:t>
            </a:r>
          </a:p>
        </p:txBody>
      </p:sp>
      <p:sp>
        <p:nvSpPr>
          <p:cNvPr id="20" name="Straight Connector 19">
            <a:extLst>
              <a:ext uri="{FF2B5EF4-FFF2-40B4-BE49-F238E27FC236}">
                <a16:creationId xmlns:a16="http://schemas.microsoft.com/office/drawing/2014/main" id="{7CC91C99-AE64-4DDC-9D0E-DBDD8FC439B0}"/>
              </a:ext>
            </a:extLst>
          </p:cNvPr>
          <p:cNvSpPr>
            <a:spLocks noGrp="1"/>
          </p:cNvSpPr>
          <p:nvPr/>
        </p:nvSpPr>
        <p:spPr>
          <a:xfrm>
            <a:off x="5257800" y="3752850"/>
            <a:ext cx="2524125" cy="0"/>
          </a:xfrm>
          <a:prstGeom prst="line">
            <a:avLst/>
          </a:prstGeom>
          <a:noFill/>
          <a:ln w="19050">
            <a:solidFill>
              <a:srgbClr val="244338"/>
            </a:solidFill>
            <a:prstDash val="solid"/>
          </a:ln>
        </p:spPr>
      </p:sp>
      <p:sp>
        <p:nvSpPr>
          <p:cNvPr id="21" name="Rectangle 20">
            <a:extLst>
              <a:ext uri="{FF2B5EF4-FFF2-40B4-BE49-F238E27FC236}">
                <a16:creationId xmlns:a16="http://schemas.microsoft.com/office/drawing/2014/main" id="{5D2552E1-8662-4418-8D15-968719FD1C49}"/>
              </a:ext>
            </a:extLst>
          </p:cNvPr>
          <p:cNvSpPr>
            <a:spLocks noGrp="1"/>
          </p:cNvSpPr>
          <p:nvPr/>
        </p:nvSpPr>
        <p:spPr>
          <a:xfrm>
            <a:off x="4591050" y="4171950"/>
            <a:ext cx="3238500" cy="419100"/>
          </a:xfrm>
          <a:prstGeom prst="rect">
            <a:avLst/>
          </a:prstGeom>
          <a:noFill/>
          <a:ln w="0">
            <a:noFill/>
          </a:ln>
        </p:spPr>
        <p:txBody>
          <a:bodyPr lIns="38100" tIns="19050" rIns="38100" bIns="19050" anchor="ctr">
            <a:normAutofit/>
          </a:bodyPr>
          <a:lstStyle/>
          <a:p>
            <a:pPr algn="l">
              <a:lnSpc>
                <a:spcPct val="100000"/>
              </a:lnSpc>
              <a:buNone/>
              <a:defRPr sz="2025" b="1" i="0">
                <a:solidFill>
                  <a:srgbClr val="F5F7F6"/>
                </a:solidFill>
                <a:latin typeface="Segoe UI"/>
                <a:ea typeface="Segoe UI"/>
                <a:cs typeface="Segoe UI"/>
              </a:defRPr>
            </a:pPr>
            <a:r>
              <a:rPr sz="2025" b="1" i="0">
                <a:solidFill>
                  <a:srgbClr val="F5F7F6"/>
                </a:solidFill>
                <a:latin typeface="Segoe UI"/>
                <a:ea typeface="Segoe UI"/>
                <a:cs typeface="Segoe UI"/>
              </a:rPr>
              <a:t>Maintenance prédictive</a:t>
            </a:r>
          </a:p>
        </p:txBody>
      </p:sp>
      <p:sp>
        <p:nvSpPr>
          <p:cNvPr id="22" name="Rectangle 21">
            <a:extLst>
              <a:ext uri="{FF2B5EF4-FFF2-40B4-BE49-F238E27FC236}">
                <a16:creationId xmlns:a16="http://schemas.microsoft.com/office/drawing/2014/main" id="{8DB88057-15FA-475D-9850-442DD0BCB148}"/>
              </a:ext>
            </a:extLst>
          </p:cNvPr>
          <p:cNvSpPr>
            <a:spLocks noGrp="1"/>
          </p:cNvSpPr>
          <p:nvPr/>
        </p:nvSpPr>
        <p:spPr>
          <a:xfrm>
            <a:off x="4591050" y="4648200"/>
            <a:ext cx="3238500" cy="666750"/>
          </a:xfrm>
          <a:prstGeom prst="rect">
            <a:avLst/>
          </a:prstGeom>
          <a:noFill/>
          <a:ln w="0">
            <a:noFill/>
          </a:ln>
        </p:spPr>
        <p:txBody>
          <a:bodyPr lIns="38100" tIns="19050" rIns="38100" bIns="19050" anchor="ctr">
            <a:normAutofit/>
          </a:bodyPr>
          <a:lstStyle/>
          <a:p>
            <a:pPr algn="l">
              <a:lnSpc>
                <a:spcPct val="112000"/>
              </a:lnSpc>
              <a:buNone/>
              <a:defRPr sz="1575" b="0" i="0">
                <a:solidFill>
                  <a:srgbClr val="9BA6A0"/>
                </a:solidFill>
                <a:latin typeface="Segoe UI"/>
                <a:ea typeface="Segoe UI"/>
                <a:cs typeface="Segoe UI"/>
              </a:defRPr>
            </a:pPr>
            <a:r>
              <a:rPr sz="1575" b="0" i="0">
                <a:solidFill>
                  <a:srgbClr val="9BA6A0"/>
                </a:solidFill>
                <a:latin typeface="Segoe UI"/>
                <a:ea typeface="Segoe UI"/>
                <a:cs typeface="Segoe UI"/>
              </a:rPr>
              <a:t>Modèles enrichis par incident</a:t>
            </a:r>
          </a:p>
        </p:txBody>
      </p:sp>
      <p:sp>
        <p:nvSpPr>
          <p:cNvPr id="23" name="Rectangle 22">
            <a:extLst>
              <a:ext uri="{FF2B5EF4-FFF2-40B4-BE49-F238E27FC236}">
                <a16:creationId xmlns:a16="http://schemas.microsoft.com/office/drawing/2014/main" id="{E693EB17-FED7-4452-8802-5287FA3D73AD}"/>
              </a:ext>
            </a:extLst>
          </p:cNvPr>
          <p:cNvSpPr>
            <a:spLocks noGrp="1"/>
          </p:cNvSpPr>
          <p:nvPr/>
        </p:nvSpPr>
        <p:spPr>
          <a:xfrm>
            <a:off x="8343900" y="3505200"/>
            <a:ext cx="609600" cy="495300"/>
          </a:xfrm>
          <a:prstGeom prst="rect">
            <a:avLst/>
          </a:prstGeom>
          <a:noFill/>
          <a:ln w="0">
            <a:noFill/>
          </a:ln>
        </p:spPr>
        <p:txBody>
          <a:bodyPr lIns="38100" tIns="19050" rIns="38100" bIns="19050" anchor="ctr">
            <a:normAutofit/>
          </a:bodyPr>
          <a:lstStyle/>
          <a:p>
            <a:pPr algn="ctr">
              <a:lnSpc>
                <a:spcPct val="100000"/>
              </a:lnSpc>
              <a:buNone/>
              <a:defRPr sz="2400" b="1" i="0">
                <a:solidFill>
                  <a:srgbClr val="39FF88"/>
                </a:solidFill>
                <a:latin typeface="Segoe UI"/>
                <a:ea typeface="Segoe UI"/>
                <a:cs typeface="Segoe UI"/>
              </a:defRPr>
            </a:pPr>
            <a:r>
              <a:rPr sz="2400" b="1" i="0">
                <a:solidFill>
                  <a:srgbClr val="39FF88"/>
                </a:solidFill>
                <a:latin typeface="Segoe UI"/>
                <a:ea typeface="Segoe UI"/>
                <a:cs typeface="Segoe UI"/>
              </a:rPr>
              <a:t>06</a:t>
            </a:r>
          </a:p>
        </p:txBody>
      </p:sp>
      <p:sp>
        <p:nvSpPr>
          <p:cNvPr id="24" name="Straight Connector 23">
            <a:extLst>
              <a:ext uri="{FF2B5EF4-FFF2-40B4-BE49-F238E27FC236}">
                <a16:creationId xmlns:a16="http://schemas.microsoft.com/office/drawing/2014/main" id="{A7FF0A37-74FE-41A7-A54D-4E09384B9A4D}"/>
              </a:ext>
            </a:extLst>
          </p:cNvPr>
          <p:cNvSpPr>
            <a:spLocks noGrp="1"/>
          </p:cNvSpPr>
          <p:nvPr/>
        </p:nvSpPr>
        <p:spPr>
          <a:xfrm>
            <a:off x="9086850" y="3752850"/>
            <a:ext cx="2524125" cy="0"/>
          </a:xfrm>
          <a:prstGeom prst="line">
            <a:avLst/>
          </a:prstGeom>
          <a:noFill/>
          <a:ln w="19050">
            <a:solidFill>
              <a:srgbClr val="244338"/>
            </a:solidFill>
            <a:prstDash val="solid"/>
          </a:ln>
        </p:spPr>
      </p:sp>
      <p:sp>
        <p:nvSpPr>
          <p:cNvPr id="25" name="Rectangle 24">
            <a:extLst>
              <a:ext uri="{FF2B5EF4-FFF2-40B4-BE49-F238E27FC236}">
                <a16:creationId xmlns:a16="http://schemas.microsoft.com/office/drawing/2014/main" id="{AB676E28-0581-4CB1-9C07-56FFEEED03DE}"/>
              </a:ext>
            </a:extLst>
          </p:cNvPr>
          <p:cNvSpPr>
            <a:spLocks noGrp="1"/>
          </p:cNvSpPr>
          <p:nvPr/>
        </p:nvSpPr>
        <p:spPr>
          <a:xfrm>
            <a:off x="8420100" y="4171950"/>
            <a:ext cx="3238500" cy="419100"/>
          </a:xfrm>
          <a:prstGeom prst="rect">
            <a:avLst/>
          </a:prstGeom>
          <a:noFill/>
          <a:ln w="0">
            <a:noFill/>
          </a:ln>
        </p:spPr>
        <p:txBody>
          <a:bodyPr lIns="38100" tIns="19050" rIns="38100" bIns="19050" anchor="ctr">
            <a:normAutofit/>
          </a:bodyPr>
          <a:lstStyle/>
          <a:p>
            <a:pPr algn="l">
              <a:lnSpc>
                <a:spcPct val="100000"/>
              </a:lnSpc>
              <a:buNone/>
              <a:defRPr sz="2025" b="1" i="0">
                <a:solidFill>
                  <a:srgbClr val="F5F7F6"/>
                </a:solidFill>
                <a:latin typeface="Segoe UI"/>
                <a:ea typeface="Segoe UI"/>
                <a:cs typeface="Segoe UI"/>
              </a:defRPr>
            </a:pPr>
            <a:r>
              <a:rPr sz="2025" b="1" i="0">
                <a:solidFill>
                  <a:srgbClr val="F5F7F6"/>
                </a:solidFill>
                <a:latin typeface="Segoe UI"/>
                <a:ea typeface="Segoe UI"/>
                <a:cs typeface="Segoe UI"/>
              </a:rPr>
              <a:t>Déploiement entreprise</a:t>
            </a:r>
          </a:p>
        </p:txBody>
      </p:sp>
      <p:sp>
        <p:nvSpPr>
          <p:cNvPr id="26" name="Rectangle 25">
            <a:extLst>
              <a:ext uri="{FF2B5EF4-FFF2-40B4-BE49-F238E27FC236}">
                <a16:creationId xmlns:a16="http://schemas.microsoft.com/office/drawing/2014/main" id="{AAFEC28F-9BDA-41A5-A226-4265ED121C39}"/>
              </a:ext>
            </a:extLst>
          </p:cNvPr>
          <p:cNvSpPr>
            <a:spLocks noGrp="1"/>
          </p:cNvSpPr>
          <p:nvPr/>
        </p:nvSpPr>
        <p:spPr>
          <a:xfrm>
            <a:off x="8420100" y="4648200"/>
            <a:ext cx="3238500" cy="666750"/>
          </a:xfrm>
          <a:prstGeom prst="rect">
            <a:avLst/>
          </a:prstGeom>
          <a:noFill/>
          <a:ln w="0">
            <a:noFill/>
          </a:ln>
        </p:spPr>
        <p:txBody>
          <a:bodyPr lIns="38100" tIns="19050" rIns="38100" bIns="19050" anchor="ctr">
            <a:normAutofit/>
          </a:bodyPr>
          <a:lstStyle/>
          <a:p>
            <a:pPr algn="l">
              <a:lnSpc>
                <a:spcPct val="112000"/>
              </a:lnSpc>
              <a:buNone/>
              <a:defRPr sz="1575" b="0" i="0">
                <a:solidFill>
                  <a:srgbClr val="9BA6A0"/>
                </a:solidFill>
                <a:latin typeface="Segoe UI"/>
                <a:ea typeface="Segoe UI"/>
                <a:cs typeface="Segoe UI"/>
              </a:defRPr>
            </a:pPr>
            <a:r>
              <a:rPr sz="1575" b="0" i="0">
                <a:solidFill>
                  <a:srgbClr val="9BA6A0"/>
                </a:solidFill>
                <a:latin typeface="Segoe UI"/>
                <a:ea typeface="Segoe UI"/>
                <a:cs typeface="Segoe UI"/>
              </a:rPr>
              <a:t>Charge durable, SMTP et WAN privé</a:t>
            </a:r>
          </a:p>
        </p:txBody>
      </p:sp>
      <p:sp>
        <p:nvSpPr>
          <p:cNvPr id="27" name="Straight Connector 26">
            <a:extLst>
              <a:ext uri="{FF2B5EF4-FFF2-40B4-BE49-F238E27FC236}">
                <a16:creationId xmlns:a16="http://schemas.microsoft.com/office/drawing/2014/main" id="{F868312F-6C00-41DD-B67D-E67F5C432E32}"/>
              </a:ext>
            </a:extLst>
          </p:cNvPr>
          <p:cNvSpPr>
            <a:spLocks noGrp="1"/>
          </p:cNvSpPr>
          <p:nvPr/>
        </p:nvSpPr>
        <p:spPr>
          <a:xfrm>
            <a:off x="609600" y="6429375"/>
            <a:ext cx="10972800" cy="0"/>
          </a:xfrm>
          <a:prstGeom prst="line">
            <a:avLst/>
          </a:prstGeom>
          <a:noFill/>
          <a:ln w="9525">
            <a:solidFill>
              <a:srgbClr val="1B3028"/>
            </a:solidFill>
            <a:prstDash val="solid"/>
          </a:ln>
        </p:spPr>
      </p:sp>
      <p:sp>
        <p:nvSpPr>
          <p:cNvPr id="28" name="Rectangle 27">
            <a:extLst>
              <a:ext uri="{FF2B5EF4-FFF2-40B4-BE49-F238E27FC236}">
                <a16:creationId xmlns:a16="http://schemas.microsoft.com/office/drawing/2014/main" id="{8ECFD1C3-9D06-4956-B76C-48B3D3CD6621}"/>
              </a:ext>
            </a:extLst>
          </p:cNvPr>
          <p:cNvSpPr>
            <a:spLocks noGrp="1"/>
          </p:cNvSpPr>
          <p:nvPr/>
        </p:nvSpPr>
        <p:spPr>
          <a:xfrm>
            <a:off x="609600" y="6477000"/>
            <a:ext cx="6858000" cy="228600"/>
          </a:xfrm>
          <a:prstGeom prst="rect">
            <a:avLst/>
          </a:prstGeom>
          <a:noFill/>
          <a:ln w="0">
            <a:noFill/>
          </a:ln>
        </p:spPr>
        <p:txBody>
          <a:bodyPr lIns="38100" tIns="19050" rIns="38100" bIns="19050" anchor="ctr">
            <a:normAutofit/>
          </a:bodyPr>
          <a:lstStyle/>
          <a:p>
            <a:pPr algn="l">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InfraSentinel-AI  •  Mehdi L'harti et Aya Benjilali</a:t>
            </a:r>
          </a:p>
        </p:txBody>
      </p:sp>
      <p:sp>
        <p:nvSpPr>
          <p:cNvPr id="29" name="Rectangle 28">
            <a:extLst>
              <a:ext uri="{FF2B5EF4-FFF2-40B4-BE49-F238E27FC236}">
                <a16:creationId xmlns:a16="http://schemas.microsoft.com/office/drawing/2014/main" id="{FEB43748-B30C-4785-B093-CF1C2BD222CC}"/>
              </a:ext>
            </a:extLst>
          </p:cNvPr>
          <p:cNvSpPr>
            <a:spLocks noGrp="1"/>
          </p:cNvSpPr>
          <p:nvPr/>
        </p:nvSpPr>
        <p:spPr>
          <a:xfrm>
            <a:off x="11049000" y="6477000"/>
            <a:ext cx="533400" cy="228600"/>
          </a:xfrm>
          <a:prstGeom prst="rect">
            <a:avLst/>
          </a:prstGeom>
          <a:noFill/>
          <a:ln w="0">
            <a:noFill/>
          </a:ln>
        </p:spPr>
        <p:txBody>
          <a:bodyPr lIns="38100" tIns="19050" rIns="38100" bIns="19050" anchor="ctr">
            <a:normAutofit/>
          </a:bodyPr>
          <a:lstStyle/>
          <a:p>
            <a:pPr algn="r">
              <a:lnSpc>
                <a:spcPct val="100000"/>
              </a:lnSpc>
              <a:buNone/>
              <a:defRPr sz="1050" b="0" i="0">
                <a:solidFill>
                  <a:srgbClr val="9BA6A0"/>
                </a:solidFill>
                <a:latin typeface="Segoe UI"/>
                <a:ea typeface="Segoe UI"/>
                <a:cs typeface="Segoe UI"/>
              </a:defRPr>
            </a:pPr>
            <a:r>
              <a:rPr sz="1050" b="0" i="0">
                <a:solidFill>
                  <a:srgbClr val="9BA6A0"/>
                </a:solidFill>
                <a:latin typeface="Segoe UI"/>
                <a:ea typeface="Segoe UI"/>
                <a:cs typeface="Segoe UI"/>
              </a:rPr>
              <a:t>21</a:t>
            </a:r>
          </a:p>
        </p:txBody>
      </p:sp>
    </p:spTree>
    <p:extLst>
      <p:ext uri="{BB962C8B-B14F-4D97-AF65-F5344CB8AC3E}">
        <p14:creationId xmlns:p14="http://schemas.microsoft.com/office/powerpoint/2010/main" val="985938239"/>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50806"/>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317B10F-19B7-4072-B523-3CDFEDF6F089}"/>
              </a:ext>
            </a:extLst>
          </p:cNvPr>
          <p:cNvSpPr>
            <a:spLocks noGrp="1"/>
          </p:cNvSpPr>
          <p:nvPr/>
        </p:nvSpPr>
        <p:spPr>
          <a:xfrm>
            <a:off x="0" y="0"/>
            <a:ext cx="12192000" cy="6858000"/>
          </a:xfrm>
          <a:prstGeom prst="rect">
            <a:avLst/>
          </a:prstGeom>
          <a:solidFill>
            <a:srgbClr val="050806">
              <a:alpha val="62000"/>
            </a:srgbClr>
          </a:solidFill>
          <a:ln w="0">
            <a:noFill/>
          </a:ln>
        </p:spPr>
      </p:sp>
      <p:pic>
        <p:nvPicPr>
          <p:cNvPr id="15" name="Picture 14"/>
          <p:cNvPicPr>
            <a:picLocks noChangeAspect="1"/>
          </p:cNvPicPr>
          <p:nvPr/>
        </p:nvPicPr>
        <p:blipFill>
          <a:blip r:embed="rId4"/>
          <a:stretch/>
        </p:blipFill>
        <p:spPr>
          <a:xfrm>
            <a:off x="666750" y="423565"/>
            <a:ext cx="2571750" cy="562570"/>
          </a:xfrm>
          <a:prstGeom prst="rect">
            <a:avLst/>
          </a:prstGeom>
        </p:spPr>
      </p:pic>
      <p:pic>
        <p:nvPicPr>
          <p:cNvPr id="16" name="Picture 15"/>
          <p:cNvPicPr>
            <a:picLocks noChangeAspect="1"/>
          </p:cNvPicPr>
          <p:nvPr/>
        </p:nvPicPr>
        <p:blipFill>
          <a:blip r:embed="rId5"/>
          <a:stretch/>
        </p:blipFill>
        <p:spPr>
          <a:xfrm>
            <a:off x="10801350" y="419100"/>
            <a:ext cx="609600" cy="609600"/>
          </a:xfrm>
          <a:prstGeom prst="rect">
            <a:avLst/>
          </a:prstGeom>
        </p:spPr>
      </p:pic>
      <p:sp>
        <p:nvSpPr>
          <p:cNvPr id="5" name="Rectangle 4">
            <a:extLst>
              <a:ext uri="{FF2B5EF4-FFF2-40B4-BE49-F238E27FC236}">
                <a16:creationId xmlns:a16="http://schemas.microsoft.com/office/drawing/2014/main" id="{59654A38-4C99-4C75-834D-4BD6F56E91D3}"/>
              </a:ext>
            </a:extLst>
          </p:cNvPr>
          <p:cNvSpPr>
            <a:spLocks noGrp="1"/>
          </p:cNvSpPr>
          <p:nvPr/>
        </p:nvSpPr>
        <p:spPr>
          <a:xfrm>
            <a:off x="666750" y="1600200"/>
            <a:ext cx="7810500" cy="666750"/>
          </a:xfrm>
          <a:prstGeom prst="rect">
            <a:avLst/>
          </a:prstGeom>
          <a:noFill/>
          <a:ln w="0">
            <a:noFill/>
          </a:ln>
        </p:spPr>
        <p:txBody>
          <a:bodyPr lIns="38100" tIns="19050" rIns="38100" bIns="19050" anchor="ctr">
            <a:noAutofit/>
          </a:bodyPr>
          <a:lstStyle/>
          <a:p>
            <a:pPr algn="l">
              <a:lnSpc>
                <a:spcPct val="100000"/>
              </a:lnSpc>
              <a:buNone/>
              <a:defRPr sz="4800" b="1" i="0">
                <a:solidFill>
                  <a:srgbClr val="F5F7F6"/>
                </a:solidFill>
                <a:latin typeface="Segoe UI"/>
                <a:ea typeface="Segoe UI"/>
                <a:cs typeface="Segoe UI"/>
              </a:defRPr>
            </a:pPr>
            <a:r>
              <a:rPr sz="4800" b="1" i="0">
                <a:solidFill>
                  <a:srgbClr val="F5F7F6"/>
                </a:solidFill>
                <a:latin typeface="Segoe UI"/>
                <a:ea typeface="Segoe UI"/>
                <a:cs typeface="Segoe UI"/>
              </a:rPr>
              <a:t>SEE THE PROBLEM</a:t>
            </a:r>
          </a:p>
        </p:txBody>
      </p:sp>
      <p:sp>
        <p:nvSpPr>
          <p:cNvPr id="6" name="Rectangle 5">
            <a:extLst>
              <a:ext uri="{FF2B5EF4-FFF2-40B4-BE49-F238E27FC236}">
                <a16:creationId xmlns:a16="http://schemas.microsoft.com/office/drawing/2014/main" id="{27641A3D-9E53-4031-ACFE-4E3BFF169BE0}"/>
              </a:ext>
            </a:extLst>
          </p:cNvPr>
          <p:cNvSpPr>
            <a:spLocks noGrp="1"/>
          </p:cNvSpPr>
          <p:nvPr/>
        </p:nvSpPr>
        <p:spPr>
          <a:xfrm>
            <a:off x="666750" y="2247900"/>
            <a:ext cx="8763000" cy="666750"/>
          </a:xfrm>
          <a:prstGeom prst="rect">
            <a:avLst/>
          </a:prstGeom>
          <a:noFill/>
          <a:ln w="0">
            <a:noFill/>
          </a:ln>
        </p:spPr>
        <p:txBody>
          <a:bodyPr lIns="38100" tIns="19050" rIns="38100" bIns="19050" anchor="ctr">
            <a:noAutofit/>
          </a:bodyPr>
          <a:lstStyle/>
          <a:p>
            <a:pPr algn="l">
              <a:lnSpc>
                <a:spcPct val="100000"/>
              </a:lnSpc>
              <a:buNone/>
              <a:defRPr sz="4800" b="1" i="0">
                <a:solidFill>
                  <a:srgbClr val="39FF88"/>
                </a:solidFill>
                <a:latin typeface="Segoe UI"/>
                <a:ea typeface="Segoe UI"/>
                <a:cs typeface="Segoe UI"/>
              </a:defRPr>
            </a:pPr>
            <a:r>
              <a:rPr sz="4800" b="1" i="0">
                <a:solidFill>
                  <a:srgbClr val="39FF88"/>
                </a:solidFill>
                <a:latin typeface="Segoe UI"/>
                <a:ea typeface="Segoe UI"/>
                <a:cs typeface="Segoe UI"/>
              </a:rPr>
              <a:t>BEFORE IT BECOMES</a:t>
            </a:r>
          </a:p>
        </p:txBody>
      </p:sp>
      <p:sp>
        <p:nvSpPr>
          <p:cNvPr id="7" name="Rectangle 6">
            <a:extLst>
              <a:ext uri="{FF2B5EF4-FFF2-40B4-BE49-F238E27FC236}">
                <a16:creationId xmlns:a16="http://schemas.microsoft.com/office/drawing/2014/main" id="{8FCBC3E8-8081-4652-880D-1B3B2D254ECB}"/>
              </a:ext>
            </a:extLst>
          </p:cNvPr>
          <p:cNvSpPr>
            <a:spLocks noGrp="1"/>
          </p:cNvSpPr>
          <p:nvPr/>
        </p:nvSpPr>
        <p:spPr>
          <a:xfrm>
            <a:off x="666750" y="2895600"/>
            <a:ext cx="7239000" cy="666750"/>
          </a:xfrm>
          <a:prstGeom prst="rect">
            <a:avLst/>
          </a:prstGeom>
          <a:noFill/>
          <a:ln w="0">
            <a:noFill/>
          </a:ln>
        </p:spPr>
        <p:txBody>
          <a:bodyPr lIns="38100" tIns="19050" rIns="38100" bIns="19050" anchor="ctr">
            <a:noAutofit/>
          </a:bodyPr>
          <a:lstStyle/>
          <a:p>
            <a:pPr algn="l">
              <a:lnSpc>
                <a:spcPct val="100000"/>
              </a:lnSpc>
              <a:buNone/>
              <a:defRPr sz="4800" b="1" i="0">
                <a:solidFill>
                  <a:srgbClr val="F5F7F6"/>
                </a:solidFill>
                <a:latin typeface="Segoe UI"/>
                <a:ea typeface="Segoe UI"/>
                <a:cs typeface="Segoe UI"/>
              </a:defRPr>
            </a:pPr>
            <a:r>
              <a:rPr sz="4800" b="1" i="0">
                <a:solidFill>
                  <a:srgbClr val="F5F7F6"/>
                </a:solidFill>
                <a:latin typeface="Segoe UI"/>
                <a:ea typeface="Segoe UI"/>
                <a:cs typeface="Segoe UI"/>
              </a:rPr>
              <a:t>THE PROBLEM</a:t>
            </a:r>
          </a:p>
        </p:txBody>
      </p:sp>
      <p:sp>
        <p:nvSpPr>
          <p:cNvPr id="8" name="Straight Connector 7">
            <a:extLst>
              <a:ext uri="{FF2B5EF4-FFF2-40B4-BE49-F238E27FC236}">
                <a16:creationId xmlns:a16="http://schemas.microsoft.com/office/drawing/2014/main" id="{DC166D84-3A3A-4369-9DEA-197E1C0C267A}"/>
              </a:ext>
            </a:extLst>
          </p:cNvPr>
          <p:cNvSpPr>
            <a:spLocks noGrp="1"/>
          </p:cNvSpPr>
          <p:nvPr/>
        </p:nvSpPr>
        <p:spPr>
          <a:xfrm>
            <a:off x="704850" y="3886200"/>
            <a:ext cx="1619250" cy="0"/>
          </a:xfrm>
          <a:prstGeom prst="line">
            <a:avLst/>
          </a:prstGeom>
          <a:noFill/>
          <a:ln w="47625">
            <a:solidFill>
              <a:srgbClr val="1ED760"/>
            </a:solidFill>
            <a:prstDash val="solid"/>
          </a:ln>
        </p:spPr>
      </p:sp>
      <p:sp>
        <p:nvSpPr>
          <p:cNvPr id="9" name="Rectangle 8">
            <a:extLst>
              <a:ext uri="{FF2B5EF4-FFF2-40B4-BE49-F238E27FC236}">
                <a16:creationId xmlns:a16="http://schemas.microsoft.com/office/drawing/2014/main" id="{8ADB5498-3675-4358-B211-AFB9D3A68521}"/>
              </a:ext>
            </a:extLst>
          </p:cNvPr>
          <p:cNvSpPr>
            <a:spLocks noGrp="1"/>
          </p:cNvSpPr>
          <p:nvPr/>
        </p:nvSpPr>
        <p:spPr>
          <a:xfrm>
            <a:off x="666750" y="4114800"/>
            <a:ext cx="5334000" cy="533400"/>
          </a:xfrm>
          <a:prstGeom prst="rect">
            <a:avLst/>
          </a:prstGeom>
          <a:noFill/>
          <a:ln w="0">
            <a:noFill/>
          </a:ln>
        </p:spPr>
        <p:txBody>
          <a:bodyPr lIns="38100" tIns="19050" rIns="38100" bIns="19050" anchor="ctr">
            <a:normAutofit fontScale="98485"/>
          </a:bodyPr>
          <a:lstStyle/>
          <a:p>
            <a:pPr algn="l">
              <a:lnSpc>
                <a:spcPct val="100000"/>
              </a:lnSpc>
              <a:buNone/>
              <a:defRPr sz="3300" b="1" i="0">
                <a:solidFill>
                  <a:srgbClr val="F5F7F6"/>
                </a:solidFill>
                <a:latin typeface="Segoe UI"/>
                <a:ea typeface="Segoe UI"/>
                <a:cs typeface="Segoe UI"/>
              </a:defRPr>
            </a:pPr>
            <a:r>
              <a:rPr sz="3300" b="1" i="0">
                <a:solidFill>
                  <a:srgbClr val="F5F7F6"/>
                </a:solidFill>
                <a:latin typeface="Segoe UI"/>
                <a:ea typeface="Segoe UI"/>
                <a:cs typeface="Segoe UI"/>
              </a:rPr>
              <a:t>InfraSentinel-AI</a:t>
            </a:r>
          </a:p>
        </p:txBody>
      </p:sp>
      <p:sp>
        <p:nvSpPr>
          <p:cNvPr id="10" name="Rectangle 9">
            <a:extLst>
              <a:ext uri="{FF2B5EF4-FFF2-40B4-BE49-F238E27FC236}">
                <a16:creationId xmlns:a16="http://schemas.microsoft.com/office/drawing/2014/main" id="{571034D9-56F2-45D2-9721-454099EAE8A5}"/>
              </a:ext>
            </a:extLst>
          </p:cNvPr>
          <p:cNvSpPr>
            <a:spLocks noGrp="1"/>
          </p:cNvSpPr>
          <p:nvPr/>
        </p:nvSpPr>
        <p:spPr>
          <a:xfrm>
            <a:off x="666750" y="4838700"/>
            <a:ext cx="5334000" cy="381000"/>
          </a:xfrm>
          <a:prstGeom prst="rect">
            <a:avLst/>
          </a:prstGeom>
          <a:noFill/>
          <a:ln w="0">
            <a:noFill/>
          </a:ln>
        </p:spPr>
        <p:txBody>
          <a:bodyPr lIns="38100" tIns="19050" rIns="38100" bIns="19050" anchor="ctr">
            <a:normAutofit/>
          </a:bodyPr>
          <a:lstStyle/>
          <a:p>
            <a:pPr algn="l">
              <a:lnSpc>
                <a:spcPct val="100000"/>
              </a:lnSpc>
              <a:buNone/>
              <a:defRPr sz="1875" b="0" i="0">
                <a:solidFill>
                  <a:srgbClr val="9BA6A0"/>
                </a:solidFill>
                <a:latin typeface="Segoe UI"/>
                <a:ea typeface="Segoe UI"/>
                <a:cs typeface="Segoe UI"/>
              </a:defRPr>
            </a:pPr>
            <a:r>
              <a:rPr sz="1875" b="0" i="0">
                <a:solidFill>
                  <a:srgbClr val="9BA6A0"/>
                </a:solidFill>
                <a:latin typeface="Segoe UI"/>
                <a:ea typeface="Segoe UI"/>
                <a:cs typeface="Segoe UI"/>
              </a:rPr>
              <a:t>Merci pour votre attention</a:t>
            </a:r>
          </a:p>
        </p:txBody>
      </p:sp>
      <p:sp>
        <p:nvSpPr>
          <p:cNvPr id="11" name="Rectangle 10">
            <a:extLst>
              <a:ext uri="{FF2B5EF4-FFF2-40B4-BE49-F238E27FC236}">
                <a16:creationId xmlns:a16="http://schemas.microsoft.com/office/drawing/2014/main" id="{C5BBEED9-35FD-4B42-B7B3-9F9BAE150ECE}"/>
              </a:ext>
            </a:extLst>
          </p:cNvPr>
          <p:cNvSpPr>
            <a:spLocks noGrp="1"/>
          </p:cNvSpPr>
          <p:nvPr/>
        </p:nvSpPr>
        <p:spPr>
          <a:xfrm>
            <a:off x="8058150" y="4476750"/>
            <a:ext cx="3143250" cy="704850"/>
          </a:xfrm>
          <a:prstGeom prst="rect">
            <a:avLst/>
          </a:prstGeom>
          <a:noFill/>
          <a:ln w="0">
            <a:noFill/>
          </a:ln>
        </p:spPr>
        <p:txBody>
          <a:bodyPr lIns="38100" tIns="19050" rIns="38100" bIns="19050" anchor="ctr">
            <a:normAutofit fontScale="94621"/>
          </a:bodyPr>
          <a:lstStyle/>
          <a:p>
            <a:pPr algn="r">
              <a:lnSpc>
                <a:spcPct val="100000"/>
              </a:lnSpc>
              <a:buNone/>
              <a:defRPr sz="4050" b="1" i="0">
                <a:solidFill>
                  <a:srgbClr val="39FF88"/>
                </a:solidFill>
                <a:latin typeface="Segoe UI"/>
                <a:ea typeface="Segoe UI"/>
                <a:cs typeface="Segoe UI"/>
              </a:defRPr>
            </a:pPr>
            <a:r>
              <a:rPr sz="4050" b="1" i="0">
                <a:solidFill>
                  <a:srgbClr val="39FF88"/>
                </a:solidFill>
                <a:latin typeface="Segoe UI"/>
                <a:ea typeface="Segoe UI"/>
                <a:cs typeface="Segoe UI"/>
              </a:rPr>
              <a:t>QUESTIONS ?</a:t>
            </a:r>
          </a:p>
        </p:txBody>
      </p:sp>
      <p:sp>
        <p:nvSpPr>
          <p:cNvPr id="12" name="Rectangle 11">
            <a:extLst>
              <a:ext uri="{FF2B5EF4-FFF2-40B4-BE49-F238E27FC236}">
                <a16:creationId xmlns:a16="http://schemas.microsoft.com/office/drawing/2014/main" id="{79BAFA02-EE53-4E05-B8B4-110B370A37A7}"/>
              </a:ext>
            </a:extLst>
          </p:cNvPr>
          <p:cNvSpPr>
            <a:spLocks noGrp="1"/>
          </p:cNvSpPr>
          <p:nvPr/>
        </p:nvSpPr>
        <p:spPr>
          <a:xfrm>
            <a:off x="666750" y="5886450"/>
            <a:ext cx="6191250" cy="323850"/>
          </a:xfrm>
          <a:prstGeom prst="rect">
            <a:avLst/>
          </a:prstGeom>
          <a:noFill/>
          <a:ln w="0">
            <a:noFill/>
          </a:ln>
        </p:spPr>
        <p:txBody>
          <a:bodyPr lIns="38100" tIns="19050" rIns="38100" bIns="19050" anchor="ctr">
            <a:normAutofit/>
          </a:bodyPr>
          <a:lstStyle/>
          <a:p>
            <a:pPr algn="l">
              <a:lnSpc>
                <a:spcPct val="100000"/>
              </a:lnSpc>
              <a:buNone/>
              <a:defRPr sz="1725" b="1" i="0">
                <a:solidFill>
                  <a:srgbClr val="F5F7F6"/>
                </a:solidFill>
                <a:latin typeface="Segoe UI"/>
                <a:ea typeface="Segoe UI"/>
                <a:cs typeface="Segoe UI"/>
              </a:defRPr>
            </a:pPr>
            <a:r>
              <a:rPr sz="1725" b="1" i="0">
                <a:solidFill>
                  <a:srgbClr val="F5F7F6"/>
                </a:solidFill>
                <a:latin typeface="Segoe UI"/>
                <a:ea typeface="Segoe UI"/>
                <a:cs typeface="Segoe UI"/>
              </a:rPr>
              <a:t>Mehdi L'harti et Aya Benjilali</a:t>
            </a:r>
          </a:p>
        </p:txBody>
      </p:sp>
    </p:spTree>
    <p:extLst>
      <p:ext uri="{BB962C8B-B14F-4D97-AF65-F5344CB8AC3E}">
        <p14:creationId xmlns:p14="http://schemas.microsoft.com/office/powerpoint/2010/main" val="1122654310"/>
      </p:ext>
    </p:extLst>
  </p:cSld>
  <p:clrMapOvr>
    <a:masterClrMapping/>
  </p:clrMapOvr>
  <mc:AlternateContent xmlns:mc="http://schemas.openxmlformats.org/markup-compatibility/2006" xmlns:p14="http://schemas.microsoft.com/office/powerpoint/2010/main">
    <mc:Choice Requires="p14">
      <p:transition spd="slow" p14:dur="1150">
        <p:fade/>
      </p:transition>
    </mc:Choice>
    <mc:Fallback xmlns="">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2021</Words>
  <Application>Microsoft Office PowerPoint</Application>
  <DocSecurity>0</DocSecurity>
  <PresentationFormat>Widescreen</PresentationFormat>
  <Paragraphs>405</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Calibri</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Mehdi L Harti</cp:lastModifiedBy>
  <cp:revision>1</cp:revision>
  <dcterms:created xsi:type="dcterms:W3CDTF">2026-09-13T00:00:44Z</dcterms:created>
  <dcterms:modified xsi:type="dcterms:W3CDTF">2026-09-13T10:47:07Z</dcterms:modified>
</cp:coreProperties>
</file>